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00875" y="-714375"/>
            <a:ext cx="2857500" cy="28575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-571500" y="3571875"/>
            <a:ext cx="2143125" cy="2143125"/>
          </a:xfrm>
          <a:prstGeom prst="ellipse">
            <a:avLst/>
          </a:prstGeom>
          <a:solidFill>
            <a:srgbClr val="F39C12">
              <a:alpha val="1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3" y="1053033"/>
            <a:ext cx="714375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43063" y="1910283"/>
            <a:ext cx="5857875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Software Architecture for a Virtual Card Financial System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643063" y="3770449"/>
            <a:ext cx="585787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Enabling Secure and Efficient Digital Payments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6245814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Financial Systems: The Virtual Card Advantage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1193006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spc="1" kern="0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Functionality</a:t>
            </a:r>
            <a:endParaRPr lang="en-US" sz="94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543050"/>
            <a:ext cx="125016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0797" y="1505545"/>
            <a:ext cx="11238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Authentication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1784598" y="1505545"/>
            <a:ext cx="21730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Secure login and session management</a:t>
            </a:r>
            <a:endParaRPr lang="en-US" sz="837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914525"/>
            <a:ext cx="160734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6516" y="1877020"/>
            <a:ext cx="13854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Virtual Card Provisioning</a:t>
            </a:r>
            <a:endParaRPr lang="en-US" sz="837" dirty="0"/>
          </a:p>
        </p:txBody>
      </p:sp>
      <p:sp>
        <p:nvSpPr>
          <p:cNvPr id="10" name="Text 5"/>
          <p:cNvSpPr/>
          <p:nvPr/>
        </p:nvSpPr>
        <p:spPr>
          <a:xfrm>
            <a:off x="2081957" y="1877020"/>
            <a:ext cx="14504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Third-party card issuance</a:t>
            </a:r>
            <a:endParaRPr lang="en-US" sz="837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286000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8656" y="2248495"/>
            <a:ext cx="8844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KYC Verification</a:t>
            </a:r>
            <a:endParaRPr lang="en-US" sz="837" dirty="0"/>
          </a:p>
        </p:txBody>
      </p:sp>
      <p:sp>
        <p:nvSpPr>
          <p:cNvPr id="13" name="Text 7"/>
          <p:cNvSpPr/>
          <p:nvPr/>
        </p:nvSpPr>
        <p:spPr>
          <a:xfrm>
            <a:off x="1563114" y="2248495"/>
            <a:ext cx="18702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Know Your Customer compliance</a:t>
            </a:r>
            <a:endParaRPr lang="en-US" sz="837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657475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8656" y="2619970"/>
            <a:ext cx="8946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Detection</a:t>
            </a:r>
            <a:endParaRPr lang="en-US" sz="837" dirty="0"/>
          </a:p>
        </p:txBody>
      </p:sp>
      <p:sp>
        <p:nvSpPr>
          <p:cNvPr id="16" name="Text 9"/>
          <p:cNvSpPr/>
          <p:nvPr/>
        </p:nvSpPr>
        <p:spPr>
          <a:xfrm>
            <a:off x="1573299" y="2619970"/>
            <a:ext cx="1873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Real-time transaction monitoring</a:t>
            </a:r>
            <a:endParaRPr lang="en-US" sz="837" dirty="0"/>
          </a:p>
        </p:txBody>
      </p:sp>
      <p:sp>
        <p:nvSpPr>
          <p:cNvPr id="17" name="Text 10"/>
          <p:cNvSpPr/>
          <p:nvPr/>
        </p:nvSpPr>
        <p:spPr>
          <a:xfrm>
            <a:off x="4714875" y="1193006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spc="1" kern="0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 Highlights</a:t>
            </a:r>
            <a:endParaRPr lang="en-US" sz="942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543050"/>
            <a:ext cx="160734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82766" y="1505545"/>
            <a:ext cx="14837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Microservices Architecture</a:t>
            </a:r>
            <a:endParaRPr lang="en-US" sz="837" dirty="0"/>
          </a:p>
        </p:txBody>
      </p:sp>
      <p:sp>
        <p:nvSpPr>
          <p:cNvPr id="20" name="Text 12"/>
          <p:cNvSpPr/>
          <p:nvPr/>
        </p:nvSpPr>
        <p:spPr>
          <a:xfrm>
            <a:off x="6466517" y="1505545"/>
            <a:ext cx="17797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Independent, scalable modules</a:t>
            </a:r>
            <a:endParaRPr lang="en-US" sz="837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914525"/>
            <a:ext cx="142875" cy="1428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64906" y="1877020"/>
            <a:ext cx="14047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API Communication</a:t>
            </a:r>
            <a:endParaRPr lang="en-US" sz="837" dirty="0"/>
          </a:p>
        </p:txBody>
      </p:sp>
      <p:sp>
        <p:nvSpPr>
          <p:cNvPr id="23" name="Text 14"/>
          <p:cNvSpPr/>
          <p:nvPr/>
        </p:nvSpPr>
        <p:spPr>
          <a:xfrm>
            <a:off x="6369658" y="1877020"/>
            <a:ext cx="18611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Loose coupling between services</a:t>
            </a:r>
            <a:endParaRPr lang="en-US" sz="837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2286000"/>
            <a:ext cx="125016" cy="14287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47047" y="2248495"/>
            <a:ext cx="10217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 Notifications</a:t>
            </a:r>
            <a:endParaRPr lang="en-US" sz="837" dirty="0"/>
          </a:p>
        </p:txBody>
      </p:sp>
      <p:sp>
        <p:nvSpPr>
          <p:cNvPr id="26" name="Text 16"/>
          <p:cNvSpPr/>
          <p:nvPr/>
        </p:nvSpPr>
        <p:spPr>
          <a:xfrm>
            <a:off x="5968798" y="2248495"/>
            <a:ext cx="15702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Real-time transaction alerts</a:t>
            </a:r>
            <a:endParaRPr lang="en-US" sz="837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2657475"/>
            <a:ext cx="160734" cy="14287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4982766" y="2619970"/>
            <a:ext cx="7785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Redis Caching</a:t>
            </a:r>
            <a:endParaRPr lang="en-US" sz="837" dirty="0"/>
          </a:p>
        </p:txBody>
      </p:sp>
      <p:sp>
        <p:nvSpPr>
          <p:cNvPr id="29" name="Text 18"/>
          <p:cNvSpPr/>
          <p:nvPr/>
        </p:nvSpPr>
        <p:spPr>
          <a:xfrm>
            <a:off x="5761267" y="2619970"/>
            <a:ext cx="17338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High-performance data access</a:t>
            </a:r>
            <a:endParaRPr lang="en-US" sz="83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5327982" cy="457200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Holistic View: Virtual Card System Architecture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899" y="885825"/>
            <a:ext cx="6306201" cy="4286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36905" y="5279231"/>
            <a:ext cx="52701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system showing client, API Gateway, core modules, databases, caching layer, and external integrations</a:t>
            </a:r>
            <a:endParaRPr lang="en-US" sz="7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5179163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 Stack: Building Blocks for Success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44786"/>
            <a:ext cx="17145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363" y="1160859"/>
            <a:ext cx="10779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Frontend/Mobile</a:t>
            </a:r>
            <a:endParaRPr lang="en-US" sz="942" dirty="0"/>
          </a:p>
        </p:txBody>
      </p:sp>
      <p:sp>
        <p:nvSpPr>
          <p:cNvPr id="6" name="Text 2"/>
          <p:cNvSpPr/>
          <p:nvPr/>
        </p:nvSpPr>
        <p:spPr>
          <a:xfrm>
            <a:off x="357188" y="1571625"/>
            <a:ext cx="26907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React Native</a:t>
            </a:r>
            <a:endParaRPr lang="en-US" sz="785" dirty="0"/>
          </a:p>
        </p:txBody>
      </p:sp>
      <p:sp>
        <p:nvSpPr>
          <p:cNvPr id="7" name="Text 3"/>
          <p:cNvSpPr/>
          <p:nvPr/>
        </p:nvSpPr>
        <p:spPr>
          <a:xfrm>
            <a:off x="357188" y="1775222"/>
            <a:ext cx="20389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Cross-platform iOS/Android development with </a:t>
            </a:r>
            <a:endParaRPr lang="en-US" sz="680" dirty="0"/>
          </a:p>
        </p:txBody>
      </p:sp>
      <p:sp>
        <p:nvSpPr>
          <p:cNvPr id="8" name="Text 4"/>
          <p:cNvSpPr/>
          <p:nvPr/>
        </p:nvSpPr>
        <p:spPr>
          <a:xfrm>
            <a:off x="2396142" y="1775222"/>
            <a:ext cx="3107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shared </a:t>
            </a:r>
            <a:endParaRPr lang="en-US" sz="680" dirty="0"/>
          </a:p>
        </p:txBody>
      </p:sp>
      <p:sp>
        <p:nvSpPr>
          <p:cNvPr id="9" name="Text 5"/>
          <p:cNvSpPr/>
          <p:nvPr/>
        </p:nvSpPr>
        <p:spPr>
          <a:xfrm>
            <a:off x="357188" y="1905233"/>
            <a:ext cx="42787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codebase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785059" y="1905233"/>
            <a:ext cx="10732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native performance</a:t>
            </a:r>
            <a:endParaRPr lang="en-US" sz="680" dirty="0"/>
          </a:p>
        </p:txBody>
      </p:sp>
      <p:sp>
        <p:nvSpPr>
          <p:cNvPr id="11" name="Text 7"/>
          <p:cNvSpPr/>
          <p:nvPr/>
        </p:nvSpPr>
        <p:spPr>
          <a:xfrm>
            <a:off x="357188" y="2278131"/>
            <a:ext cx="26907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Flutter</a:t>
            </a:r>
            <a:endParaRPr lang="en-US" sz="785" dirty="0"/>
          </a:p>
        </p:txBody>
      </p:sp>
      <p:sp>
        <p:nvSpPr>
          <p:cNvPr id="12" name="Text 8"/>
          <p:cNvSpPr/>
          <p:nvPr/>
        </p:nvSpPr>
        <p:spPr>
          <a:xfrm>
            <a:off x="357188" y="2481728"/>
            <a:ext cx="153197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High-performance alternative with </a:t>
            </a:r>
            <a:endParaRPr lang="en-US" sz="680" dirty="0"/>
          </a:p>
        </p:txBody>
      </p:sp>
      <p:sp>
        <p:nvSpPr>
          <p:cNvPr id="13" name="Text 9"/>
          <p:cNvSpPr/>
          <p:nvPr/>
        </p:nvSpPr>
        <p:spPr>
          <a:xfrm>
            <a:off x="1889159" y="2481728"/>
            <a:ext cx="7176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Material Design</a:t>
            </a:r>
            <a:endParaRPr lang="en-US" sz="680" dirty="0"/>
          </a:p>
        </p:txBody>
      </p:sp>
      <p:sp>
        <p:nvSpPr>
          <p:cNvPr id="14" name="Text 10"/>
          <p:cNvSpPr/>
          <p:nvPr/>
        </p:nvSpPr>
        <p:spPr>
          <a:xfrm>
            <a:off x="2606771" y="2481728"/>
            <a:ext cx="19076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357188" y="2611738"/>
            <a:ext cx="10399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excellent UI consistency</a:t>
            </a:r>
            <a:endParaRPr lang="en-US" sz="680" dirty="0"/>
          </a:p>
        </p:txBody>
      </p:sp>
      <p:sp>
        <p:nvSpPr>
          <p:cNvPr id="16" name="Text 12"/>
          <p:cNvSpPr/>
          <p:nvPr/>
        </p:nvSpPr>
        <p:spPr>
          <a:xfrm>
            <a:off x="357188" y="2984636"/>
            <a:ext cx="26907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Firebase</a:t>
            </a:r>
            <a:endParaRPr lang="en-US" sz="785" dirty="0"/>
          </a:p>
        </p:txBody>
      </p:sp>
      <p:sp>
        <p:nvSpPr>
          <p:cNvPr id="17" name="Text 13"/>
          <p:cNvSpPr/>
          <p:nvPr/>
        </p:nvSpPr>
        <p:spPr>
          <a:xfrm>
            <a:off x="357188" y="3188233"/>
            <a:ext cx="14470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 notifications, analytics, and </a:t>
            </a:r>
            <a:endParaRPr lang="en-US" sz="680" dirty="0"/>
          </a:p>
        </p:txBody>
      </p:sp>
      <p:sp>
        <p:nvSpPr>
          <p:cNvPr id="18" name="Text 14"/>
          <p:cNvSpPr/>
          <p:nvPr/>
        </p:nvSpPr>
        <p:spPr>
          <a:xfrm>
            <a:off x="1804271" y="3188233"/>
            <a:ext cx="92768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messaging</a:t>
            </a:r>
            <a:endParaRPr lang="en-US" sz="680" dirty="0"/>
          </a:p>
        </p:txBody>
      </p:sp>
      <p:sp>
        <p:nvSpPr>
          <p:cNvPr id="19" name="Text 15"/>
          <p:cNvSpPr/>
          <p:nvPr/>
        </p:nvSpPr>
        <p:spPr>
          <a:xfrm>
            <a:off x="2731954" y="3188233"/>
            <a:ext cx="1506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</a:t>
            </a:r>
            <a:endParaRPr lang="en-US" sz="680" dirty="0"/>
          </a:p>
        </p:txBody>
      </p:sp>
      <p:sp>
        <p:nvSpPr>
          <p:cNvPr id="20" name="Text 16"/>
          <p:cNvSpPr/>
          <p:nvPr/>
        </p:nvSpPr>
        <p:spPr>
          <a:xfrm>
            <a:off x="357188" y="3318244"/>
            <a:ext cx="5353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apps</a:t>
            </a:r>
            <a:endParaRPr lang="en-US" sz="68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575" y="1144786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40900" y="1160859"/>
            <a:ext cx="152337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Backend/Infrastructure</a:t>
            </a:r>
            <a:endParaRPr lang="en-US" sz="942" dirty="0"/>
          </a:p>
        </p:txBody>
      </p:sp>
      <p:sp>
        <p:nvSpPr>
          <p:cNvPr id="23" name="Text 18"/>
          <p:cNvSpPr/>
          <p:nvPr/>
        </p:nvSpPr>
        <p:spPr>
          <a:xfrm>
            <a:off x="3226575" y="1571625"/>
            <a:ext cx="269082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Node.js + Express.js</a:t>
            </a:r>
            <a:endParaRPr lang="en-US" sz="785" dirty="0"/>
          </a:p>
        </p:txBody>
      </p:sp>
      <p:sp>
        <p:nvSpPr>
          <p:cNvPr id="24" name="Text 19"/>
          <p:cNvSpPr/>
          <p:nvPr/>
        </p:nvSpPr>
        <p:spPr>
          <a:xfrm>
            <a:off x="3226575" y="1775222"/>
            <a:ext cx="7764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Non-blocking I/O</a:t>
            </a:r>
            <a:endParaRPr lang="en-US" sz="680" dirty="0"/>
          </a:p>
        </p:txBody>
      </p:sp>
      <p:sp>
        <p:nvSpPr>
          <p:cNvPr id="25" name="Text 20"/>
          <p:cNvSpPr/>
          <p:nvPr/>
        </p:nvSpPr>
        <p:spPr>
          <a:xfrm>
            <a:off x="4002984" y="1775222"/>
            <a:ext cx="189044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ideal for handling concurrent requests and </a:t>
            </a:r>
            <a:endParaRPr lang="en-US" sz="680" dirty="0"/>
          </a:p>
        </p:txBody>
      </p:sp>
      <p:sp>
        <p:nvSpPr>
          <p:cNvPr id="26" name="Text 21"/>
          <p:cNvSpPr/>
          <p:nvPr/>
        </p:nvSpPr>
        <p:spPr>
          <a:xfrm>
            <a:off x="3226575" y="1905233"/>
            <a:ext cx="5958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microservices</a:t>
            </a:r>
            <a:endParaRPr lang="en-US" sz="680" dirty="0"/>
          </a:p>
        </p:txBody>
      </p:sp>
      <p:sp>
        <p:nvSpPr>
          <p:cNvPr id="27" name="Text 22"/>
          <p:cNvSpPr/>
          <p:nvPr/>
        </p:nvSpPr>
        <p:spPr>
          <a:xfrm>
            <a:off x="3226575" y="2278131"/>
            <a:ext cx="269082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Kong/AWS API Gateway</a:t>
            </a:r>
            <a:endParaRPr lang="en-US" sz="785" dirty="0"/>
          </a:p>
        </p:txBody>
      </p:sp>
      <p:sp>
        <p:nvSpPr>
          <p:cNvPr id="28" name="Text 23"/>
          <p:cNvSpPr/>
          <p:nvPr/>
        </p:nvSpPr>
        <p:spPr>
          <a:xfrm>
            <a:off x="3226575" y="2481728"/>
            <a:ext cx="75028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 routing, </a:t>
            </a:r>
            <a:endParaRPr lang="en-US" sz="680" dirty="0"/>
          </a:p>
        </p:txBody>
      </p:sp>
      <p:sp>
        <p:nvSpPr>
          <p:cNvPr id="29" name="Text 24"/>
          <p:cNvSpPr/>
          <p:nvPr/>
        </p:nvSpPr>
        <p:spPr>
          <a:xfrm>
            <a:off x="3976864" y="2481728"/>
            <a:ext cx="6716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authentication</a:t>
            </a:r>
            <a:endParaRPr lang="en-US" sz="680" dirty="0"/>
          </a:p>
        </p:txBody>
      </p:sp>
      <p:sp>
        <p:nvSpPr>
          <p:cNvPr id="30" name="Text 25"/>
          <p:cNvSpPr/>
          <p:nvPr/>
        </p:nvSpPr>
        <p:spPr>
          <a:xfrm>
            <a:off x="4648516" y="2481728"/>
            <a:ext cx="9651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rate limiting, and API </a:t>
            </a:r>
            <a:endParaRPr lang="en-US" sz="680" dirty="0"/>
          </a:p>
        </p:txBody>
      </p:sp>
      <p:sp>
        <p:nvSpPr>
          <p:cNvPr id="31" name="Text 26"/>
          <p:cNvSpPr/>
          <p:nvPr/>
        </p:nvSpPr>
        <p:spPr>
          <a:xfrm>
            <a:off x="3226575" y="2611738"/>
            <a:ext cx="5880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management</a:t>
            </a:r>
            <a:endParaRPr lang="en-US" sz="680" dirty="0"/>
          </a:p>
        </p:txBody>
      </p:sp>
      <p:sp>
        <p:nvSpPr>
          <p:cNvPr id="32" name="Text 27"/>
          <p:cNvSpPr/>
          <p:nvPr/>
        </p:nvSpPr>
        <p:spPr>
          <a:xfrm>
            <a:off x="3226575" y="2984636"/>
            <a:ext cx="269082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Docker &amp; Kubernetes</a:t>
            </a:r>
            <a:endParaRPr lang="en-US" sz="785" dirty="0"/>
          </a:p>
        </p:txBody>
      </p:sp>
      <p:sp>
        <p:nvSpPr>
          <p:cNvPr id="33" name="Text 28"/>
          <p:cNvSpPr/>
          <p:nvPr/>
        </p:nvSpPr>
        <p:spPr>
          <a:xfrm>
            <a:off x="3226575" y="3188233"/>
            <a:ext cx="169516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Containerization and orchestration for </a:t>
            </a:r>
            <a:endParaRPr lang="en-US" sz="680" dirty="0"/>
          </a:p>
        </p:txBody>
      </p:sp>
      <p:sp>
        <p:nvSpPr>
          <p:cNvPr id="34" name="Text 29"/>
          <p:cNvSpPr/>
          <p:nvPr/>
        </p:nvSpPr>
        <p:spPr>
          <a:xfrm>
            <a:off x="4921737" y="3188233"/>
            <a:ext cx="97997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scalable deployments</a:t>
            </a:r>
            <a:endParaRPr lang="en-US" sz="68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1" y="1144786"/>
            <a:ext cx="200025" cy="2286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381741" y="1160859"/>
            <a:ext cx="8746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Data/Caching</a:t>
            </a:r>
            <a:endParaRPr lang="en-US" sz="942" dirty="0"/>
          </a:p>
        </p:txBody>
      </p:sp>
      <p:sp>
        <p:nvSpPr>
          <p:cNvPr id="37" name="Text 31"/>
          <p:cNvSpPr/>
          <p:nvPr/>
        </p:nvSpPr>
        <p:spPr>
          <a:xfrm>
            <a:off x="6095991" y="1571625"/>
            <a:ext cx="26907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PostgreSQL</a:t>
            </a:r>
            <a:endParaRPr lang="en-US" sz="785" dirty="0"/>
          </a:p>
        </p:txBody>
      </p:sp>
      <p:sp>
        <p:nvSpPr>
          <p:cNvPr id="38" name="Text 32"/>
          <p:cNvSpPr/>
          <p:nvPr/>
        </p:nvSpPr>
        <p:spPr>
          <a:xfrm>
            <a:off x="6095991" y="1775222"/>
            <a:ext cx="7655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ACID compliance</a:t>
            </a:r>
            <a:endParaRPr lang="en-US" sz="680" dirty="0"/>
          </a:p>
        </p:txBody>
      </p:sp>
      <p:sp>
        <p:nvSpPr>
          <p:cNvPr id="39" name="Text 33"/>
          <p:cNvSpPr/>
          <p:nvPr/>
        </p:nvSpPr>
        <p:spPr>
          <a:xfrm>
            <a:off x="6861516" y="1775222"/>
            <a:ext cx="17524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data integrity essential for financial </a:t>
            </a:r>
            <a:endParaRPr lang="en-US" sz="680" dirty="0"/>
          </a:p>
        </p:txBody>
      </p:sp>
      <p:sp>
        <p:nvSpPr>
          <p:cNvPr id="40" name="Text 34"/>
          <p:cNvSpPr/>
          <p:nvPr/>
        </p:nvSpPr>
        <p:spPr>
          <a:xfrm>
            <a:off x="6095991" y="1905233"/>
            <a:ext cx="5362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transactions</a:t>
            </a:r>
            <a:endParaRPr lang="en-US" sz="680" dirty="0"/>
          </a:p>
        </p:txBody>
      </p:sp>
      <p:sp>
        <p:nvSpPr>
          <p:cNvPr id="41" name="Text 35"/>
          <p:cNvSpPr/>
          <p:nvPr/>
        </p:nvSpPr>
        <p:spPr>
          <a:xfrm>
            <a:off x="6095991" y="2278131"/>
            <a:ext cx="26907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Redis</a:t>
            </a:r>
            <a:endParaRPr lang="en-US" sz="785" dirty="0"/>
          </a:p>
        </p:txBody>
      </p:sp>
      <p:sp>
        <p:nvSpPr>
          <p:cNvPr id="42" name="Text 36"/>
          <p:cNvSpPr/>
          <p:nvPr/>
        </p:nvSpPr>
        <p:spPr>
          <a:xfrm>
            <a:off x="6095991" y="2481728"/>
            <a:ext cx="10227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In-memory caching for </a:t>
            </a:r>
            <a:endParaRPr lang="en-US" sz="680" dirty="0"/>
          </a:p>
        </p:txBody>
      </p:sp>
      <p:sp>
        <p:nvSpPr>
          <p:cNvPr id="43" name="Text 37"/>
          <p:cNvSpPr/>
          <p:nvPr/>
        </p:nvSpPr>
        <p:spPr>
          <a:xfrm>
            <a:off x="7118775" y="2481728"/>
            <a:ext cx="73647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ultra-fast access</a:t>
            </a:r>
            <a:endParaRPr lang="en-US" sz="680" dirty="0"/>
          </a:p>
        </p:txBody>
      </p:sp>
      <p:sp>
        <p:nvSpPr>
          <p:cNvPr id="44" name="Text 38"/>
          <p:cNvSpPr/>
          <p:nvPr/>
        </p:nvSpPr>
        <p:spPr>
          <a:xfrm>
            <a:off x="7855251" y="2481728"/>
            <a:ext cx="9133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sessions and user </a:t>
            </a:r>
            <a:endParaRPr lang="en-US" sz="680" dirty="0"/>
          </a:p>
        </p:txBody>
      </p:sp>
      <p:sp>
        <p:nvSpPr>
          <p:cNvPr id="45" name="Text 39"/>
          <p:cNvSpPr/>
          <p:nvPr/>
        </p:nvSpPr>
        <p:spPr>
          <a:xfrm>
            <a:off x="6095991" y="2611738"/>
            <a:ext cx="1948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</a:t>
            </a:r>
            <a:endParaRPr lang="en-US" sz="680" dirty="0"/>
          </a:p>
        </p:txBody>
      </p:sp>
      <p:sp>
        <p:nvSpPr>
          <p:cNvPr id="46" name="Text 40"/>
          <p:cNvSpPr/>
          <p:nvPr/>
        </p:nvSpPr>
        <p:spPr>
          <a:xfrm>
            <a:off x="6095991" y="2984636"/>
            <a:ext cx="26907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AWS/Google Cloud</a:t>
            </a:r>
            <a:endParaRPr lang="en-US" sz="785" dirty="0"/>
          </a:p>
        </p:txBody>
      </p:sp>
      <p:sp>
        <p:nvSpPr>
          <p:cNvPr id="47" name="Text 41"/>
          <p:cNvSpPr/>
          <p:nvPr/>
        </p:nvSpPr>
        <p:spPr>
          <a:xfrm>
            <a:off x="6095991" y="3188233"/>
            <a:ext cx="8334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Managed services, </a:t>
            </a:r>
            <a:endParaRPr lang="en-US" sz="680" dirty="0"/>
          </a:p>
        </p:txBody>
      </p:sp>
      <p:sp>
        <p:nvSpPr>
          <p:cNvPr id="48" name="Text 42"/>
          <p:cNvSpPr/>
          <p:nvPr/>
        </p:nvSpPr>
        <p:spPr>
          <a:xfrm>
            <a:off x="6929410" y="3188233"/>
            <a:ext cx="9399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infrastructure</a:t>
            </a:r>
            <a:endParaRPr lang="en-US" sz="680" dirty="0"/>
          </a:p>
        </p:txBody>
      </p:sp>
      <p:sp>
        <p:nvSpPr>
          <p:cNvPr id="49" name="Text 43"/>
          <p:cNvSpPr/>
          <p:nvPr/>
        </p:nvSpPr>
        <p:spPr>
          <a:xfrm>
            <a:off x="7869343" y="3188233"/>
            <a:ext cx="7725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and auto-scaling </a:t>
            </a:r>
            <a:endParaRPr lang="en-US" sz="680" dirty="0"/>
          </a:p>
        </p:txBody>
      </p:sp>
      <p:sp>
        <p:nvSpPr>
          <p:cNvPr id="50" name="Text 44"/>
          <p:cNvSpPr/>
          <p:nvPr/>
        </p:nvSpPr>
        <p:spPr>
          <a:xfrm>
            <a:off x="6095991" y="3318244"/>
            <a:ext cx="48923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capabilities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5670659" cy="457200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 Interaction and API Gateway Orchestration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30498"/>
            <a:ext cx="192881" cy="2571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7225" y="1150144"/>
            <a:ext cx="9175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Client</a:t>
            </a:r>
            <a:endParaRPr lang="en-US" sz="1046" dirty="0"/>
          </a:p>
        </p:txBody>
      </p:sp>
      <p:sp>
        <p:nvSpPr>
          <p:cNvPr id="6" name="Text 2"/>
          <p:cNvSpPr/>
          <p:nvPr/>
        </p:nvSpPr>
        <p:spPr>
          <a:xfrm>
            <a:off x="357188" y="1607344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7" name="Text 3"/>
          <p:cNvSpPr/>
          <p:nvPr/>
        </p:nvSpPr>
        <p:spPr>
          <a:xfrm>
            <a:off x="491272" y="1600200"/>
            <a:ext cx="9538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Interface:</a:t>
            </a:r>
            <a:endParaRPr lang="en-US" sz="785" dirty="0"/>
          </a:p>
        </p:txBody>
      </p:sp>
      <p:sp>
        <p:nvSpPr>
          <p:cNvPr id="8" name="Text 4"/>
          <p:cNvSpPr/>
          <p:nvPr/>
        </p:nvSpPr>
        <p:spPr>
          <a:xfrm>
            <a:off x="1445075" y="1600200"/>
            <a:ext cx="184372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Native or cross-platform mobile app</a:t>
            </a:r>
            <a:endParaRPr lang="en-US" sz="785" dirty="0"/>
          </a:p>
        </p:txBody>
      </p:sp>
      <p:sp>
        <p:nvSpPr>
          <p:cNvPr id="9" name="Text 5"/>
          <p:cNvSpPr/>
          <p:nvPr/>
        </p:nvSpPr>
        <p:spPr>
          <a:xfrm>
            <a:off x="357188" y="1921669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491272" y="1914525"/>
            <a:ext cx="96870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 Initiation:</a:t>
            </a:r>
            <a:endParaRPr lang="en-US" sz="785" dirty="0"/>
          </a:p>
        </p:txBody>
      </p:sp>
      <p:sp>
        <p:nvSpPr>
          <p:cNvPr id="11" name="Text 7"/>
          <p:cNvSpPr/>
          <p:nvPr/>
        </p:nvSpPr>
        <p:spPr>
          <a:xfrm>
            <a:off x="1459976" y="1914525"/>
            <a:ext cx="282496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Initiates login, card requests, and payment transactions</a:t>
            </a:r>
            <a:endParaRPr lang="en-US" sz="785" dirty="0"/>
          </a:p>
        </p:txBody>
      </p:sp>
      <p:sp>
        <p:nvSpPr>
          <p:cNvPr id="12" name="Text 8"/>
          <p:cNvSpPr/>
          <p:nvPr/>
        </p:nvSpPr>
        <p:spPr>
          <a:xfrm>
            <a:off x="357188" y="2235994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491272" y="2228850"/>
            <a:ext cx="7034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Notifications:</a:t>
            </a:r>
            <a:endParaRPr lang="en-US" sz="785" dirty="0"/>
          </a:p>
        </p:txBody>
      </p:sp>
      <p:sp>
        <p:nvSpPr>
          <p:cNvPr id="14" name="Text 10"/>
          <p:cNvSpPr/>
          <p:nvPr/>
        </p:nvSpPr>
        <p:spPr>
          <a:xfrm>
            <a:off x="1194764" y="2228850"/>
            <a:ext cx="246760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Receives push notifications for transaction alerts</a:t>
            </a:r>
            <a:endParaRPr lang="en-US" sz="785" dirty="0"/>
          </a:p>
        </p:txBody>
      </p:sp>
      <p:sp>
        <p:nvSpPr>
          <p:cNvPr id="15" name="Text 11"/>
          <p:cNvSpPr/>
          <p:nvPr/>
        </p:nvSpPr>
        <p:spPr>
          <a:xfrm>
            <a:off x="357188" y="2550319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491272" y="2543175"/>
            <a:ext cx="86422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Communication:</a:t>
            </a:r>
            <a:endParaRPr lang="en-US" sz="785" dirty="0"/>
          </a:p>
        </p:txBody>
      </p:sp>
      <p:sp>
        <p:nvSpPr>
          <p:cNvPr id="17" name="Text 13"/>
          <p:cNvSpPr/>
          <p:nvPr/>
        </p:nvSpPr>
        <p:spPr>
          <a:xfrm>
            <a:off x="1355499" y="2543175"/>
            <a:ext cx="25681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Connects to backend via API Gateway using HTTPS</a:t>
            </a:r>
            <a:endParaRPr lang="en-US" sz="785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130498"/>
            <a:ext cx="257175" cy="2571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9206" y="1150144"/>
            <a:ext cx="8809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Gateway</a:t>
            </a:r>
            <a:endParaRPr lang="en-US" sz="1046" dirty="0"/>
          </a:p>
        </p:txBody>
      </p:sp>
      <p:sp>
        <p:nvSpPr>
          <p:cNvPr id="20" name="Text 15"/>
          <p:cNvSpPr/>
          <p:nvPr/>
        </p:nvSpPr>
        <p:spPr>
          <a:xfrm>
            <a:off x="4714875" y="1607344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21" name="Text 16"/>
          <p:cNvSpPr/>
          <p:nvPr/>
        </p:nvSpPr>
        <p:spPr>
          <a:xfrm>
            <a:off x="4848960" y="1600200"/>
            <a:ext cx="9571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Single Entry Point:</a:t>
            </a:r>
            <a:endParaRPr lang="en-US" sz="785" dirty="0"/>
          </a:p>
        </p:txBody>
      </p:sp>
      <p:sp>
        <p:nvSpPr>
          <p:cNvPr id="22" name="Text 17"/>
          <p:cNvSpPr/>
          <p:nvPr/>
        </p:nvSpPr>
        <p:spPr>
          <a:xfrm>
            <a:off x="5806083" y="1600200"/>
            <a:ext cx="27540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Routes all client requests to appropriate microservices</a:t>
            </a:r>
            <a:endParaRPr lang="en-US" sz="785" dirty="0"/>
          </a:p>
        </p:txBody>
      </p:sp>
      <p:sp>
        <p:nvSpPr>
          <p:cNvPr id="23" name="Text 18"/>
          <p:cNvSpPr/>
          <p:nvPr/>
        </p:nvSpPr>
        <p:spPr>
          <a:xfrm>
            <a:off x="4714875" y="1921669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24" name="Text 19"/>
          <p:cNvSpPr/>
          <p:nvPr/>
        </p:nvSpPr>
        <p:spPr>
          <a:xfrm>
            <a:off x="4848960" y="1914525"/>
            <a:ext cx="101232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 Validation:</a:t>
            </a:r>
            <a:endParaRPr lang="en-US" sz="785" dirty="0"/>
          </a:p>
        </p:txBody>
      </p:sp>
      <p:sp>
        <p:nvSpPr>
          <p:cNvPr id="25" name="Text 20"/>
          <p:cNvSpPr/>
          <p:nvPr/>
        </p:nvSpPr>
        <p:spPr>
          <a:xfrm>
            <a:off x="5861279" y="1914525"/>
            <a:ext cx="224804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Validates and transforms incoming requests</a:t>
            </a:r>
            <a:endParaRPr lang="en-US" sz="785" dirty="0"/>
          </a:p>
        </p:txBody>
      </p:sp>
      <p:sp>
        <p:nvSpPr>
          <p:cNvPr id="26" name="Text 21"/>
          <p:cNvSpPr/>
          <p:nvPr/>
        </p:nvSpPr>
        <p:spPr>
          <a:xfrm>
            <a:off x="4714875" y="2235994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27" name="Text 22"/>
          <p:cNvSpPr/>
          <p:nvPr/>
        </p:nvSpPr>
        <p:spPr>
          <a:xfrm>
            <a:off x="4848960" y="2228850"/>
            <a:ext cx="7296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Rate Limiting:</a:t>
            </a:r>
            <a:endParaRPr lang="en-US" sz="785" dirty="0"/>
          </a:p>
        </p:txBody>
      </p:sp>
      <p:sp>
        <p:nvSpPr>
          <p:cNvPr id="28" name="Text 23"/>
          <p:cNvSpPr/>
          <p:nvPr/>
        </p:nvSpPr>
        <p:spPr>
          <a:xfrm>
            <a:off x="5578599" y="2228850"/>
            <a:ext cx="20169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Implements throttling to prevent abuse</a:t>
            </a:r>
            <a:endParaRPr lang="en-US" sz="785" dirty="0"/>
          </a:p>
        </p:txBody>
      </p:sp>
      <p:sp>
        <p:nvSpPr>
          <p:cNvPr id="29" name="Text 24"/>
          <p:cNvSpPr/>
          <p:nvPr/>
        </p:nvSpPr>
        <p:spPr>
          <a:xfrm>
            <a:off x="4714875" y="2550319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30" name="Text 25"/>
          <p:cNvSpPr/>
          <p:nvPr/>
        </p:nvSpPr>
        <p:spPr>
          <a:xfrm>
            <a:off x="4848960" y="2543175"/>
            <a:ext cx="93719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Management:</a:t>
            </a:r>
            <a:endParaRPr lang="en-US" sz="785" dirty="0"/>
          </a:p>
        </p:txBody>
      </p:sp>
      <p:sp>
        <p:nvSpPr>
          <p:cNvPr id="31" name="Text 26"/>
          <p:cNvSpPr/>
          <p:nvPr/>
        </p:nvSpPr>
        <p:spPr>
          <a:xfrm>
            <a:off x="5786158" y="2543175"/>
            <a:ext cx="198121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Handles versioning and load balancing</a:t>
            </a:r>
            <a:endParaRPr lang="en-US" sz="7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5051608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Secure User Access and Profile Management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59086"/>
            <a:ext cx="321469" cy="2571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1278731"/>
            <a:ext cx="16524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Authentication Module</a:t>
            </a:r>
            <a:endParaRPr lang="en-US" sz="1046" dirty="0"/>
          </a:p>
        </p:txBody>
      </p:sp>
      <p:sp>
        <p:nvSpPr>
          <p:cNvPr id="6" name="Shape 2"/>
          <p:cNvSpPr/>
          <p:nvPr/>
        </p:nvSpPr>
        <p:spPr>
          <a:xfrm>
            <a:off x="428625" y="1814513"/>
            <a:ext cx="57150" cy="571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7" name="Text 3"/>
          <p:cNvSpPr/>
          <p:nvPr/>
        </p:nvSpPr>
        <p:spPr>
          <a:xfrm>
            <a:off x="571500" y="1764506"/>
            <a:ext cx="4891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Manages </a:t>
            </a:r>
            <a:endParaRPr lang="en-US" sz="785" dirty="0"/>
          </a:p>
        </p:txBody>
      </p:sp>
      <p:sp>
        <p:nvSpPr>
          <p:cNvPr id="8" name="Text 4"/>
          <p:cNvSpPr/>
          <p:nvPr/>
        </p:nvSpPr>
        <p:spPr>
          <a:xfrm>
            <a:off x="1060679" y="1764506"/>
            <a:ext cx="52166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login</a:t>
            </a:r>
            <a:endParaRPr lang="en-US" sz="785" dirty="0"/>
          </a:p>
        </p:txBody>
      </p:sp>
      <p:sp>
        <p:nvSpPr>
          <p:cNvPr id="9" name="Text 5"/>
          <p:cNvSpPr/>
          <p:nvPr/>
        </p:nvSpPr>
        <p:spPr>
          <a:xfrm>
            <a:off x="1582341" y="1764506"/>
            <a:ext cx="221503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session management for secure access</a:t>
            </a:r>
            <a:endParaRPr lang="en-US" sz="785" dirty="0"/>
          </a:p>
        </p:txBody>
      </p:sp>
      <p:sp>
        <p:nvSpPr>
          <p:cNvPr id="10" name="Shape 6"/>
          <p:cNvSpPr/>
          <p:nvPr/>
        </p:nvSpPr>
        <p:spPr>
          <a:xfrm>
            <a:off x="428625" y="2103834"/>
            <a:ext cx="57150" cy="571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" y="2053828"/>
            <a:ext cx="10391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Issues and validates </a:t>
            </a:r>
            <a:endParaRPr lang="en-US" sz="785" dirty="0"/>
          </a:p>
        </p:txBody>
      </p:sp>
      <p:sp>
        <p:nvSpPr>
          <p:cNvPr id="12" name="Text 8"/>
          <p:cNvSpPr/>
          <p:nvPr/>
        </p:nvSpPr>
        <p:spPr>
          <a:xfrm>
            <a:off x="1610609" y="2053828"/>
            <a:ext cx="5800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JWT tokens</a:t>
            </a:r>
            <a:endParaRPr lang="en-US" sz="785" dirty="0"/>
          </a:p>
        </p:txBody>
      </p:sp>
      <p:sp>
        <p:nvSpPr>
          <p:cNvPr id="13" name="Text 9"/>
          <p:cNvSpPr/>
          <p:nvPr/>
        </p:nvSpPr>
        <p:spPr>
          <a:xfrm>
            <a:off x="2190648" y="2053828"/>
            <a:ext cx="14026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stateless authentication</a:t>
            </a:r>
            <a:endParaRPr lang="en-US" sz="785" dirty="0"/>
          </a:p>
        </p:txBody>
      </p:sp>
      <p:sp>
        <p:nvSpPr>
          <p:cNvPr id="14" name="Shape 10"/>
          <p:cNvSpPr/>
          <p:nvPr/>
        </p:nvSpPr>
        <p:spPr>
          <a:xfrm>
            <a:off x="428625" y="2393156"/>
            <a:ext cx="57150" cy="571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15" name="Text 11"/>
          <p:cNvSpPr/>
          <p:nvPr/>
        </p:nvSpPr>
        <p:spPr>
          <a:xfrm>
            <a:off x="571500" y="2343150"/>
            <a:ext cx="79276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Integrates with </a:t>
            </a:r>
            <a:endParaRPr lang="en-US" sz="785" dirty="0"/>
          </a:p>
        </p:txBody>
      </p:sp>
      <p:sp>
        <p:nvSpPr>
          <p:cNvPr id="16" name="Text 12"/>
          <p:cNvSpPr/>
          <p:nvPr/>
        </p:nvSpPr>
        <p:spPr>
          <a:xfrm>
            <a:off x="1364261" y="2343150"/>
            <a:ext cx="6111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Redis cache</a:t>
            </a:r>
            <a:endParaRPr lang="en-US" sz="785" dirty="0"/>
          </a:p>
        </p:txBody>
      </p:sp>
      <p:sp>
        <p:nvSpPr>
          <p:cNvPr id="17" name="Text 13"/>
          <p:cNvSpPr/>
          <p:nvPr/>
        </p:nvSpPr>
        <p:spPr>
          <a:xfrm>
            <a:off x="1975386" y="2343150"/>
            <a:ext cx="177675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fast token storage and retrieval</a:t>
            </a:r>
            <a:endParaRPr lang="en-US" sz="785" dirty="0"/>
          </a:p>
        </p:txBody>
      </p:sp>
      <p:sp>
        <p:nvSpPr>
          <p:cNvPr id="18" name="Shape 14"/>
          <p:cNvSpPr/>
          <p:nvPr/>
        </p:nvSpPr>
        <p:spPr>
          <a:xfrm>
            <a:off x="428625" y="2682478"/>
            <a:ext cx="57150" cy="571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19" name="Text 15"/>
          <p:cNvSpPr/>
          <p:nvPr/>
        </p:nvSpPr>
        <p:spPr>
          <a:xfrm>
            <a:off x="571500" y="2632472"/>
            <a:ext cx="48189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Validates </a:t>
            </a:r>
            <a:endParaRPr lang="en-US" sz="785" dirty="0"/>
          </a:p>
        </p:txBody>
      </p:sp>
      <p:sp>
        <p:nvSpPr>
          <p:cNvPr id="20" name="Text 16"/>
          <p:cNvSpPr/>
          <p:nvPr/>
        </p:nvSpPr>
        <p:spPr>
          <a:xfrm>
            <a:off x="1053396" y="2632472"/>
            <a:ext cx="8379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credentials</a:t>
            </a:r>
            <a:endParaRPr lang="en-US" sz="785" dirty="0"/>
          </a:p>
        </p:txBody>
      </p:sp>
      <p:sp>
        <p:nvSpPr>
          <p:cNvPr id="21" name="Text 17"/>
          <p:cNvSpPr/>
          <p:nvPr/>
        </p:nvSpPr>
        <p:spPr>
          <a:xfrm>
            <a:off x="1891364" y="2632472"/>
            <a:ext cx="108155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against the database</a:t>
            </a:r>
            <a:endParaRPr lang="en-US" sz="785" dirty="0"/>
          </a:p>
        </p:txBody>
      </p:sp>
      <p:sp>
        <p:nvSpPr>
          <p:cNvPr id="22" name="Shape 18"/>
          <p:cNvSpPr/>
          <p:nvPr/>
        </p:nvSpPr>
        <p:spPr>
          <a:xfrm>
            <a:off x="428625" y="2971800"/>
            <a:ext cx="57150" cy="571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23" name="Text 19"/>
          <p:cNvSpPr/>
          <p:nvPr/>
        </p:nvSpPr>
        <p:spPr>
          <a:xfrm>
            <a:off x="571500" y="2921794"/>
            <a:ext cx="4120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Fetches </a:t>
            </a:r>
            <a:endParaRPr lang="en-US" sz="785" dirty="0"/>
          </a:p>
        </p:txBody>
      </p:sp>
      <p:sp>
        <p:nvSpPr>
          <p:cNvPr id="24" name="Text 20"/>
          <p:cNvSpPr/>
          <p:nvPr/>
        </p:nvSpPr>
        <p:spPr>
          <a:xfrm>
            <a:off x="983521" y="2921794"/>
            <a:ext cx="88576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information</a:t>
            </a:r>
            <a:endParaRPr lang="en-US" sz="785" dirty="0"/>
          </a:p>
        </p:txBody>
      </p:sp>
      <p:sp>
        <p:nvSpPr>
          <p:cNvPr id="25" name="Text 21"/>
          <p:cNvSpPr/>
          <p:nvPr/>
        </p:nvSpPr>
        <p:spPr>
          <a:xfrm>
            <a:off x="1869291" y="2921794"/>
            <a:ext cx="16505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from User Management module</a:t>
            </a:r>
            <a:endParaRPr lang="en-US" sz="785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94" y="1259086"/>
            <a:ext cx="321469" cy="25717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79219" y="1278731"/>
            <a:ext cx="18948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Management Module</a:t>
            </a:r>
            <a:endParaRPr lang="en-US" sz="1046" dirty="0"/>
          </a:p>
        </p:txBody>
      </p:sp>
      <p:sp>
        <p:nvSpPr>
          <p:cNvPr id="28" name="Shape 23"/>
          <p:cNvSpPr/>
          <p:nvPr/>
        </p:nvSpPr>
        <p:spPr>
          <a:xfrm>
            <a:off x="4750594" y="1814513"/>
            <a:ext cx="57150" cy="571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29" name="Text 24"/>
          <p:cNvSpPr/>
          <p:nvPr/>
        </p:nvSpPr>
        <p:spPr>
          <a:xfrm>
            <a:off x="4893469" y="1764506"/>
            <a:ext cx="102967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Stores and retrieves </a:t>
            </a:r>
            <a:endParaRPr lang="en-US" sz="785" dirty="0"/>
          </a:p>
        </p:txBody>
      </p:sp>
      <p:sp>
        <p:nvSpPr>
          <p:cNvPr id="30" name="Text 25"/>
          <p:cNvSpPr/>
          <p:nvPr/>
        </p:nvSpPr>
        <p:spPr>
          <a:xfrm>
            <a:off x="5923145" y="1764506"/>
            <a:ext cx="125492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profile information</a:t>
            </a:r>
            <a:endParaRPr lang="en-US" sz="785" dirty="0"/>
          </a:p>
        </p:txBody>
      </p:sp>
      <p:sp>
        <p:nvSpPr>
          <p:cNvPr id="31" name="Text 26"/>
          <p:cNvSpPr/>
          <p:nvPr/>
        </p:nvSpPr>
        <p:spPr>
          <a:xfrm>
            <a:off x="7178073" y="1764506"/>
            <a:ext cx="4421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securely</a:t>
            </a:r>
            <a:endParaRPr lang="en-US" sz="785" dirty="0"/>
          </a:p>
        </p:txBody>
      </p:sp>
      <p:sp>
        <p:nvSpPr>
          <p:cNvPr id="32" name="Shape 27"/>
          <p:cNvSpPr/>
          <p:nvPr/>
        </p:nvSpPr>
        <p:spPr>
          <a:xfrm>
            <a:off x="4750594" y="2103834"/>
            <a:ext cx="57150" cy="571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33" name="Text 28"/>
          <p:cNvSpPr/>
          <p:nvPr/>
        </p:nvSpPr>
        <p:spPr>
          <a:xfrm>
            <a:off x="4893469" y="2053828"/>
            <a:ext cx="5230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Maintains </a:t>
            </a:r>
            <a:endParaRPr lang="en-US" sz="785" dirty="0"/>
          </a:p>
        </p:txBody>
      </p:sp>
      <p:sp>
        <p:nvSpPr>
          <p:cNvPr id="34" name="Text 29"/>
          <p:cNvSpPr/>
          <p:nvPr/>
        </p:nvSpPr>
        <p:spPr>
          <a:xfrm>
            <a:off x="5416525" y="2053828"/>
            <a:ext cx="105348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account details</a:t>
            </a:r>
            <a:endParaRPr lang="en-US" sz="785" dirty="0"/>
          </a:p>
        </p:txBody>
      </p:sp>
      <p:sp>
        <p:nvSpPr>
          <p:cNvPr id="35" name="Text 30"/>
          <p:cNvSpPr/>
          <p:nvPr/>
        </p:nvSpPr>
        <p:spPr>
          <a:xfrm>
            <a:off x="6470005" y="2053828"/>
            <a:ext cx="8054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the database</a:t>
            </a:r>
            <a:endParaRPr lang="en-US" sz="785" dirty="0"/>
          </a:p>
        </p:txBody>
      </p:sp>
      <p:sp>
        <p:nvSpPr>
          <p:cNvPr id="36" name="Shape 31"/>
          <p:cNvSpPr/>
          <p:nvPr/>
        </p:nvSpPr>
        <p:spPr>
          <a:xfrm>
            <a:off x="4750594" y="2393156"/>
            <a:ext cx="57150" cy="571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37" name="Text 32"/>
          <p:cNvSpPr/>
          <p:nvPr/>
        </p:nvSpPr>
        <p:spPr>
          <a:xfrm>
            <a:off x="4893469" y="2343150"/>
            <a:ext cx="4572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Provides </a:t>
            </a:r>
            <a:endParaRPr lang="en-US" sz="785" dirty="0"/>
          </a:p>
        </p:txBody>
      </p:sp>
      <p:sp>
        <p:nvSpPr>
          <p:cNvPr id="38" name="Text 33"/>
          <p:cNvSpPr/>
          <p:nvPr/>
        </p:nvSpPr>
        <p:spPr>
          <a:xfrm>
            <a:off x="5350725" y="2343150"/>
            <a:ext cx="97771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verification results</a:t>
            </a:r>
            <a:endParaRPr lang="en-US" sz="785" dirty="0"/>
          </a:p>
        </p:txBody>
      </p:sp>
      <p:sp>
        <p:nvSpPr>
          <p:cNvPr id="39" name="Text 34"/>
          <p:cNvSpPr/>
          <p:nvPr/>
        </p:nvSpPr>
        <p:spPr>
          <a:xfrm>
            <a:off x="6328442" y="2343150"/>
            <a:ext cx="8981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other modules</a:t>
            </a:r>
            <a:endParaRPr lang="en-US" sz="785" dirty="0"/>
          </a:p>
        </p:txBody>
      </p:sp>
      <p:sp>
        <p:nvSpPr>
          <p:cNvPr id="40" name="Shape 35"/>
          <p:cNvSpPr/>
          <p:nvPr/>
        </p:nvSpPr>
        <p:spPr>
          <a:xfrm>
            <a:off x="4750594" y="2682478"/>
            <a:ext cx="57150" cy="571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41" name="Text 36"/>
          <p:cNvSpPr/>
          <p:nvPr/>
        </p:nvSpPr>
        <p:spPr>
          <a:xfrm>
            <a:off x="4893469" y="2632472"/>
            <a:ext cx="4891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Manages </a:t>
            </a:r>
            <a:endParaRPr lang="en-US" sz="785" dirty="0"/>
          </a:p>
        </p:txBody>
      </p:sp>
      <p:sp>
        <p:nvSpPr>
          <p:cNvPr id="42" name="Text 37"/>
          <p:cNvSpPr/>
          <p:nvPr/>
        </p:nvSpPr>
        <p:spPr>
          <a:xfrm>
            <a:off x="5382648" y="2632472"/>
            <a:ext cx="89176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permissions</a:t>
            </a:r>
            <a:endParaRPr lang="en-US" sz="785" dirty="0"/>
          </a:p>
        </p:txBody>
      </p:sp>
      <p:sp>
        <p:nvSpPr>
          <p:cNvPr id="43" name="Text 38"/>
          <p:cNvSpPr/>
          <p:nvPr/>
        </p:nvSpPr>
        <p:spPr>
          <a:xfrm>
            <a:off x="6274417" y="2632472"/>
            <a:ext cx="49431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roles</a:t>
            </a:r>
            <a:endParaRPr lang="en-US" sz="785" dirty="0"/>
          </a:p>
        </p:txBody>
      </p:sp>
      <p:sp>
        <p:nvSpPr>
          <p:cNvPr id="44" name="Shape 39"/>
          <p:cNvSpPr/>
          <p:nvPr/>
        </p:nvSpPr>
        <p:spPr>
          <a:xfrm>
            <a:off x="4750594" y="2971800"/>
            <a:ext cx="57150" cy="571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45" name="Text 40"/>
          <p:cNvSpPr/>
          <p:nvPr/>
        </p:nvSpPr>
        <p:spPr>
          <a:xfrm>
            <a:off x="4893469" y="2921794"/>
            <a:ext cx="4120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Fetches </a:t>
            </a:r>
            <a:endParaRPr lang="en-US" sz="785" dirty="0"/>
          </a:p>
        </p:txBody>
      </p:sp>
      <p:sp>
        <p:nvSpPr>
          <p:cNvPr id="46" name="Text 41"/>
          <p:cNvSpPr/>
          <p:nvPr/>
        </p:nvSpPr>
        <p:spPr>
          <a:xfrm>
            <a:off x="5305490" y="2921794"/>
            <a:ext cx="4950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data</a:t>
            </a:r>
            <a:endParaRPr lang="en-US" sz="785" dirty="0"/>
          </a:p>
        </p:txBody>
      </p:sp>
      <p:sp>
        <p:nvSpPr>
          <p:cNvPr id="47" name="Text 42"/>
          <p:cNvSpPr/>
          <p:nvPr/>
        </p:nvSpPr>
        <p:spPr>
          <a:xfrm>
            <a:off x="5800558" y="2921794"/>
            <a:ext cx="144234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KYC validation processes</a:t>
            </a:r>
            <a:endParaRPr lang="en-US" sz="7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5288440" cy="457200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Identity Verification and Virtual Card Issuance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39428"/>
            <a:ext cx="257175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1519" y="1064419"/>
            <a:ext cx="12160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KYC Module</a:t>
            </a:r>
            <a:endParaRPr lang="en-US" sz="1046" dirty="0"/>
          </a:p>
        </p:txBody>
      </p:sp>
      <p:sp>
        <p:nvSpPr>
          <p:cNvPr id="6" name="Text 2"/>
          <p:cNvSpPr/>
          <p:nvPr/>
        </p:nvSpPr>
        <p:spPr>
          <a:xfrm>
            <a:off x="721519" y="1300163"/>
            <a:ext cx="12160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spc="1" kern="0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Identity Verification</a:t>
            </a:r>
            <a:endParaRPr lang="en-US" sz="680" dirty="0"/>
          </a:p>
        </p:txBody>
      </p:sp>
      <p:sp>
        <p:nvSpPr>
          <p:cNvPr id="7" name="Text 3"/>
          <p:cNvSpPr/>
          <p:nvPr/>
        </p:nvSpPr>
        <p:spPr>
          <a:xfrm>
            <a:off x="357188" y="1596628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491272" y="1589484"/>
            <a:ext cx="15777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Validates user identity through </a:t>
            </a:r>
            <a:endParaRPr lang="en-US" sz="785" dirty="0"/>
          </a:p>
        </p:txBody>
      </p:sp>
      <p:sp>
        <p:nvSpPr>
          <p:cNvPr id="9" name="Text 5"/>
          <p:cNvSpPr/>
          <p:nvPr/>
        </p:nvSpPr>
        <p:spPr>
          <a:xfrm>
            <a:off x="2069064" y="1589484"/>
            <a:ext cx="13180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third-party KYC providers</a:t>
            </a:r>
            <a:endParaRPr lang="en-US" sz="785" dirty="0"/>
          </a:p>
        </p:txBody>
      </p:sp>
      <p:sp>
        <p:nvSpPr>
          <p:cNvPr id="10" name="Text 6"/>
          <p:cNvSpPr/>
          <p:nvPr/>
        </p:nvSpPr>
        <p:spPr>
          <a:xfrm>
            <a:off x="357188" y="1910953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491272" y="1903809"/>
            <a:ext cx="9647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Sends user data to </a:t>
            </a:r>
            <a:endParaRPr lang="en-US" sz="785" dirty="0"/>
          </a:p>
        </p:txBody>
      </p:sp>
      <p:sp>
        <p:nvSpPr>
          <p:cNvPr id="12" name="Text 8"/>
          <p:cNvSpPr/>
          <p:nvPr/>
        </p:nvSpPr>
        <p:spPr>
          <a:xfrm>
            <a:off x="1456013" y="1903809"/>
            <a:ext cx="15438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external KYC verification APIs</a:t>
            </a:r>
            <a:endParaRPr lang="en-US" sz="785" dirty="0"/>
          </a:p>
        </p:txBody>
      </p:sp>
      <p:sp>
        <p:nvSpPr>
          <p:cNvPr id="13" name="Text 9"/>
          <p:cNvSpPr/>
          <p:nvPr/>
        </p:nvSpPr>
        <p:spPr>
          <a:xfrm>
            <a:off x="357188" y="2225278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491272" y="2218134"/>
            <a:ext cx="110544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Awaits and processes </a:t>
            </a:r>
            <a:endParaRPr lang="en-US" sz="785" dirty="0"/>
          </a:p>
        </p:txBody>
      </p:sp>
      <p:sp>
        <p:nvSpPr>
          <p:cNvPr id="15" name="Text 11"/>
          <p:cNvSpPr/>
          <p:nvPr/>
        </p:nvSpPr>
        <p:spPr>
          <a:xfrm>
            <a:off x="1596712" y="2218134"/>
            <a:ext cx="115109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verification responses</a:t>
            </a:r>
            <a:endParaRPr lang="en-US" sz="785" dirty="0"/>
          </a:p>
        </p:txBody>
      </p:sp>
      <p:sp>
        <p:nvSpPr>
          <p:cNvPr id="16" name="Text 12"/>
          <p:cNvSpPr/>
          <p:nvPr/>
        </p:nvSpPr>
        <p:spPr>
          <a:xfrm>
            <a:off x="2747804" y="2218134"/>
            <a:ext cx="60138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real-time</a:t>
            </a:r>
            <a:endParaRPr lang="en-US" sz="785" dirty="0"/>
          </a:p>
        </p:txBody>
      </p:sp>
      <p:sp>
        <p:nvSpPr>
          <p:cNvPr id="17" name="Text 13"/>
          <p:cNvSpPr/>
          <p:nvPr/>
        </p:nvSpPr>
        <p:spPr>
          <a:xfrm>
            <a:off x="357188" y="2539603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491272" y="2532459"/>
            <a:ext cx="3441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Stores </a:t>
            </a:r>
            <a:endParaRPr lang="en-US" sz="785" dirty="0"/>
          </a:p>
        </p:txBody>
      </p:sp>
      <p:sp>
        <p:nvSpPr>
          <p:cNvPr id="19" name="Text 15"/>
          <p:cNvSpPr/>
          <p:nvPr/>
        </p:nvSpPr>
        <p:spPr>
          <a:xfrm>
            <a:off x="835372" y="2532459"/>
            <a:ext cx="55143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KYC status</a:t>
            </a:r>
            <a:endParaRPr lang="en-US" sz="785" dirty="0"/>
          </a:p>
        </p:txBody>
      </p:sp>
      <p:sp>
        <p:nvSpPr>
          <p:cNvPr id="20" name="Text 16"/>
          <p:cNvSpPr/>
          <p:nvPr/>
        </p:nvSpPr>
        <p:spPr>
          <a:xfrm>
            <a:off x="1386808" y="2532459"/>
            <a:ext cx="150041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User Management module</a:t>
            </a:r>
            <a:endParaRPr lang="en-US" sz="785" dirty="0"/>
          </a:p>
        </p:txBody>
      </p:sp>
      <p:sp>
        <p:nvSpPr>
          <p:cNvPr id="21" name="Text 17"/>
          <p:cNvSpPr/>
          <p:nvPr/>
        </p:nvSpPr>
        <p:spPr>
          <a:xfrm>
            <a:off x="357188" y="2853928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22" name="Text 18"/>
          <p:cNvSpPr/>
          <p:nvPr/>
        </p:nvSpPr>
        <p:spPr>
          <a:xfrm>
            <a:off x="491272" y="2846784"/>
            <a:ext cx="4251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Ensures </a:t>
            </a:r>
            <a:endParaRPr lang="en-US" sz="785" dirty="0"/>
          </a:p>
        </p:txBody>
      </p:sp>
      <p:sp>
        <p:nvSpPr>
          <p:cNvPr id="23" name="Text 19"/>
          <p:cNvSpPr/>
          <p:nvPr/>
        </p:nvSpPr>
        <p:spPr>
          <a:xfrm>
            <a:off x="916381" y="2846784"/>
            <a:ext cx="117871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regulatory compliance</a:t>
            </a:r>
            <a:endParaRPr lang="en-US" sz="785" dirty="0"/>
          </a:p>
        </p:txBody>
      </p:sp>
      <p:sp>
        <p:nvSpPr>
          <p:cNvPr id="24" name="Text 20"/>
          <p:cNvSpPr/>
          <p:nvPr/>
        </p:nvSpPr>
        <p:spPr>
          <a:xfrm>
            <a:off x="2095100" y="2846784"/>
            <a:ext cx="106846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before card issuance</a:t>
            </a:r>
            <a:endParaRPr lang="en-US" sz="785" dirty="0"/>
          </a:p>
        </p:txBody>
      </p:sp>
      <p:sp>
        <p:nvSpPr>
          <p:cNvPr id="25" name="Text 21"/>
          <p:cNvSpPr/>
          <p:nvPr/>
        </p:nvSpPr>
        <p:spPr>
          <a:xfrm>
            <a:off x="1753093" y="3382566"/>
            <a:ext cx="129798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 Validates user eligibility ↓</a:t>
            </a:r>
            <a:endParaRPr lang="en-US" sz="732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016" y="1139428"/>
            <a:ext cx="257175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61347" y="1064419"/>
            <a:ext cx="15666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Card Provision Module</a:t>
            </a:r>
            <a:endParaRPr lang="en-US" sz="1046" dirty="0"/>
          </a:p>
        </p:txBody>
      </p:sp>
      <p:sp>
        <p:nvSpPr>
          <p:cNvPr id="28" name="Text 23"/>
          <p:cNvSpPr/>
          <p:nvPr/>
        </p:nvSpPr>
        <p:spPr>
          <a:xfrm>
            <a:off x="5061347" y="1300163"/>
            <a:ext cx="156663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spc="1" kern="0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Virtual Card Issuance</a:t>
            </a:r>
            <a:endParaRPr lang="en-US" sz="680" dirty="0"/>
          </a:p>
        </p:txBody>
      </p:sp>
      <p:sp>
        <p:nvSpPr>
          <p:cNvPr id="29" name="Text 24"/>
          <p:cNvSpPr/>
          <p:nvPr/>
        </p:nvSpPr>
        <p:spPr>
          <a:xfrm>
            <a:off x="4697016" y="1596628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30" name="Text 25"/>
          <p:cNvSpPr/>
          <p:nvPr/>
        </p:nvSpPr>
        <p:spPr>
          <a:xfrm>
            <a:off x="4831100" y="1589484"/>
            <a:ext cx="4389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Handles </a:t>
            </a:r>
            <a:endParaRPr lang="en-US" sz="785" dirty="0"/>
          </a:p>
        </p:txBody>
      </p:sp>
      <p:sp>
        <p:nvSpPr>
          <p:cNvPr id="31" name="Text 26"/>
          <p:cNvSpPr/>
          <p:nvPr/>
        </p:nvSpPr>
        <p:spPr>
          <a:xfrm>
            <a:off x="5270023" y="1589484"/>
            <a:ext cx="15411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virtual card creation requests</a:t>
            </a:r>
            <a:endParaRPr lang="en-US" sz="785" dirty="0"/>
          </a:p>
        </p:txBody>
      </p:sp>
      <p:sp>
        <p:nvSpPr>
          <p:cNvPr id="32" name="Text 27"/>
          <p:cNvSpPr/>
          <p:nvPr/>
        </p:nvSpPr>
        <p:spPr>
          <a:xfrm>
            <a:off x="6811147" y="1589484"/>
            <a:ext cx="6231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from clients</a:t>
            </a:r>
            <a:endParaRPr lang="en-US" sz="785" dirty="0"/>
          </a:p>
        </p:txBody>
      </p:sp>
      <p:sp>
        <p:nvSpPr>
          <p:cNvPr id="33" name="Text 28"/>
          <p:cNvSpPr/>
          <p:nvPr/>
        </p:nvSpPr>
        <p:spPr>
          <a:xfrm>
            <a:off x="4697016" y="1910953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34" name="Text 29"/>
          <p:cNvSpPr/>
          <p:nvPr/>
        </p:nvSpPr>
        <p:spPr>
          <a:xfrm>
            <a:off x="4831100" y="1903809"/>
            <a:ext cx="48189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Validates </a:t>
            </a:r>
            <a:endParaRPr lang="en-US" sz="785" dirty="0"/>
          </a:p>
        </p:txBody>
      </p:sp>
      <p:sp>
        <p:nvSpPr>
          <p:cNvPr id="35" name="Text 30"/>
          <p:cNvSpPr/>
          <p:nvPr/>
        </p:nvSpPr>
        <p:spPr>
          <a:xfrm>
            <a:off x="5312997" y="1903809"/>
            <a:ext cx="8098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KYC status</a:t>
            </a:r>
            <a:endParaRPr lang="en-US" sz="785" dirty="0"/>
          </a:p>
        </p:txBody>
      </p:sp>
      <p:sp>
        <p:nvSpPr>
          <p:cNvPr id="36" name="Text 31"/>
          <p:cNvSpPr/>
          <p:nvPr/>
        </p:nvSpPr>
        <p:spPr>
          <a:xfrm>
            <a:off x="6122891" y="1903809"/>
            <a:ext cx="100888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before provisioning</a:t>
            </a:r>
            <a:endParaRPr lang="en-US" sz="785" dirty="0"/>
          </a:p>
        </p:txBody>
      </p:sp>
      <p:sp>
        <p:nvSpPr>
          <p:cNvPr id="37" name="Text 32"/>
          <p:cNvSpPr/>
          <p:nvPr/>
        </p:nvSpPr>
        <p:spPr>
          <a:xfrm>
            <a:off x="4697016" y="2225278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38" name="Text 33"/>
          <p:cNvSpPr/>
          <p:nvPr/>
        </p:nvSpPr>
        <p:spPr>
          <a:xfrm>
            <a:off x="4831100" y="2218134"/>
            <a:ext cx="79276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Integrates with </a:t>
            </a:r>
            <a:endParaRPr lang="en-US" sz="785" dirty="0"/>
          </a:p>
        </p:txBody>
      </p:sp>
      <p:sp>
        <p:nvSpPr>
          <p:cNvPr id="39" name="Text 34"/>
          <p:cNvSpPr/>
          <p:nvPr/>
        </p:nvSpPr>
        <p:spPr>
          <a:xfrm>
            <a:off x="5623861" y="2218134"/>
            <a:ext cx="15527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third-party card provider APIs</a:t>
            </a:r>
            <a:endParaRPr lang="en-US" sz="785" dirty="0"/>
          </a:p>
        </p:txBody>
      </p:sp>
      <p:sp>
        <p:nvSpPr>
          <p:cNvPr id="40" name="Text 35"/>
          <p:cNvSpPr/>
          <p:nvPr/>
        </p:nvSpPr>
        <p:spPr>
          <a:xfrm>
            <a:off x="4697016" y="2539603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41" name="Text 36"/>
          <p:cNvSpPr/>
          <p:nvPr/>
        </p:nvSpPr>
        <p:spPr>
          <a:xfrm>
            <a:off x="4831100" y="2532459"/>
            <a:ext cx="10467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Retrieves and stores </a:t>
            </a:r>
            <a:endParaRPr lang="en-US" sz="785" dirty="0"/>
          </a:p>
        </p:txBody>
      </p:sp>
      <p:sp>
        <p:nvSpPr>
          <p:cNvPr id="42" name="Text 37"/>
          <p:cNvSpPr/>
          <p:nvPr/>
        </p:nvSpPr>
        <p:spPr>
          <a:xfrm>
            <a:off x="5877827" y="2532459"/>
            <a:ext cx="134545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card information securely</a:t>
            </a:r>
            <a:endParaRPr lang="en-US" sz="785" dirty="0"/>
          </a:p>
        </p:txBody>
      </p:sp>
      <p:sp>
        <p:nvSpPr>
          <p:cNvPr id="43" name="Text 38"/>
          <p:cNvSpPr/>
          <p:nvPr/>
        </p:nvSpPr>
        <p:spPr>
          <a:xfrm>
            <a:off x="4697016" y="2853928"/>
            <a:ext cx="483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44" name="Text 39"/>
          <p:cNvSpPr/>
          <p:nvPr/>
        </p:nvSpPr>
        <p:spPr>
          <a:xfrm>
            <a:off x="4831100" y="2846784"/>
            <a:ext cx="5230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Maintains </a:t>
            </a:r>
            <a:endParaRPr lang="en-US" sz="785" dirty="0"/>
          </a:p>
        </p:txBody>
      </p:sp>
      <p:sp>
        <p:nvSpPr>
          <p:cNvPr id="45" name="Text 40"/>
          <p:cNvSpPr/>
          <p:nvPr/>
        </p:nvSpPr>
        <p:spPr>
          <a:xfrm>
            <a:off x="5354157" y="2846784"/>
            <a:ext cx="141223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card lifecycle management</a:t>
            </a:r>
            <a:endParaRPr lang="en-US" sz="785" dirty="0"/>
          </a:p>
        </p:txBody>
      </p:sp>
      <p:sp>
        <p:nvSpPr>
          <p:cNvPr id="46" name="Text 41"/>
          <p:cNvSpPr/>
          <p:nvPr/>
        </p:nvSpPr>
        <p:spPr>
          <a:xfrm>
            <a:off x="6213025" y="3382566"/>
            <a:ext cx="105774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 Issues virtual card ↓</a:t>
            </a:r>
            <a:endParaRPr lang="en-US" sz="7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6258846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Transactions and Proactive Fraud Prevention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23367"/>
            <a:ext cx="257175" cy="2571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2956" y="1243013"/>
            <a:ext cx="19738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Payment Processing Module</a:t>
            </a:r>
            <a:endParaRPr lang="en-US" sz="1046" dirty="0"/>
          </a:p>
        </p:txBody>
      </p:sp>
      <p:sp>
        <p:nvSpPr>
          <p:cNvPr id="6" name="Text 2"/>
          <p:cNvSpPr/>
          <p:nvPr/>
        </p:nvSpPr>
        <p:spPr>
          <a:xfrm>
            <a:off x="428625" y="1750219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732" dirty="0"/>
          </a:p>
        </p:txBody>
      </p:sp>
      <p:sp>
        <p:nvSpPr>
          <p:cNvPr id="7" name="Text 3"/>
          <p:cNvSpPr/>
          <p:nvPr/>
        </p:nvSpPr>
        <p:spPr>
          <a:xfrm>
            <a:off x="564356" y="1734145"/>
            <a:ext cx="12029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Processing</a:t>
            </a:r>
            <a:endParaRPr lang="en-US" sz="785" dirty="0"/>
          </a:p>
        </p:txBody>
      </p:sp>
      <p:sp>
        <p:nvSpPr>
          <p:cNvPr id="8" name="Text 4"/>
          <p:cNvSpPr/>
          <p:nvPr/>
        </p:nvSpPr>
        <p:spPr>
          <a:xfrm>
            <a:off x="1767297" y="1734145"/>
            <a:ext cx="244425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Handles payment requests through third-party </a:t>
            </a:r>
            <a:endParaRPr lang="en-US" sz="785" dirty="0"/>
          </a:p>
        </p:txBody>
      </p:sp>
      <p:sp>
        <p:nvSpPr>
          <p:cNvPr id="9" name="Text 5"/>
          <p:cNvSpPr/>
          <p:nvPr/>
        </p:nvSpPr>
        <p:spPr>
          <a:xfrm>
            <a:off x="564356" y="1905595"/>
            <a:ext cx="9473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payment gateways</a:t>
            </a:r>
            <a:endParaRPr lang="en-US" sz="785" dirty="0"/>
          </a:p>
        </p:txBody>
      </p:sp>
      <p:sp>
        <p:nvSpPr>
          <p:cNvPr id="10" name="Text 6"/>
          <p:cNvSpPr/>
          <p:nvPr/>
        </p:nvSpPr>
        <p:spPr>
          <a:xfrm>
            <a:off x="428625" y="2221706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732" dirty="0"/>
          </a:p>
        </p:txBody>
      </p:sp>
      <p:sp>
        <p:nvSpPr>
          <p:cNvPr id="11" name="Text 7"/>
          <p:cNvSpPr/>
          <p:nvPr/>
        </p:nvSpPr>
        <p:spPr>
          <a:xfrm>
            <a:off x="564356" y="2205633"/>
            <a:ext cx="101232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Card Data Retrieval</a:t>
            </a:r>
            <a:endParaRPr lang="en-US" sz="785" dirty="0"/>
          </a:p>
        </p:txBody>
      </p:sp>
      <p:sp>
        <p:nvSpPr>
          <p:cNvPr id="12" name="Text 8"/>
          <p:cNvSpPr/>
          <p:nvPr/>
        </p:nvSpPr>
        <p:spPr>
          <a:xfrm>
            <a:off x="1576676" y="2205633"/>
            <a:ext cx="247907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Fetches card details securely from the database</a:t>
            </a:r>
            <a:endParaRPr lang="en-US" sz="785" dirty="0"/>
          </a:p>
        </p:txBody>
      </p:sp>
      <p:sp>
        <p:nvSpPr>
          <p:cNvPr id="13" name="Text 9"/>
          <p:cNvSpPr/>
          <p:nvPr/>
        </p:nvSpPr>
        <p:spPr>
          <a:xfrm>
            <a:off x="428625" y="2528888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732" dirty="0"/>
          </a:p>
        </p:txBody>
      </p:sp>
      <p:sp>
        <p:nvSpPr>
          <p:cNvPr id="14" name="Text 10"/>
          <p:cNvSpPr/>
          <p:nvPr/>
        </p:nvSpPr>
        <p:spPr>
          <a:xfrm>
            <a:off x="564356" y="2512814"/>
            <a:ext cx="8582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Validation</a:t>
            </a:r>
            <a:endParaRPr lang="en-US" sz="785" dirty="0"/>
          </a:p>
        </p:txBody>
      </p:sp>
      <p:sp>
        <p:nvSpPr>
          <p:cNvPr id="15" name="Text 11"/>
          <p:cNvSpPr/>
          <p:nvPr/>
        </p:nvSpPr>
        <p:spPr>
          <a:xfrm>
            <a:off x="1422583" y="2512814"/>
            <a:ext cx="278843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Sends transaction data to Fraud Detection Module for </a:t>
            </a:r>
            <a:endParaRPr lang="en-US" sz="785" dirty="0"/>
          </a:p>
        </p:txBody>
      </p:sp>
      <p:sp>
        <p:nvSpPr>
          <p:cNvPr id="16" name="Text 12"/>
          <p:cNvSpPr/>
          <p:nvPr/>
        </p:nvSpPr>
        <p:spPr>
          <a:xfrm>
            <a:off x="564356" y="2684264"/>
            <a:ext cx="3990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analysis</a:t>
            </a:r>
            <a:endParaRPr lang="en-US" sz="785" dirty="0"/>
          </a:p>
        </p:txBody>
      </p:sp>
      <p:sp>
        <p:nvSpPr>
          <p:cNvPr id="17" name="Text 13"/>
          <p:cNvSpPr/>
          <p:nvPr/>
        </p:nvSpPr>
        <p:spPr>
          <a:xfrm>
            <a:off x="428625" y="3000375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732" dirty="0"/>
          </a:p>
        </p:txBody>
      </p:sp>
      <p:sp>
        <p:nvSpPr>
          <p:cNvPr id="18" name="Text 14"/>
          <p:cNvSpPr/>
          <p:nvPr/>
        </p:nvSpPr>
        <p:spPr>
          <a:xfrm>
            <a:off x="564356" y="2984302"/>
            <a:ext cx="116791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Recording</a:t>
            </a:r>
            <a:endParaRPr lang="en-US" sz="785" dirty="0"/>
          </a:p>
        </p:txBody>
      </p:sp>
      <p:sp>
        <p:nvSpPr>
          <p:cNvPr id="19" name="Text 15"/>
          <p:cNvSpPr/>
          <p:nvPr/>
        </p:nvSpPr>
        <p:spPr>
          <a:xfrm>
            <a:off x="1732276" y="2984302"/>
            <a:ext cx="25278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Stores transaction details and status in database</a:t>
            </a:r>
            <a:endParaRPr lang="en-US" sz="785" dirty="0"/>
          </a:p>
        </p:txBody>
      </p:sp>
      <p:sp>
        <p:nvSpPr>
          <p:cNvPr id="20" name="Text 16"/>
          <p:cNvSpPr/>
          <p:nvPr/>
        </p:nvSpPr>
        <p:spPr>
          <a:xfrm>
            <a:off x="428625" y="3307556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732" dirty="0"/>
          </a:p>
        </p:txBody>
      </p:sp>
      <p:sp>
        <p:nvSpPr>
          <p:cNvPr id="21" name="Text 17"/>
          <p:cNvSpPr/>
          <p:nvPr/>
        </p:nvSpPr>
        <p:spPr>
          <a:xfrm>
            <a:off x="564356" y="3291483"/>
            <a:ext cx="102593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Notification Trigger</a:t>
            </a:r>
            <a:endParaRPr lang="en-US" sz="785" dirty="0"/>
          </a:p>
        </p:txBody>
      </p:sp>
      <p:sp>
        <p:nvSpPr>
          <p:cNvPr id="22" name="Text 18"/>
          <p:cNvSpPr/>
          <p:nvPr/>
        </p:nvSpPr>
        <p:spPr>
          <a:xfrm>
            <a:off x="1590294" y="3291483"/>
            <a:ext cx="24344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Initiates alerts to users via Notification Module</a:t>
            </a:r>
            <a:endParaRPr lang="en-US" sz="785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94" y="1223367"/>
            <a:ext cx="257175" cy="2571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14925" y="1243013"/>
            <a:ext cx="16810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Detection Module</a:t>
            </a:r>
            <a:endParaRPr lang="en-US" sz="1046" dirty="0"/>
          </a:p>
        </p:txBody>
      </p:sp>
      <p:sp>
        <p:nvSpPr>
          <p:cNvPr id="25" name="Text 20"/>
          <p:cNvSpPr/>
          <p:nvPr/>
        </p:nvSpPr>
        <p:spPr>
          <a:xfrm>
            <a:off x="4750594" y="1750219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732" dirty="0"/>
          </a:p>
        </p:txBody>
      </p:sp>
      <p:sp>
        <p:nvSpPr>
          <p:cNvPr id="26" name="Text 21"/>
          <p:cNvSpPr/>
          <p:nvPr/>
        </p:nvSpPr>
        <p:spPr>
          <a:xfrm>
            <a:off x="4886325" y="1734145"/>
            <a:ext cx="8511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 Analysis</a:t>
            </a:r>
            <a:endParaRPr lang="en-US" sz="785" dirty="0"/>
          </a:p>
        </p:txBody>
      </p:sp>
      <p:sp>
        <p:nvSpPr>
          <p:cNvPr id="27" name="Text 22"/>
          <p:cNvSpPr/>
          <p:nvPr/>
        </p:nvSpPr>
        <p:spPr>
          <a:xfrm>
            <a:off x="5737492" y="1734145"/>
            <a:ext cx="26849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Analyzes transaction patterns for suspicious activity</a:t>
            </a:r>
            <a:endParaRPr lang="en-US" sz="785" dirty="0"/>
          </a:p>
        </p:txBody>
      </p:sp>
      <p:sp>
        <p:nvSpPr>
          <p:cNvPr id="28" name="Text 23"/>
          <p:cNvSpPr/>
          <p:nvPr/>
        </p:nvSpPr>
        <p:spPr>
          <a:xfrm>
            <a:off x="4750594" y="2057400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732" dirty="0"/>
          </a:p>
        </p:txBody>
      </p:sp>
      <p:sp>
        <p:nvSpPr>
          <p:cNvPr id="29" name="Text 24"/>
          <p:cNvSpPr/>
          <p:nvPr/>
        </p:nvSpPr>
        <p:spPr>
          <a:xfrm>
            <a:off x="4886325" y="2041327"/>
            <a:ext cx="105635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Validation</a:t>
            </a:r>
            <a:endParaRPr lang="en-US" sz="785" dirty="0"/>
          </a:p>
        </p:txBody>
      </p:sp>
      <p:sp>
        <p:nvSpPr>
          <p:cNvPr id="30" name="Text 25"/>
          <p:cNvSpPr/>
          <p:nvPr/>
        </p:nvSpPr>
        <p:spPr>
          <a:xfrm>
            <a:off x="5942679" y="2041327"/>
            <a:ext cx="218342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Checks transaction legitimacy in real-time</a:t>
            </a:r>
            <a:endParaRPr lang="en-US" sz="785" dirty="0"/>
          </a:p>
        </p:txBody>
      </p:sp>
      <p:sp>
        <p:nvSpPr>
          <p:cNvPr id="31" name="Text 26"/>
          <p:cNvSpPr/>
          <p:nvPr/>
        </p:nvSpPr>
        <p:spPr>
          <a:xfrm>
            <a:off x="4750594" y="2364581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732" dirty="0"/>
          </a:p>
        </p:txBody>
      </p:sp>
      <p:sp>
        <p:nvSpPr>
          <p:cNvPr id="32" name="Text 27"/>
          <p:cNvSpPr/>
          <p:nvPr/>
        </p:nvSpPr>
        <p:spPr>
          <a:xfrm>
            <a:off x="4886325" y="2348508"/>
            <a:ext cx="86539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Assessment</a:t>
            </a:r>
            <a:endParaRPr lang="en-US" sz="785" dirty="0"/>
          </a:p>
        </p:txBody>
      </p:sp>
      <p:sp>
        <p:nvSpPr>
          <p:cNvPr id="33" name="Text 28"/>
          <p:cNvSpPr/>
          <p:nvPr/>
        </p:nvSpPr>
        <p:spPr>
          <a:xfrm>
            <a:off x="5751723" y="2348508"/>
            <a:ext cx="241938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Returns fraud assessment results immediately</a:t>
            </a:r>
            <a:endParaRPr lang="en-US" sz="785" dirty="0"/>
          </a:p>
        </p:txBody>
      </p:sp>
      <p:sp>
        <p:nvSpPr>
          <p:cNvPr id="34" name="Text 29"/>
          <p:cNvSpPr/>
          <p:nvPr/>
        </p:nvSpPr>
        <p:spPr>
          <a:xfrm>
            <a:off x="4750594" y="2671763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732" dirty="0"/>
          </a:p>
        </p:txBody>
      </p:sp>
      <p:sp>
        <p:nvSpPr>
          <p:cNvPr id="35" name="Text 30"/>
          <p:cNvSpPr/>
          <p:nvPr/>
        </p:nvSpPr>
        <p:spPr>
          <a:xfrm>
            <a:off x="4886325" y="2655689"/>
            <a:ext cx="10893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Blocking</a:t>
            </a:r>
            <a:endParaRPr lang="en-US" sz="785" dirty="0"/>
          </a:p>
        </p:txBody>
      </p:sp>
      <p:sp>
        <p:nvSpPr>
          <p:cNvPr id="36" name="Text 31"/>
          <p:cNvSpPr/>
          <p:nvPr/>
        </p:nvSpPr>
        <p:spPr>
          <a:xfrm>
            <a:off x="5975691" y="2655689"/>
            <a:ext cx="21507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May block or flag suspicious transactions</a:t>
            </a:r>
            <a:endParaRPr lang="en-US" sz="785" dirty="0"/>
          </a:p>
        </p:txBody>
      </p:sp>
      <p:sp>
        <p:nvSpPr>
          <p:cNvPr id="37" name="Text 32"/>
          <p:cNvSpPr/>
          <p:nvPr/>
        </p:nvSpPr>
        <p:spPr>
          <a:xfrm>
            <a:off x="4750594" y="2978944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732" dirty="0"/>
          </a:p>
        </p:txBody>
      </p:sp>
      <p:sp>
        <p:nvSpPr>
          <p:cNvPr id="38" name="Text 33"/>
          <p:cNvSpPr/>
          <p:nvPr/>
        </p:nvSpPr>
        <p:spPr>
          <a:xfrm>
            <a:off x="4886325" y="2962870"/>
            <a:ext cx="78438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ML Integration</a:t>
            </a:r>
            <a:endParaRPr lang="en-US" sz="785" dirty="0"/>
          </a:p>
        </p:txBody>
      </p:sp>
      <p:sp>
        <p:nvSpPr>
          <p:cNvPr id="39" name="Text 34"/>
          <p:cNvSpPr/>
          <p:nvPr/>
        </p:nvSpPr>
        <p:spPr>
          <a:xfrm>
            <a:off x="5670714" y="2962870"/>
            <a:ext cx="237566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Uses machine learning for anomaly detection</a:t>
            </a:r>
            <a:endParaRPr lang="en-US" sz="7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5170959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Instant Alerts and Performance Optimization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51942"/>
            <a:ext cx="200025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5806" y="1257300"/>
            <a:ext cx="13909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Notification Module</a:t>
            </a:r>
            <a:endParaRPr lang="en-US" sz="1046" dirty="0"/>
          </a:p>
        </p:txBody>
      </p:sp>
      <p:sp>
        <p:nvSpPr>
          <p:cNvPr id="6" name="Text 2"/>
          <p:cNvSpPr/>
          <p:nvPr/>
        </p:nvSpPr>
        <p:spPr>
          <a:xfrm>
            <a:off x="428625" y="1728788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557352" y="1727002"/>
            <a:ext cx="98779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 Notifications:</a:t>
            </a:r>
            <a:endParaRPr lang="en-US" sz="785" dirty="0"/>
          </a:p>
        </p:txBody>
      </p:sp>
      <p:sp>
        <p:nvSpPr>
          <p:cNvPr id="8" name="Text 4"/>
          <p:cNvSpPr/>
          <p:nvPr/>
        </p:nvSpPr>
        <p:spPr>
          <a:xfrm>
            <a:off x="1545143" y="1727002"/>
            <a:ext cx="224933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Delivers real-time alerts to mobile app users</a:t>
            </a:r>
            <a:endParaRPr lang="en-US" sz="785" dirty="0"/>
          </a:p>
        </p:txBody>
      </p:sp>
      <p:sp>
        <p:nvSpPr>
          <p:cNvPr id="9" name="Text 5"/>
          <p:cNvSpPr/>
          <p:nvPr/>
        </p:nvSpPr>
        <p:spPr>
          <a:xfrm>
            <a:off x="428625" y="2043113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557352" y="2041327"/>
            <a:ext cx="78012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 Triggers:</a:t>
            </a:r>
            <a:endParaRPr lang="en-US" sz="785" dirty="0"/>
          </a:p>
        </p:txBody>
      </p:sp>
      <p:sp>
        <p:nvSpPr>
          <p:cNvPr id="11" name="Text 7"/>
          <p:cNvSpPr/>
          <p:nvPr/>
        </p:nvSpPr>
        <p:spPr>
          <a:xfrm>
            <a:off x="1337472" y="2041327"/>
            <a:ext cx="273923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Activated by Payment Processing and Fraud Detection </a:t>
            </a:r>
            <a:endParaRPr lang="en-US" sz="785" dirty="0"/>
          </a:p>
        </p:txBody>
      </p:sp>
      <p:sp>
        <p:nvSpPr>
          <p:cNvPr id="12" name="Text 8"/>
          <p:cNvSpPr/>
          <p:nvPr/>
        </p:nvSpPr>
        <p:spPr>
          <a:xfrm>
            <a:off x="557352" y="2212777"/>
            <a:ext cx="4365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modules</a:t>
            </a:r>
            <a:endParaRPr lang="en-US" sz="785" dirty="0"/>
          </a:p>
        </p:txBody>
      </p:sp>
      <p:sp>
        <p:nvSpPr>
          <p:cNvPr id="13" name="Text 9"/>
          <p:cNvSpPr/>
          <p:nvPr/>
        </p:nvSpPr>
        <p:spPr>
          <a:xfrm>
            <a:off x="428625" y="2514600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837" dirty="0"/>
          </a:p>
        </p:txBody>
      </p:sp>
      <p:sp>
        <p:nvSpPr>
          <p:cNvPr id="14" name="Text 10"/>
          <p:cNvSpPr/>
          <p:nvPr/>
        </p:nvSpPr>
        <p:spPr>
          <a:xfrm>
            <a:off x="557352" y="2512814"/>
            <a:ext cx="97621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Alerts:</a:t>
            </a:r>
            <a:endParaRPr lang="en-US" sz="785" dirty="0"/>
          </a:p>
        </p:txBody>
      </p:sp>
      <p:sp>
        <p:nvSpPr>
          <p:cNvPr id="15" name="Text 11"/>
          <p:cNvSpPr/>
          <p:nvPr/>
        </p:nvSpPr>
        <p:spPr>
          <a:xfrm>
            <a:off x="1533562" y="2512814"/>
            <a:ext cx="24949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Notifies users of success, failure, and fraud alerts</a:t>
            </a:r>
            <a:endParaRPr lang="en-US" sz="785" dirty="0"/>
          </a:p>
        </p:txBody>
      </p:sp>
      <p:sp>
        <p:nvSpPr>
          <p:cNvPr id="16" name="Text 12"/>
          <p:cNvSpPr/>
          <p:nvPr/>
        </p:nvSpPr>
        <p:spPr>
          <a:xfrm>
            <a:off x="428625" y="2828925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837" dirty="0"/>
          </a:p>
        </p:txBody>
      </p:sp>
      <p:sp>
        <p:nvSpPr>
          <p:cNvPr id="17" name="Text 13"/>
          <p:cNvSpPr/>
          <p:nvPr/>
        </p:nvSpPr>
        <p:spPr>
          <a:xfrm>
            <a:off x="557352" y="2827139"/>
            <a:ext cx="12450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Template Management:</a:t>
            </a:r>
            <a:endParaRPr lang="en-US" sz="785" dirty="0"/>
          </a:p>
        </p:txBody>
      </p:sp>
      <p:sp>
        <p:nvSpPr>
          <p:cNvPr id="18" name="Text 14"/>
          <p:cNvSpPr/>
          <p:nvPr/>
        </p:nvSpPr>
        <p:spPr>
          <a:xfrm>
            <a:off x="1802402" y="2827139"/>
            <a:ext cx="226250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Manages notification templates and delivery</a:t>
            </a:r>
            <a:endParaRPr lang="en-US" sz="785" dirty="0"/>
          </a:p>
        </p:txBody>
      </p:sp>
      <p:sp>
        <p:nvSpPr>
          <p:cNvPr id="19" name="Text 15"/>
          <p:cNvSpPr/>
          <p:nvPr/>
        </p:nvSpPr>
        <p:spPr>
          <a:xfrm>
            <a:off x="428625" y="3143250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837" dirty="0"/>
          </a:p>
        </p:txBody>
      </p:sp>
      <p:sp>
        <p:nvSpPr>
          <p:cNvPr id="20" name="Text 16"/>
          <p:cNvSpPr/>
          <p:nvPr/>
        </p:nvSpPr>
        <p:spPr>
          <a:xfrm>
            <a:off x="557352" y="3141464"/>
            <a:ext cx="6250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Technology:</a:t>
            </a:r>
            <a:endParaRPr lang="en-US" sz="785" dirty="0"/>
          </a:p>
        </p:txBody>
      </p:sp>
      <p:sp>
        <p:nvSpPr>
          <p:cNvPr id="21" name="Text 17"/>
          <p:cNvSpPr/>
          <p:nvPr/>
        </p:nvSpPr>
        <p:spPr>
          <a:xfrm>
            <a:off x="1182402" y="3141464"/>
            <a:ext cx="301893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Firebase Cloud Messaging (FCM) for cross-platform support</a:t>
            </a:r>
            <a:endParaRPr lang="en-US" sz="785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94" y="1251942"/>
            <a:ext cx="257175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14925" y="1257300"/>
            <a:ext cx="14893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Caching Layer (Redis)</a:t>
            </a:r>
            <a:endParaRPr lang="en-US" sz="1046" dirty="0"/>
          </a:p>
        </p:txBody>
      </p:sp>
      <p:sp>
        <p:nvSpPr>
          <p:cNvPr id="24" name="Text 19"/>
          <p:cNvSpPr/>
          <p:nvPr/>
        </p:nvSpPr>
        <p:spPr>
          <a:xfrm>
            <a:off x="4750594" y="1728788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837" dirty="0"/>
          </a:p>
        </p:txBody>
      </p:sp>
      <p:sp>
        <p:nvSpPr>
          <p:cNvPr id="25" name="Text 20"/>
          <p:cNvSpPr/>
          <p:nvPr/>
        </p:nvSpPr>
        <p:spPr>
          <a:xfrm>
            <a:off x="4879321" y="1727002"/>
            <a:ext cx="81525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Session Tokens:</a:t>
            </a:r>
            <a:endParaRPr lang="en-US" sz="785" dirty="0"/>
          </a:p>
        </p:txBody>
      </p:sp>
      <p:sp>
        <p:nvSpPr>
          <p:cNvPr id="26" name="Text 21"/>
          <p:cNvSpPr/>
          <p:nvPr/>
        </p:nvSpPr>
        <p:spPr>
          <a:xfrm>
            <a:off x="5694573" y="1727002"/>
            <a:ext cx="259781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Stores JWT tokens for fast authentication validation</a:t>
            </a:r>
            <a:endParaRPr lang="en-US" sz="785" dirty="0"/>
          </a:p>
        </p:txBody>
      </p:sp>
      <p:sp>
        <p:nvSpPr>
          <p:cNvPr id="27" name="Text 22"/>
          <p:cNvSpPr/>
          <p:nvPr/>
        </p:nvSpPr>
        <p:spPr>
          <a:xfrm>
            <a:off x="4750594" y="2043113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837" dirty="0"/>
          </a:p>
        </p:txBody>
      </p:sp>
      <p:sp>
        <p:nvSpPr>
          <p:cNvPr id="28" name="Text 23"/>
          <p:cNvSpPr/>
          <p:nvPr/>
        </p:nvSpPr>
        <p:spPr>
          <a:xfrm>
            <a:off x="4879321" y="2041327"/>
            <a:ext cx="9960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Data Caching:</a:t>
            </a:r>
            <a:endParaRPr lang="en-US" sz="785" dirty="0"/>
          </a:p>
        </p:txBody>
      </p:sp>
      <p:sp>
        <p:nvSpPr>
          <p:cNvPr id="29" name="Text 24"/>
          <p:cNvSpPr/>
          <p:nvPr/>
        </p:nvSpPr>
        <p:spPr>
          <a:xfrm>
            <a:off x="5875344" y="2041327"/>
            <a:ext cx="279368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Frequently accessed user profiles and card information</a:t>
            </a:r>
            <a:endParaRPr lang="en-US" sz="785" dirty="0"/>
          </a:p>
        </p:txBody>
      </p:sp>
      <p:sp>
        <p:nvSpPr>
          <p:cNvPr id="30" name="Text 25"/>
          <p:cNvSpPr/>
          <p:nvPr/>
        </p:nvSpPr>
        <p:spPr>
          <a:xfrm>
            <a:off x="4750594" y="2357438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837" dirty="0"/>
          </a:p>
        </p:txBody>
      </p:sp>
      <p:sp>
        <p:nvSpPr>
          <p:cNvPr id="31" name="Text 26"/>
          <p:cNvSpPr/>
          <p:nvPr/>
        </p:nvSpPr>
        <p:spPr>
          <a:xfrm>
            <a:off x="4879321" y="2355652"/>
            <a:ext cx="8424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Load Reduction:</a:t>
            </a:r>
            <a:endParaRPr lang="en-US" sz="785" dirty="0"/>
          </a:p>
        </p:txBody>
      </p:sp>
      <p:sp>
        <p:nvSpPr>
          <p:cNvPr id="32" name="Text 27"/>
          <p:cNvSpPr/>
          <p:nvPr/>
        </p:nvSpPr>
        <p:spPr>
          <a:xfrm>
            <a:off x="5721809" y="2355652"/>
            <a:ext cx="249054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Reduces database load by 60-80% for read-heavy </a:t>
            </a:r>
            <a:endParaRPr lang="en-US" sz="785" dirty="0"/>
          </a:p>
        </p:txBody>
      </p:sp>
      <p:sp>
        <p:nvSpPr>
          <p:cNvPr id="33" name="Text 28"/>
          <p:cNvSpPr/>
          <p:nvPr/>
        </p:nvSpPr>
        <p:spPr>
          <a:xfrm>
            <a:off x="4879321" y="2527102"/>
            <a:ext cx="54211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operations</a:t>
            </a:r>
            <a:endParaRPr lang="en-US" sz="785" dirty="0"/>
          </a:p>
        </p:txBody>
      </p:sp>
      <p:sp>
        <p:nvSpPr>
          <p:cNvPr id="34" name="Text 29"/>
          <p:cNvSpPr/>
          <p:nvPr/>
        </p:nvSpPr>
        <p:spPr>
          <a:xfrm>
            <a:off x="4750594" y="2828925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837" dirty="0"/>
          </a:p>
        </p:txBody>
      </p:sp>
      <p:sp>
        <p:nvSpPr>
          <p:cNvPr id="35" name="Text 30"/>
          <p:cNvSpPr/>
          <p:nvPr/>
        </p:nvSpPr>
        <p:spPr>
          <a:xfrm>
            <a:off x="4879321" y="2827139"/>
            <a:ext cx="9425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TTL Management:</a:t>
            </a:r>
            <a:endParaRPr lang="en-US" sz="785" dirty="0"/>
          </a:p>
        </p:txBody>
      </p:sp>
      <p:sp>
        <p:nvSpPr>
          <p:cNvPr id="36" name="Text 31"/>
          <p:cNvSpPr/>
          <p:nvPr/>
        </p:nvSpPr>
        <p:spPr>
          <a:xfrm>
            <a:off x="5821877" y="2827139"/>
            <a:ext cx="260306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Automatic data expiration with time-to-live settings</a:t>
            </a:r>
            <a:endParaRPr lang="en-US" sz="785" dirty="0"/>
          </a:p>
        </p:txBody>
      </p:sp>
      <p:sp>
        <p:nvSpPr>
          <p:cNvPr id="37" name="Text 32"/>
          <p:cNvSpPr/>
          <p:nvPr/>
        </p:nvSpPr>
        <p:spPr>
          <a:xfrm>
            <a:off x="4750594" y="3143250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837" dirty="0"/>
          </a:p>
        </p:txBody>
      </p:sp>
      <p:sp>
        <p:nvSpPr>
          <p:cNvPr id="38" name="Text 33"/>
          <p:cNvSpPr/>
          <p:nvPr/>
        </p:nvSpPr>
        <p:spPr>
          <a:xfrm>
            <a:off x="4879321" y="3141464"/>
            <a:ext cx="13165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In-Memory Performance:</a:t>
            </a:r>
            <a:endParaRPr lang="en-US" sz="785" dirty="0"/>
          </a:p>
        </p:txBody>
      </p:sp>
      <p:sp>
        <p:nvSpPr>
          <p:cNvPr id="39" name="Text 34"/>
          <p:cNvSpPr/>
          <p:nvPr/>
        </p:nvSpPr>
        <p:spPr>
          <a:xfrm>
            <a:off x="6195864" y="3141464"/>
            <a:ext cx="195069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Ultra-fast access for critical operations</a:t>
            </a:r>
            <a:endParaRPr lang="en-US" sz="7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6409730" cy="457200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 Communication: REST APIs and Data Exchange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094780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088" y="1028700"/>
            <a:ext cx="8086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spc="1" kern="0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API Communication</a:t>
            </a:r>
            <a:endParaRPr lang="en-US" sz="837" dirty="0"/>
          </a:p>
        </p:txBody>
      </p:sp>
      <p:sp>
        <p:nvSpPr>
          <p:cNvPr id="6" name="Text 2"/>
          <p:cNvSpPr/>
          <p:nvPr/>
        </p:nvSpPr>
        <p:spPr>
          <a:xfrm>
            <a:off x="700088" y="1284089"/>
            <a:ext cx="150138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modules communicate via </a:t>
            </a:r>
            <a:endParaRPr lang="en-US" sz="785" dirty="0"/>
          </a:p>
        </p:txBody>
      </p:sp>
      <p:sp>
        <p:nvSpPr>
          <p:cNvPr id="7" name="Text 3"/>
          <p:cNvSpPr/>
          <p:nvPr/>
        </p:nvSpPr>
        <p:spPr>
          <a:xfrm>
            <a:off x="2201475" y="1284089"/>
            <a:ext cx="50729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APIs</a:t>
            </a:r>
            <a:endParaRPr lang="en-US" sz="785" dirty="0"/>
          </a:p>
        </p:txBody>
      </p:sp>
      <p:sp>
        <p:nvSpPr>
          <p:cNvPr id="8" name="Text 4"/>
          <p:cNvSpPr/>
          <p:nvPr/>
        </p:nvSpPr>
        <p:spPr>
          <a:xfrm>
            <a:off x="2708765" y="1284089"/>
            <a:ext cx="56942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using HTTP/HTTPS protocols. This approach provides a standardized, language-agnostic method for inter-service </a:t>
            </a:r>
            <a:endParaRPr lang="en-US" sz="785" dirty="0"/>
          </a:p>
        </p:txBody>
      </p:sp>
      <p:sp>
        <p:nvSpPr>
          <p:cNvPr id="9" name="Text 5"/>
          <p:cNvSpPr/>
          <p:nvPr/>
        </p:nvSpPr>
        <p:spPr>
          <a:xfrm>
            <a:off x="700088" y="1455539"/>
            <a:ext cx="8143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communication.</a:t>
            </a:r>
            <a:endParaRPr lang="en-US" sz="78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8" y="1859161"/>
            <a:ext cx="200025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0088" y="1793081"/>
            <a:ext cx="8086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spc="1" kern="0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Benefits</a:t>
            </a:r>
            <a:endParaRPr lang="en-US" sz="837" dirty="0"/>
          </a:p>
        </p:txBody>
      </p:sp>
      <p:sp>
        <p:nvSpPr>
          <p:cNvPr id="12" name="Text 7"/>
          <p:cNvSpPr/>
          <p:nvPr/>
        </p:nvSpPr>
        <p:spPr>
          <a:xfrm>
            <a:off x="700088" y="2064544"/>
            <a:ext cx="585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628" dirty="0"/>
          </a:p>
        </p:txBody>
      </p:sp>
      <p:sp>
        <p:nvSpPr>
          <p:cNvPr id="13" name="Text 8"/>
          <p:cNvSpPr/>
          <p:nvPr/>
        </p:nvSpPr>
        <p:spPr>
          <a:xfrm>
            <a:off x="830098" y="2043113"/>
            <a:ext cx="77481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Loose Coupling:</a:t>
            </a:r>
            <a:endParaRPr lang="en-US" sz="732" dirty="0"/>
          </a:p>
        </p:txBody>
      </p:sp>
      <p:sp>
        <p:nvSpPr>
          <p:cNvPr id="14" name="Text 9"/>
          <p:cNvSpPr/>
          <p:nvPr/>
        </p:nvSpPr>
        <p:spPr>
          <a:xfrm>
            <a:off x="1604916" y="2043113"/>
            <a:ext cx="15268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Modules operate independently</a:t>
            </a:r>
            <a:endParaRPr lang="en-US" sz="732" dirty="0"/>
          </a:p>
        </p:txBody>
      </p:sp>
      <p:sp>
        <p:nvSpPr>
          <p:cNvPr id="15" name="Text 10"/>
          <p:cNvSpPr/>
          <p:nvPr/>
        </p:nvSpPr>
        <p:spPr>
          <a:xfrm>
            <a:off x="4797028" y="2064544"/>
            <a:ext cx="585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628" dirty="0"/>
          </a:p>
        </p:txBody>
      </p:sp>
      <p:sp>
        <p:nvSpPr>
          <p:cNvPr id="16" name="Text 11"/>
          <p:cNvSpPr/>
          <p:nvPr/>
        </p:nvSpPr>
        <p:spPr>
          <a:xfrm>
            <a:off x="4927039" y="2043113"/>
            <a:ext cx="10331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 Agnostic:</a:t>
            </a:r>
            <a:endParaRPr lang="en-US" sz="732" dirty="0"/>
          </a:p>
        </p:txBody>
      </p:sp>
      <p:sp>
        <p:nvSpPr>
          <p:cNvPr id="17" name="Text 12"/>
          <p:cNvSpPr/>
          <p:nvPr/>
        </p:nvSpPr>
        <p:spPr>
          <a:xfrm>
            <a:off x="5960176" y="2043113"/>
            <a:ext cx="12498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Any tech stack compatible</a:t>
            </a:r>
            <a:endParaRPr lang="en-US" sz="732" dirty="0"/>
          </a:p>
        </p:txBody>
      </p:sp>
      <p:sp>
        <p:nvSpPr>
          <p:cNvPr id="18" name="Text 13"/>
          <p:cNvSpPr/>
          <p:nvPr/>
        </p:nvSpPr>
        <p:spPr>
          <a:xfrm>
            <a:off x="700088" y="2328863"/>
            <a:ext cx="585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628" dirty="0"/>
          </a:p>
        </p:txBody>
      </p:sp>
      <p:sp>
        <p:nvSpPr>
          <p:cNvPr id="19" name="Text 14"/>
          <p:cNvSpPr/>
          <p:nvPr/>
        </p:nvSpPr>
        <p:spPr>
          <a:xfrm>
            <a:off x="830098" y="2307431"/>
            <a:ext cx="9549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 Protocols:</a:t>
            </a:r>
            <a:endParaRPr lang="en-US" sz="732" dirty="0"/>
          </a:p>
        </p:txBody>
      </p:sp>
      <p:sp>
        <p:nvSpPr>
          <p:cNvPr id="20" name="Text 15"/>
          <p:cNvSpPr/>
          <p:nvPr/>
        </p:nvSpPr>
        <p:spPr>
          <a:xfrm>
            <a:off x="1785045" y="2307431"/>
            <a:ext cx="16589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HTTP/HTTPS universally supported</a:t>
            </a:r>
            <a:endParaRPr lang="en-US" sz="732" dirty="0"/>
          </a:p>
        </p:txBody>
      </p:sp>
      <p:sp>
        <p:nvSpPr>
          <p:cNvPr id="21" name="Text 16"/>
          <p:cNvSpPr/>
          <p:nvPr/>
        </p:nvSpPr>
        <p:spPr>
          <a:xfrm>
            <a:off x="4797028" y="2328863"/>
            <a:ext cx="585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628" dirty="0"/>
          </a:p>
        </p:txBody>
      </p:sp>
      <p:sp>
        <p:nvSpPr>
          <p:cNvPr id="22" name="Text 17"/>
          <p:cNvSpPr/>
          <p:nvPr/>
        </p:nvSpPr>
        <p:spPr>
          <a:xfrm>
            <a:off x="4927039" y="2307431"/>
            <a:ext cx="6254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Easy Testing:</a:t>
            </a:r>
            <a:endParaRPr lang="en-US" sz="732" dirty="0"/>
          </a:p>
        </p:txBody>
      </p:sp>
      <p:sp>
        <p:nvSpPr>
          <p:cNvPr id="23" name="Text 18"/>
          <p:cNvSpPr/>
          <p:nvPr/>
        </p:nvSpPr>
        <p:spPr>
          <a:xfrm>
            <a:off x="5552535" y="2307431"/>
            <a:ext cx="14382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Independent endpoint testing</a:t>
            </a:r>
            <a:endParaRPr lang="en-US" sz="732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2702123"/>
            <a:ext cx="250031" cy="2000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0094" y="2636044"/>
            <a:ext cx="80367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spc="1" kern="0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Exchange Format</a:t>
            </a:r>
            <a:endParaRPr lang="en-US" sz="837" dirty="0"/>
          </a:p>
        </p:txBody>
      </p:sp>
      <p:sp>
        <p:nvSpPr>
          <p:cNvPr id="26" name="Text 20"/>
          <p:cNvSpPr/>
          <p:nvPr/>
        </p:nvSpPr>
        <p:spPr>
          <a:xfrm>
            <a:off x="750094" y="2891433"/>
            <a:ext cx="175105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 (JavaScript Object Notation)</a:t>
            </a:r>
            <a:endParaRPr lang="en-US" sz="785" dirty="0"/>
          </a:p>
        </p:txBody>
      </p:sp>
      <p:sp>
        <p:nvSpPr>
          <p:cNvPr id="27" name="Text 21"/>
          <p:cNvSpPr/>
          <p:nvPr/>
        </p:nvSpPr>
        <p:spPr>
          <a:xfrm>
            <a:off x="2501150" y="2891433"/>
            <a:ext cx="547934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is used for all data exchange. It provides lightweight, human-readable communication with native support in </a:t>
            </a:r>
            <a:endParaRPr lang="en-US" sz="785" dirty="0"/>
          </a:p>
        </p:txBody>
      </p:sp>
      <p:sp>
        <p:nvSpPr>
          <p:cNvPr id="28" name="Text 22"/>
          <p:cNvSpPr/>
          <p:nvPr/>
        </p:nvSpPr>
        <p:spPr>
          <a:xfrm>
            <a:off x="750094" y="3062883"/>
            <a:ext cx="295483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JavaScript/Node.js and easy parsing in mobile applications.</a:t>
            </a:r>
            <a:endParaRPr lang="en-US" sz="785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8" y="3466505"/>
            <a:ext cx="225028" cy="2000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5091" y="3400425"/>
            <a:ext cx="80617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spc="1" kern="0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Communication Patterns</a:t>
            </a:r>
            <a:endParaRPr lang="en-US" sz="837" dirty="0"/>
          </a:p>
        </p:txBody>
      </p:sp>
      <p:sp>
        <p:nvSpPr>
          <p:cNvPr id="31" name="Shape 24"/>
          <p:cNvSpPr/>
          <p:nvPr/>
        </p:nvSpPr>
        <p:spPr>
          <a:xfrm>
            <a:off x="725091" y="3643313"/>
            <a:ext cx="714375" cy="18573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2" name="Text 25"/>
          <p:cNvSpPr/>
          <p:nvPr/>
        </p:nvSpPr>
        <p:spPr>
          <a:xfrm>
            <a:off x="725091" y="3643313"/>
            <a:ext cx="714375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Synchronous</a:t>
            </a:r>
            <a:endParaRPr lang="en-US" sz="628" dirty="0"/>
          </a:p>
        </p:txBody>
      </p:sp>
      <p:sp>
        <p:nvSpPr>
          <p:cNvPr id="33" name="Text 26"/>
          <p:cNvSpPr/>
          <p:nvPr/>
        </p:nvSpPr>
        <p:spPr>
          <a:xfrm>
            <a:off x="1525191" y="3643313"/>
            <a:ext cx="3415047" cy="178594"/>
          </a:xfrm>
          <a:prstGeom prst="rect">
            <a:avLst/>
          </a:prstGeom>
          <a:noFill/>
          <a:ln/>
        </p:spPr>
        <p:txBody>
          <a:bodyPr wrap="none" lIns="0" tIns="34036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REST calls for immediate responses (authentication, payments)</a:t>
            </a:r>
            <a:endParaRPr lang="en-US" sz="732" dirty="0"/>
          </a:p>
        </p:txBody>
      </p:sp>
      <p:sp>
        <p:nvSpPr>
          <p:cNvPr id="34" name="Shape 27"/>
          <p:cNvSpPr/>
          <p:nvPr/>
        </p:nvSpPr>
        <p:spPr>
          <a:xfrm>
            <a:off x="725091" y="3914775"/>
            <a:ext cx="735583" cy="18573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5" name="Text 28"/>
          <p:cNvSpPr/>
          <p:nvPr/>
        </p:nvSpPr>
        <p:spPr>
          <a:xfrm>
            <a:off x="725091" y="3914775"/>
            <a:ext cx="735583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Asynchronous</a:t>
            </a:r>
            <a:endParaRPr lang="en-US" sz="628" dirty="0"/>
          </a:p>
        </p:txBody>
      </p:sp>
      <p:sp>
        <p:nvSpPr>
          <p:cNvPr id="36" name="Text 29"/>
          <p:cNvSpPr/>
          <p:nvPr/>
        </p:nvSpPr>
        <p:spPr>
          <a:xfrm>
            <a:off x="1546399" y="3914775"/>
            <a:ext cx="3248313" cy="178594"/>
          </a:xfrm>
          <a:prstGeom prst="rect">
            <a:avLst/>
          </a:prstGeom>
          <a:noFill/>
          <a:ln/>
        </p:spPr>
        <p:txBody>
          <a:bodyPr wrap="none" lIns="0" tIns="34036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Background processing for non-blocking operations (fraud detection)</a:t>
            </a:r>
            <a:endParaRPr lang="en-US" sz="732" dirty="0"/>
          </a:p>
        </p:txBody>
      </p:sp>
      <p:sp>
        <p:nvSpPr>
          <p:cNvPr id="37" name="Shape 30"/>
          <p:cNvSpPr/>
          <p:nvPr/>
        </p:nvSpPr>
        <p:spPr>
          <a:xfrm>
            <a:off x="725091" y="4186238"/>
            <a:ext cx="714375" cy="18573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8" name="Text 31"/>
          <p:cNvSpPr/>
          <p:nvPr/>
        </p:nvSpPr>
        <p:spPr>
          <a:xfrm>
            <a:off x="725091" y="4186238"/>
            <a:ext cx="714375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Event-Driven</a:t>
            </a:r>
            <a:endParaRPr lang="en-US" sz="628" dirty="0"/>
          </a:p>
        </p:txBody>
      </p:sp>
      <p:sp>
        <p:nvSpPr>
          <p:cNvPr id="39" name="Text 32"/>
          <p:cNvSpPr/>
          <p:nvPr/>
        </p:nvSpPr>
        <p:spPr>
          <a:xfrm>
            <a:off x="1525191" y="4186238"/>
            <a:ext cx="2500033" cy="178594"/>
          </a:xfrm>
          <a:prstGeom prst="rect">
            <a:avLst/>
          </a:prstGeom>
          <a:noFill/>
          <a:ln/>
        </p:spPr>
        <p:txBody>
          <a:bodyPr wrap="none" lIns="0" tIns="34036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Notifications triggered by events from other modules</a:t>
            </a:r>
            <a:endParaRPr lang="en-US" sz="73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3936960" cy="457200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Login Process: Request Phase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357188" y="1084594"/>
            <a:ext cx="285750" cy="2857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108459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6" name="Shape 3"/>
          <p:cNvSpPr/>
          <p:nvPr/>
        </p:nvSpPr>
        <p:spPr>
          <a:xfrm>
            <a:off x="1214438" y="1087636"/>
            <a:ext cx="408896" cy="146447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4"/>
          <p:cNvSpPr/>
          <p:nvPr/>
        </p:nvSpPr>
        <p:spPr>
          <a:xfrm>
            <a:off x="1214438" y="1087636"/>
            <a:ext cx="408896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</a:t>
            </a:r>
            <a:endParaRPr lang="en-US" sz="575" dirty="0"/>
          </a:p>
        </p:txBody>
      </p:sp>
      <p:sp>
        <p:nvSpPr>
          <p:cNvPr id="8" name="Text 5"/>
          <p:cNvSpPr/>
          <p:nvPr/>
        </p:nvSpPr>
        <p:spPr>
          <a:xfrm>
            <a:off x="1666196" y="1085850"/>
            <a:ext cx="1520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</a:t>
            </a:r>
            <a:endParaRPr lang="en-US" sz="732" dirty="0"/>
          </a:p>
        </p:txBody>
      </p:sp>
      <p:sp>
        <p:nvSpPr>
          <p:cNvPr id="9" name="Shape 6"/>
          <p:cNvSpPr/>
          <p:nvPr/>
        </p:nvSpPr>
        <p:spPr>
          <a:xfrm>
            <a:off x="1818224" y="1087636"/>
            <a:ext cx="664452" cy="146447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0" name="Text 7"/>
          <p:cNvSpPr/>
          <p:nvPr/>
        </p:nvSpPr>
        <p:spPr>
          <a:xfrm>
            <a:off x="1818224" y="1087636"/>
            <a:ext cx="664452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GATEWAY</a:t>
            </a:r>
            <a:endParaRPr lang="en-US" sz="575" dirty="0"/>
          </a:p>
        </p:txBody>
      </p:sp>
      <p:sp>
        <p:nvSpPr>
          <p:cNvPr id="11" name="Text 8"/>
          <p:cNvSpPr/>
          <p:nvPr/>
        </p:nvSpPr>
        <p:spPr>
          <a:xfrm>
            <a:off x="1214438" y="1255514"/>
            <a:ext cx="7572375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 /api/auth/login with credentials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357188" y="1454814"/>
            <a:ext cx="8429625" cy="200025"/>
          </a:xfrm>
          <a:prstGeom prst="rect">
            <a:avLst/>
          </a:prstGeom>
          <a:noFill/>
          <a:ln/>
        </p:spPr>
        <p:txBody>
          <a:bodyPr wrap="none" lIns="0" tIns="17018" rIns="0" bIns="17018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357188" y="1732164"/>
            <a:ext cx="285750" cy="2857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14" name="Text 11"/>
          <p:cNvSpPr/>
          <p:nvPr/>
        </p:nvSpPr>
        <p:spPr>
          <a:xfrm>
            <a:off x="357188" y="173216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5" name="Shape 12"/>
          <p:cNvSpPr/>
          <p:nvPr/>
        </p:nvSpPr>
        <p:spPr>
          <a:xfrm>
            <a:off x="1214438" y="1735206"/>
            <a:ext cx="664452" cy="146447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6" name="Text 13"/>
          <p:cNvSpPr/>
          <p:nvPr/>
        </p:nvSpPr>
        <p:spPr>
          <a:xfrm>
            <a:off x="1214438" y="1735206"/>
            <a:ext cx="664452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GATEWAY</a:t>
            </a:r>
            <a:endParaRPr lang="en-US" sz="575" dirty="0"/>
          </a:p>
        </p:txBody>
      </p:sp>
      <p:sp>
        <p:nvSpPr>
          <p:cNvPr id="17" name="Text 14"/>
          <p:cNvSpPr/>
          <p:nvPr/>
        </p:nvSpPr>
        <p:spPr>
          <a:xfrm>
            <a:off x="1921752" y="1733420"/>
            <a:ext cx="1520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</a:t>
            </a:r>
            <a:endParaRPr lang="en-US" sz="732" dirty="0"/>
          </a:p>
        </p:txBody>
      </p:sp>
      <p:sp>
        <p:nvSpPr>
          <p:cNvPr id="18" name="Shape 15"/>
          <p:cNvSpPr/>
          <p:nvPr/>
        </p:nvSpPr>
        <p:spPr>
          <a:xfrm>
            <a:off x="2073780" y="1735206"/>
            <a:ext cx="855352" cy="146447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6"/>
          <p:cNvSpPr/>
          <p:nvPr/>
        </p:nvSpPr>
        <p:spPr>
          <a:xfrm>
            <a:off x="2073780" y="1735206"/>
            <a:ext cx="855352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AUTHENTICATION</a:t>
            </a:r>
            <a:endParaRPr lang="en-US" sz="575" dirty="0"/>
          </a:p>
        </p:txBody>
      </p:sp>
      <p:sp>
        <p:nvSpPr>
          <p:cNvPr id="20" name="Text 17"/>
          <p:cNvSpPr/>
          <p:nvPr/>
        </p:nvSpPr>
        <p:spPr>
          <a:xfrm>
            <a:off x="1214438" y="1903084"/>
            <a:ext cx="7572375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Routes login request to Authentication Module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357188" y="2102383"/>
            <a:ext cx="8429625" cy="200025"/>
          </a:xfrm>
          <a:prstGeom prst="rect">
            <a:avLst/>
          </a:prstGeom>
          <a:noFill/>
          <a:ln/>
        </p:spPr>
        <p:txBody>
          <a:bodyPr wrap="none" lIns="0" tIns="17018" rIns="0" bIns="17018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837" dirty="0"/>
          </a:p>
        </p:txBody>
      </p:sp>
      <p:sp>
        <p:nvSpPr>
          <p:cNvPr id="22" name="Shape 19"/>
          <p:cNvSpPr/>
          <p:nvPr/>
        </p:nvSpPr>
        <p:spPr>
          <a:xfrm>
            <a:off x="357188" y="2379734"/>
            <a:ext cx="285750" cy="2857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23" name="Text 20"/>
          <p:cNvSpPr/>
          <p:nvPr/>
        </p:nvSpPr>
        <p:spPr>
          <a:xfrm>
            <a:off x="357188" y="237973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24" name="Shape 21"/>
          <p:cNvSpPr/>
          <p:nvPr/>
        </p:nvSpPr>
        <p:spPr>
          <a:xfrm>
            <a:off x="1214438" y="2382775"/>
            <a:ext cx="855352" cy="146447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22"/>
          <p:cNvSpPr/>
          <p:nvPr/>
        </p:nvSpPr>
        <p:spPr>
          <a:xfrm>
            <a:off x="1214438" y="2382775"/>
            <a:ext cx="855352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AUTHENTICATION</a:t>
            </a:r>
            <a:endParaRPr lang="en-US" sz="575" dirty="0"/>
          </a:p>
        </p:txBody>
      </p:sp>
      <p:sp>
        <p:nvSpPr>
          <p:cNvPr id="26" name="Text 23"/>
          <p:cNvSpPr/>
          <p:nvPr/>
        </p:nvSpPr>
        <p:spPr>
          <a:xfrm>
            <a:off x="2112652" y="2380990"/>
            <a:ext cx="1520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</a:t>
            </a:r>
            <a:endParaRPr lang="en-US" sz="732" dirty="0"/>
          </a:p>
        </p:txBody>
      </p:sp>
      <p:sp>
        <p:nvSpPr>
          <p:cNvPr id="27" name="Shape 24"/>
          <p:cNvSpPr/>
          <p:nvPr/>
        </p:nvSpPr>
        <p:spPr>
          <a:xfrm>
            <a:off x="2264680" y="2382775"/>
            <a:ext cx="652983" cy="146447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8" name="Text 25"/>
          <p:cNvSpPr/>
          <p:nvPr/>
        </p:nvSpPr>
        <p:spPr>
          <a:xfrm>
            <a:off x="2264680" y="2382775"/>
            <a:ext cx="652983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REDIS CACHE</a:t>
            </a:r>
            <a:endParaRPr lang="en-US" sz="575" dirty="0"/>
          </a:p>
        </p:txBody>
      </p:sp>
      <p:sp>
        <p:nvSpPr>
          <p:cNvPr id="29" name="Text 26"/>
          <p:cNvSpPr/>
          <p:nvPr/>
        </p:nvSpPr>
        <p:spPr>
          <a:xfrm>
            <a:off x="1214438" y="2550654"/>
            <a:ext cx="7572375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Checks for existing session token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357188" y="2749953"/>
            <a:ext cx="8429625" cy="200025"/>
          </a:xfrm>
          <a:prstGeom prst="rect">
            <a:avLst/>
          </a:prstGeom>
          <a:noFill/>
          <a:ln/>
        </p:spPr>
        <p:txBody>
          <a:bodyPr wrap="none" lIns="0" tIns="17018" rIns="0" bIns="17018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837" dirty="0"/>
          </a:p>
        </p:txBody>
      </p:sp>
      <p:sp>
        <p:nvSpPr>
          <p:cNvPr id="31" name="Shape 28"/>
          <p:cNvSpPr/>
          <p:nvPr/>
        </p:nvSpPr>
        <p:spPr>
          <a:xfrm>
            <a:off x="357188" y="3027304"/>
            <a:ext cx="285750" cy="2857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32" name="Text 29"/>
          <p:cNvSpPr/>
          <p:nvPr/>
        </p:nvSpPr>
        <p:spPr>
          <a:xfrm>
            <a:off x="357188" y="302730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33" name="Shape 30"/>
          <p:cNvSpPr/>
          <p:nvPr/>
        </p:nvSpPr>
        <p:spPr>
          <a:xfrm>
            <a:off x="1214438" y="3030345"/>
            <a:ext cx="855352" cy="146447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4" name="Text 31"/>
          <p:cNvSpPr/>
          <p:nvPr/>
        </p:nvSpPr>
        <p:spPr>
          <a:xfrm>
            <a:off x="1214438" y="3030345"/>
            <a:ext cx="855352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AUTHENTICATION</a:t>
            </a:r>
            <a:endParaRPr lang="en-US" sz="575" dirty="0"/>
          </a:p>
        </p:txBody>
      </p:sp>
      <p:sp>
        <p:nvSpPr>
          <p:cNvPr id="35" name="Text 32"/>
          <p:cNvSpPr/>
          <p:nvPr/>
        </p:nvSpPr>
        <p:spPr>
          <a:xfrm>
            <a:off x="2112652" y="3028559"/>
            <a:ext cx="1520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</a:t>
            </a:r>
            <a:endParaRPr lang="en-US" sz="732" dirty="0"/>
          </a:p>
        </p:txBody>
      </p:sp>
      <p:sp>
        <p:nvSpPr>
          <p:cNvPr id="36" name="Shape 33"/>
          <p:cNvSpPr/>
          <p:nvPr/>
        </p:nvSpPr>
        <p:spPr>
          <a:xfrm>
            <a:off x="2264680" y="3030345"/>
            <a:ext cx="948919" cy="146447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7" name="Text 34"/>
          <p:cNvSpPr/>
          <p:nvPr/>
        </p:nvSpPr>
        <p:spPr>
          <a:xfrm>
            <a:off x="2264680" y="3030345"/>
            <a:ext cx="948919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MANAGEMENT</a:t>
            </a:r>
            <a:endParaRPr lang="en-US" sz="575" dirty="0"/>
          </a:p>
        </p:txBody>
      </p:sp>
      <p:sp>
        <p:nvSpPr>
          <p:cNvPr id="38" name="Text 35"/>
          <p:cNvSpPr/>
          <p:nvPr/>
        </p:nvSpPr>
        <p:spPr>
          <a:xfrm>
            <a:off x="1214438" y="3198223"/>
            <a:ext cx="7572375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 /api/users/verify - Fetches user credentials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357188" y="3397523"/>
            <a:ext cx="8429625" cy="200025"/>
          </a:xfrm>
          <a:prstGeom prst="rect">
            <a:avLst/>
          </a:prstGeom>
          <a:noFill/>
          <a:ln/>
        </p:spPr>
        <p:txBody>
          <a:bodyPr wrap="none" lIns="0" tIns="17018" rIns="0" bIns="17018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837" dirty="0"/>
          </a:p>
        </p:txBody>
      </p:sp>
      <p:sp>
        <p:nvSpPr>
          <p:cNvPr id="40" name="Shape 37"/>
          <p:cNvSpPr/>
          <p:nvPr/>
        </p:nvSpPr>
        <p:spPr>
          <a:xfrm>
            <a:off x="357188" y="3674873"/>
            <a:ext cx="285750" cy="28575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41" name="Text 38"/>
          <p:cNvSpPr/>
          <p:nvPr/>
        </p:nvSpPr>
        <p:spPr>
          <a:xfrm>
            <a:off x="357188" y="367487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37" dirty="0"/>
          </a:p>
        </p:txBody>
      </p:sp>
      <p:sp>
        <p:nvSpPr>
          <p:cNvPr id="42" name="Shape 39"/>
          <p:cNvSpPr/>
          <p:nvPr/>
        </p:nvSpPr>
        <p:spPr>
          <a:xfrm>
            <a:off x="1214438" y="3677915"/>
            <a:ext cx="948919" cy="146447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3" name="Text 40"/>
          <p:cNvSpPr/>
          <p:nvPr/>
        </p:nvSpPr>
        <p:spPr>
          <a:xfrm>
            <a:off x="1214438" y="3677915"/>
            <a:ext cx="948919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MANAGEMENT</a:t>
            </a:r>
            <a:endParaRPr lang="en-US" sz="575" dirty="0"/>
          </a:p>
        </p:txBody>
      </p:sp>
      <p:sp>
        <p:nvSpPr>
          <p:cNvPr id="44" name="Text 41"/>
          <p:cNvSpPr/>
          <p:nvPr/>
        </p:nvSpPr>
        <p:spPr>
          <a:xfrm>
            <a:off x="2206219" y="3676129"/>
            <a:ext cx="1520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</a:t>
            </a:r>
            <a:endParaRPr lang="en-US" sz="732" dirty="0"/>
          </a:p>
        </p:txBody>
      </p:sp>
      <p:sp>
        <p:nvSpPr>
          <p:cNvPr id="45" name="Shape 42"/>
          <p:cNvSpPr/>
          <p:nvPr/>
        </p:nvSpPr>
        <p:spPr>
          <a:xfrm>
            <a:off x="2358247" y="3677915"/>
            <a:ext cx="530368" cy="146447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6" name="Text 43"/>
          <p:cNvSpPr/>
          <p:nvPr/>
        </p:nvSpPr>
        <p:spPr>
          <a:xfrm>
            <a:off x="2358247" y="3677915"/>
            <a:ext cx="530368" cy="14644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DATABASE</a:t>
            </a:r>
            <a:endParaRPr lang="en-US" sz="575" dirty="0"/>
          </a:p>
        </p:txBody>
      </p:sp>
      <p:sp>
        <p:nvSpPr>
          <p:cNvPr id="47" name="Text 44"/>
          <p:cNvSpPr/>
          <p:nvPr/>
        </p:nvSpPr>
        <p:spPr>
          <a:xfrm>
            <a:off x="1214438" y="3845793"/>
            <a:ext cx="7572375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Queries user record to verify credentials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4298835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End-to-End Payment Transaction Flow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14425"/>
            <a:ext cx="80367" cy="1071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7555" y="1092994"/>
            <a:ext cx="79426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Request Phase</a:t>
            </a:r>
            <a:endParaRPr lang="en-US" sz="785" dirty="0"/>
          </a:p>
        </p:txBody>
      </p:sp>
      <p:sp>
        <p:nvSpPr>
          <p:cNvPr id="6" name="Shape 2"/>
          <p:cNvSpPr/>
          <p:nvPr/>
        </p:nvSpPr>
        <p:spPr>
          <a:xfrm>
            <a:off x="357188" y="1510903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7" name="Text 3"/>
          <p:cNvSpPr/>
          <p:nvPr/>
        </p:nvSpPr>
        <p:spPr>
          <a:xfrm>
            <a:off x="357188" y="151090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32" dirty="0"/>
          </a:p>
        </p:txBody>
      </p:sp>
      <p:sp>
        <p:nvSpPr>
          <p:cNvPr id="8" name="Text 4"/>
          <p:cNvSpPr/>
          <p:nvPr/>
        </p:nvSpPr>
        <p:spPr>
          <a:xfrm>
            <a:off x="692944" y="1510903"/>
            <a:ext cx="3771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</a:t>
            </a:r>
            <a:endParaRPr lang="en-US" sz="680" dirty="0"/>
          </a:p>
        </p:txBody>
      </p:sp>
      <p:sp>
        <p:nvSpPr>
          <p:cNvPr id="9" name="Text 5"/>
          <p:cNvSpPr/>
          <p:nvPr/>
        </p:nvSpPr>
        <p:spPr>
          <a:xfrm>
            <a:off x="692944" y="1685925"/>
            <a:ext cx="14637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Submits payment request with </a:t>
            </a:r>
            <a:endParaRPr lang="en-US" sz="732" dirty="0"/>
          </a:p>
        </p:txBody>
      </p:sp>
      <p:sp>
        <p:nvSpPr>
          <p:cNvPr id="10" name="Text 6"/>
          <p:cNvSpPr/>
          <p:nvPr/>
        </p:nvSpPr>
        <p:spPr>
          <a:xfrm>
            <a:off x="2156743" y="1685925"/>
            <a:ext cx="16334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cardId, amount, merchant details</a:t>
            </a:r>
            <a:endParaRPr lang="en-US" sz="732" dirty="0"/>
          </a:p>
        </p:txBody>
      </p:sp>
      <p:sp>
        <p:nvSpPr>
          <p:cNvPr id="11" name="Text 7"/>
          <p:cNvSpPr/>
          <p:nvPr/>
        </p:nvSpPr>
        <p:spPr>
          <a:xfrm>
            <a:off x="357188" y="1993106"/>
            <a:ext cx="4107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837" dirty="0"/>
          </a:p>
        </p:txBody>
      </p:sp>
      <p:sp>
        <p:nvSpPr>
          <p:cNvPr id="12" name="Shape 8"/>
          <p:cNvSpPr/>
          <p:nvPr/>
        </p:nvSpPr>
        <p:spPr>
          <a:xfrm>
            <a:off x="357188" y="2328863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13" name="Text 9"/>
          <p:cNvSpPr/>
          <p:nvPr/>
        </p:nvSpPr>
        <p:spPr>
          <a:xfrm>
            <a:off x="357188" y="232886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32" dirty="0"/>
          </a:p>
        </p:txBody>
      </p:sp>
      <p:sp>
        <p:nvSpPr>
          <p:cNvPr id="14" name="Text 10"/>
          <p:cNvSpPr/>
          <p:nvPr/>
        </p:nvSpPr>
        <p:spPr>
          <a:xfrm>
            <a:off x="692944" y="2328863"/>
            <a:ext cx="3771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Gateway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692944" y="2503884"/>
            <a:ext cx="4497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Validates </a:t>
            </a:r>
            <a:endParaRPr lang="en-US" sz="732" dirty="0"/>
          </a:p>
        </p:txBody>
      </p:sp>
      <p:sp>
        <p:nvSpPr>
          <p:cNvPr id="16" name="Text 12"/>
          <p:cNvSpPr/>
          <p:nvPr/>
        </p:nvSpPr>
        <p:spPr>
          <a:xfrm>
            <a:off x="1142721" y="2503884"/>
            <a:ext cx="4923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JWT token</a:t>
            </a:r>
            <a:endParaRPr lang="en-US" sz="732" dirty="0"/>
          </a:p>
        </p:txBody>
      </p:sp>
      <p:sp>
        <p:nvSpPr>
          <p:cNvPr id="17" name="Text 13"/>
          <p:cNvSpPr/>
          <p:nvPr/>
        </p:nvSpPr>
        <p:spPr>
          <a:xfrm>
            <a:off x="1635109" y="2503884"/>
            <a:ext cx="20159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routes to Payment Processing Module</a:t>
            </a:r>
            <a:endParaRPr lang="en-US" sz="732" dirty="0"/>
          </a:p>
        </p:txBody>
      </p:sp>
      <p:sp>
        <p:nvSpPr>
          <p:cNvPr id="18" name="Text 14"/>
          <p:cNvSpPr/>
          <p:nvPr/>
        </p:nvSpPr>
        <p:spPr>
          <a:xfrm>
            <a:off x="357188" y="2811066"/>
            <a:ext cx="4107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837" dirty="0"/>
          </a:p>
        </p:txBody>
      </p:sp>
      <p:sp>
        <p:nvSpPr>
          <p:cNvPr id="19" name="Shape 15"/>
          <p:cNvSpPr/>
          <p:nvPr/>
        </p:nvSpPr>
        <p:spPr>
          <a:xfrm>
            <a:off x="357188" y="3146822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20" name="Text 16"/>
          <p:cNvSpPr/>
          <p:nvPr/>
        </p:nvSpPr>
        <p:spPr>
          <a:xfrm>
            <a:off x="357188" y="314682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32" dirty="0"/>
          </a:p>
        </p:txBody>
      </p:sp>
      <p:sp>
        <p:nvSpPr>
          <p:cNvPr id="21" name="Text 17"/>
          <p:cNvSpPr/>
          <p:nvPr/>
        </p:nvSpPr>
        <p:spPr>
          <a:xfrm>
            <a:off x="692944" y="3146822"/>
            <a:ext cx="3771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Payment Processing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692944" y="3321844"/>
            <a:ext cx="4573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Retrieves </a:t>
            </a:r>
            <a:endParaRPr lang="en-US" sz="732" dirty="0"/>
          </a:p>
        </p:txBody>
      </p:sp>
      <p:sp>
        <p:nvSpPr>
          <p:cNvPr id="23" name="Text 19"/>
          <p:cNvSpPr/>
          <p:nvPr/>
        </p:nvSpPr>
        <p:spPr>
          <a:xfrm>
            <a:off x="1150311" y="3321844"/>
            <a:ext cx="5659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card details</a:t>
            </a:r>
            <a:endParaRPr lang="en-US" sz="732" dirty="0"/>
          </a:p>
        </p:txBody>
      </p:sp>
      <p:sp>
        <p:nvSpPr>
          <p:cNvPr id="24" name="Text 20"/>
          <p:cNvSpPr/>
          <p:nvPr/>
        </p:nvSpPr>
        <p:spPr>
          <a:xfrm>
            <a:off x="1716286" y="3321844"/>
            <a:ext cx="71150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from database</a:t>
            </a:r>
            <a:endParaRPr lang="en-US" sz="732" dirty="0"/>
          </a:p>
        </p:txBody>
      </p:sp>
      <p:sp>
        <p:nvSpPr>
          <p:cNvPr id="25" name="Text 21"/>
          <p:cNvSpPr/>
          <p:nvPr/>
        </p:nvSpPr>
        <p:spPr>
          <a:xfrm>
            <a:off x="357188" y="3629025"/>
            <a:ext cx="4107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837" dirty="0"/>
          </a:p>
        </p:txBody>
      </p:sp>
      <p:sp>
        <p:nvSpPr>
          <p:cNvPr id="26" name="Shape 22"/>
          <p:cNvSpPr/>
          <p:nvPr/>
        </p:nvSpPr>
        <p:spPr>
          <a:xfrm>
            <a:off x="357188" y="3964781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27" name="Text 23"/>
          <p:cNvSpPr/>
          <p:nvPr/>
        </p:nvSpPr>
        <p:spPr>
          <a:xfrm>
            <a:off x="357188" y="396478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732" dirty="0"/>
          </a:p>
        </p:txBody>
      </p:sp>
      <p:sp>
        <p:nvSpPr>
          <p:cNvPr id="28" name="Text 24"/>
          <p:cNvSpPr/>
          <p:nvPr/>
        </p:nvSpPr>
        <p:spPr>
          <a:xfrm>
            <a:off x="692944" y="3964781"/>
            <a:ext cx="3771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Detection</a:t>
            </a:r>
            <a:endParaRPr lang="en-US" sz="680" dirty="0"/>
          </a:p>
        </p:txBody>
      </p:sp>
      <p:sp>
        <p:nvSpPr>
          <p:cNvPr id="29" name="Text 25"/>
          <p:cNvSpPr/>
          <p:nvPr/>
        </p:nvSpPr>
        <p:spPr>
          <a:xfrm>
            <a:off x="692944" y="4139803"/>
            <a:ext cx="11537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Analyzes transaction for </a:t>
            </a:r>
            <a:endParaRPr lang="en-US" sz="732" dirty="0"/>
          </a:p>
        </p:txBody>
      </p:sp>
      <p:sp>
        <p:nvSpPr>
          <p:cNvPr id="30" name="Text 26"/>
          <p:cNvSpPr/>
          <p:nvPr/>
        </p:nvSpPr>
        <p:spPr>
          <a:xfrm>
            <a:off x="1846715" y="4139803"/>
            <a:ext cx="8898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suspicious activity</a:t>
            </a:r>
            <a:endParaRPr lang="en-US" sz="732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156" y="1114425"/>
            <a:ext cx="80367" cy="10715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759523" y="1092994"/>
            <a:ext cx="93323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Processing Phase</a:t>
            </a:r>
            <a:endParaRPr lang="en-US" sz="785" dirty="0"/>
          </a:p>
        </p:txBody>
      </p:sp>
      <p:sp>
        <p:nvSpPr>
          <p:cNvPr id="33" name="Shape 28"/>
          <p:cNvSpPr/>
          <p:nvPr/>
        </p:nvSpPr>
        <p:spPr>
          <a:xfrm>
            <a:off x="4679156" y="1510903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34" name="Text 29"/>
          <p:cNvSpPr/>
          <p:nvPr/>
        </p:nvSpPr>
        <p:spPr>
          <a:xfrm>
            <a:off x="4679156" y="151090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732" dirty="0"/>
          </a:p>
        </p:txBody>
      </p:sp>
      <p:sp>
        <p:nvSpPr>
          <p:cNvPr id="35" name="Text 30"/>
          <p:cNvSpPr/>
          <p:nvPr/>
        </p:nvSpPr>
        <p:spPr>
          <a:xfrm>
            <a:off x="5014913" y="1510903"/>
            <a:ext cx="3771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Payment Gateway</a:t>
            </a:r>
            <a:endParaRPr lang="en-US" sz="680" dirty="0"/>
          </a:p>
        </p:txBody>
      </p:sp>
      <p:sp>
        <p:nvSpPr>
          <p:cNvPr id="36" name="Text 31"/>
          <p:cNvSpPr/>
          <p:nvPr/>
        </p:nvSpPr>
        <p:spPr>
          <a:xfrm>
            <a:off x="5014913" y="1685925"/>
            <a:ext cx="30854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Sends </a:t>
            </a:r>
            <a:endParaRPr lang="en-US" sz="732" dirty="0"/>
          </a:p>
        </p:txBody>
      </p:sp>
      <p:sp>
        <p:nvSpPr>
          <p:cNvPr id="37" name="Text 32"/>
          <p:cNvSpPr/>
          <p:nvPr/>
        </p:nvSpPr>
        <p:spPr>
          <a:xfrm>
            <a:off x="5323461" y="1685925"/>
            <a:ext cx="10857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legitimate transaction</a:t>
            </a:r>
            <a:endParaRPr lang="en-US" sz="732" dirty="0"/>
          </a:p>
        </p:txBody>
      </p:sp>
      <p:sp>
        <p:nvSpPr>
          <p:cNvPr id="38" name="Text 33"/>
          <p:cNvSpPr/>
          <p:nvPr/>
        </p:nvSpPr>
        <p:spPr>
          <a:xfrm>
            <a:off x="6409199" y="1685925"/>
            <a:ext cx="15832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third-party payment processor</a:t>
            </a:r>
            <a:endParaRPr lang="en-US" sz="732" dirty="0"/>
          </a:p>
        </p:txBody>
      </p:sp>
      <p:sp>
        <p:nvSpPr>
          <p:cNvPr id="39" name="Text 34"/>
          <p:cNvSpPr/>
          <p:nvPr/>
        </p:nvSpPr>
        <p:spPr>
          <a:xfrm>
            <a:off x="4679156" y="1993106"/>
            <a:ext cx="4107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837" dirty="0"/>
          </a:p>
        </p:txBody>
      </p:sp>
      <p:sp>
        <p:nvSpPr>
          <p:cNvPr id="40" name="Shape 35"/>
          <p:cNvSpPr/>
          <p:nvPr/>
        </p:nvSpPr>
        <p:spPr>
          <a:xfrm>
            <a:off x="4679156" y="2328863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41" name="Text 36"/>
          <p:cNvSpPr/>
          <p:nvPr/>
        </p:nvSpPr>
        <p:spPr>
          <a:xfrm>
            <a:off x="4679156" y="232886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732" dirty="0"/>
          </a:p>
        </p:txBody>
      </p:sp>
      <p:sp>
        <p:nvSpPr>
          <p:cNvPr id="42" name="Text 37"/>
          <p:cNvSpPr/>
          <p:nvPr/>
        </p:nvSpPr>
        <p:spPr>
          <a:xfrm>
            <a:off x="5014913" y="2328863"/>
            <a:ext cx="3771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Database</a:t>
            </a:r>
            <a:endParaRPr lang="en-US" sz="680" dirty="0"/>
          </a:p>
        </p:txBody>
      </p:sp>
      <p:sp>
        <p:nvSpPr>
          <p:cNvPr id="43" name="Text 38"/>
          <p:cNvSpPr/>
          <p:nvPr/>
        </p:nvSpPr>
        <p:spPr>
          <a:xfrm>
            <a:off x="5014913" y="2503884"/>
            <a:ext cx="3211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Stores </a:t>
            </a:r>
            <a:endParaRPr lang="en-US" sz="732" dirty="0"/>
          </a:p>
        </p:txBody>
      </p:sp>
      <p:sp>
        <p:nvSpPr>
          <p:cNvPr id="44" name="Text 39"/>
          <p:cNvSpPr/>
          <p:nvPr/>
        </p:nvSpPr>
        <p:spPr>
          <a:xfrm>
            <a:off x="5336074" y="2503884"/>
            <a:ext cx="9109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details</a:t>
            </a:r>
            <a:endParaRPr lang="en-US" sz="732" dirty="0"/>
          </a:p>
        </p:txBody>
      </p:sp>
      <p:sp>
        <p:nvSpPr>
          <p:cNvPr id="45" name="Text 40"/>
          <p:cNvSpPr/>
          <p:nvPr/>
        </p:nvSpPr>
        <p:spPr>
          <a:xfrm>
            <a:off x="6247014" y="2503884"/>
            <a:ext cx="5173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status</a:t>
            </a:r>
            <a:endParaRPr lang="en-US" sz="732" dirty="0"/>
          </a:p>
        </p:txBody>
      </p:sp>
      <p:sp>
        <p:nvSpPr>
          <p:cNvPr id="46" name="Text 41"/>
          <p:cNvSpPr/>
          <p:nvPr/>
        </p:nvSpPr>
        <p:spPr>
          <a:xfrm>
            <a:off x="4679156" y="2811066"/>
            <a:ext cx="4107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837" dirty="0"/>
          </a:p>
        </p:txBody>
      </p:sp>
      <p:sp>
        <p:nvSpPr>
          <p:cNvPr id="47" name="Shape 42"/>
          <p:cNvSpPr/>
          <p:nvPr/>
        </p:nvSpPr>
        <p:spPr>
          <a:xfrm>
            <a:off x="4679156" y="3146822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48" name="Text 43"/>
          <p:cNvSpPr/>
          <p:nvPr/>
        </p:nvSpPr>
        <p:spPr>
          <a:xfrm>
            <a:off x="4679156" y="314682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732" dirty="0"/>
          </a:p>
        </p:txBody>
      </p:sp>
      <p:sp>
        <p:nvSpPr>
          <p:cNvPr id="49" name="Text 44"/>
          <p:cNvSpPr/>
          <p:nvPr/>
        </p:nvSpPr>
        <p:spPr>
          <a:xfrm>
            <a:off x="5014913" y="3146822"/>
            <a:ext cx="3771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Notification Module</a:t>
            </a:r>
            <a:endParaRPr lang="en-US" sz="680" dirty="0"/>
          </a:p>
        </p:txBody>
      </p:sp>
      <p:sp>
        <p:nvSpPr>
          <p:cNvPr id="50" name="Text 45"/>
          <p:cNvSpPr/>
          <p:nvPr/>
        </p:nvSpPr>
        <p:spPr>
          <a:xfrm>
            <a:off x="5014913" y="3321844"/>
            <a:ext cx="412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Triggers </a:t>
            </a:r>
            <a:endParaRPr lang="en-US" sz="732" dirty="0"/>
          </a:p>
        </p:txBody>
      </p:sp>
      <p:sp>
        <p:nvSpPr>
          <p:cNvPr id="51" name="Text 46"/>
          <p:cNvSpPr/>
          <p:nvPr/>
        </p:nvSpPr>
        <p:spPr>
          <a:xfrm>
            <a:off x="5427269" y="3321844"/>
            <a:ext cx="8306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 notification</a:t>
            </a:r>
            <a:endParaRPr lang="en-US" sz="732" dirty="0"/>
          </a:p>
        </p:txBody>
      </p:sp>
      <p:sp>
        <p:nvSpPr>
          <p:cNvPr id="52" name="Text 47"/>
          <p:cNvSpPr/>
          <p:nvPr/>
        </p:nvSpPr>
        <p:spPr>
          <a:xfrm>
            <a:off x="6257897" y="3321844"/>
            <a:ext cx="9821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user's mobile app</a:t>
            </a:r>
            <a:endParaRPr lang="en-US" sz="732" dirty="0"/>
          </a:p>
        </p:txBody>
      </p:sp>
      <p:sp>
        <p:nvSpPr>
          <p:cNvPr id="53" name="Text 48"/>
          <p:cNvSpPr/>
          <p:nvPr/>
        </p:nvSpPr>
        <p:spPr>
          <a:xfrm>
            <a:off x="4679156" y="3629025"/>
            <a:ext cx="4107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837" dirty="0"/>
          </a:p>
        </p:txBody>
      </p:sp>
      <p:sp>
        <p:nvSpPr>
          <p:cNvPr id="54" name="Shape 49"/>
          <p:cNvSpPr/>
          <p:nvPr/>
        </p:nvSpPr>
        <p:spPr>
          <a:xfrm>
            <a:off x="4679156" y="3964781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55" name="Text 50"/>
          <p:cNvSpPr/>
          <p:nvPr/>
        </p:nvSpPr>
        <p:spPr>
          <a:xfrm>
            <a:off x="4679156" y="396478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732" dirty="0"/>
          </a:p>
        </p:txBody>
      </p:sp>
      <p:sp>
        <p:nvSpPr>
          <p:cNvPr id="56" name="Text 51"/>
          <p:cNvSpPr/>
          <p:nvPr/>
        </p:nvSpPr>
        <p:spPr>
          <a:xfrm>
            <a:off x="5014913" y="3964781"/>
            <a:ext cx="3771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Gateway</a:t>
            </a:r>
            <a:endParaRPr lang="en-US" sz="680" dirty="0"/>
          </a:p>
        </p:txBody>
      </p:sp>
      <p:sp>
        <p:nvSpPr>
          <p:cNvPr id="57" name="Text 52"/>
          <p:cNvSpPr/>
          <p:nvPr/>
        </p:nvSpPr>
        <p:spPr>
          <a:xfrm>
            <a:off x="5014913" y="4139803"/>
            <a:ext cx="3935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Returns </a:t>
            </a:r>
            <a:endParaRPr lang="en-US" sz="732" dirty="0"/>
          </a:p>
        </p:txBody>
      </p:sp>
      <p:sp>
        <p:nvSpPr>
          <p:cNvPr id="58" name="Text 53"/>
          <p:cNvSpPr/>
          <p:nvPr/>
        </p:nvSpPr>
        <p:spPr>
          <a:xfrm>
            <a:off x="5408488" y="4139803"/>
            <a:ext cx="8669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result</a:t>
            </a:r>
            <a:endParaRPr lang="en-US" sz="732" dirty="0"/>
          </a:p>
        </p:txBody>
      </p:sp>
      <p:sp>
        <p:nvSpPr>
          <p:cNvPr id="59" name="Text 54"/>
          <p:cNvSpPr/>
          <p:nvPr/>
        </p:nvSpPr>
        <p:spPr>
          <a:xfrm>
            <a:off x="6275422" y="4139803"/>
            <a:ext cx="402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client</a:t>
            </a:r>
            <a:endParaRPr lang="en-US" sz="73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364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61452" y="428625"/>
            <a:ext cx="5821096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Robust, Scalable, and Secure Financial Architecture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569" y="1268016"/>
            <a:ext cx="321469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93366" y="1728788"/>
            <a:ext cx="6898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Modularity</a:t>
            </a:r>
            <a:endParaRPr lang="en-US" sz="942" dirty="0"/>
          </a:p>
        </p:txBody>
      </p:sp>
      <p:sp>
        <p:nvSpPr>
          <p:cNvPr id="6" name="Text 2"/>
          <p:cNvSpPr/>
          <p:nvPr/>
        </p:nvSpPr>
        <p:spPr>
          <a:xfrm>
            <a:off x="428625" y="1993106"/>
            <a:ext cx="26193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component can be developed, deployed, and scaled independently</a:t>
            </a:r>
            <a:endParaRPr lang="en-US" sz="73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097" y="1268016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53461" y="1728788"/>
            <a:ext cx="63704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Scalability</a:t>
            </a:r>
            <a:endParaRPr lang="en-US" sz="942" dirty="0"/>
          </a:p>
        </p:txBody>
      </p:sp>
      <p:sp>
        <p:nvSpPr>
          <p:cNvPr id="9" name="Text 4"/>
          <p:cNvSpPr/>
          <p:nvPr/>
        </p:nvSpPr>
        <p:spPr>
          <a:xfrm>
            <a:off x="3262294" y="1993106"/>
            <a:ext cx="261938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Horizontal scaling of individual services based on demand</a:t>
            </a:r>
            <a:endParaRPr lang="en-US" sz="73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653" y="1268016"/>
            <a:ext cx="250031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51508" y="1728788"/>
            <a:ext cx="5083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</a:t>
            </a:r>
            <a:endParaRPr lang="en-US" sz="942" dirty="0"/>
          </a:p>
        </p:txBody>
      </p:sp>
      <p:sp>
        <p:nvSpPr>
          <p:cNvPr id="12" name="Text 6"/>
          <p:cNvSpPr/>
          <p:nvPr/>
        </p:nvSpPr>
        <p:spPr>
          <a:xfrm>
            <a:off x="6117589" y="1993106"/>
            <a:ext cx="25761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layers of protection for sensitive financial data</a:t>
            </a:r>
            <a:endParaRPr lang="en-US" sz="732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569" y="2582466"/>
            <a:ext cx="321469" cy="285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30719" y="3043238"/>
            <a:ext cx="8151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</a:t>
            </a:r>
            <a:endParaRPr lang="en-US" sz="942" dirty="0"/>
          </a:p>
        </p:txBody>
      </p:sp>
      <p:sp>
        <p:nvSpPr>
          <p:cNvPr id="15" name="Text 8"/>
          <p:cNvSpPr/>
          <p:nvPr/>
        </p:nvSpPr>
        <p:spPr>
          <a:xfrm>
            <a:off x="428625" y="3307556"/>
            <a:ext cx="26193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Caching and optimized data flows ensure fast response times</a:t>
            </a:r>
            <a:endParaRPr lang="en-US" sz="732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097" y="2582466"/>
            <a:ext cx="285750" cy="2857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096383" y="3043238"/>
            <a:ext cx="95117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Maintainability</a:t>
            </a:r>
            <a:endParaRPr lang="en-US" sz="942" dirty="0"/>
          </a:p>
        </p:txBody>
      </p:sp>
      <p:sp>
        <p:nvSpPr>
          <p:cNvPr id="18" name="Text 10"/>
          <p:cNvSpPr/>
          <p:nvPr/>
        </p:nvSpPr>
        <p:spPr>
          <a:xfrm>
            <a:off x="3262294" y="3307556"/>
            <a:ext cx="261938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Clear separation of concerns and standard communication patterns</a:t>
            </a:r>
            <a:endParaRPr lang="en-US" sz="732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2794" y="2582466"/>
            <a:ext cx="285750" cy="2857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095167" y="3043238"/>
            <a:ext cx="62097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Reliability</a:t>
            </a:r>
            <a:endParaRPr lang="en-US" sz="942" dirty="0"/>
          </a:p>
        </p:txBody>
      </p:sp>
      <p:sp>
        <p:nvSpPr>
          <p:cNvPr id="21" name="Text 12"/>
          <p:cNvSpPr/>
          <p:nvPr/>
        </p:nvSpPr>
        <p:spPr>
          <a:xfrm>
            <a:off x="6095991" y="3307556"/>
            <a:ext cx="26193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99.9% uptime with distributed architecture and monitoring</a:t>
            </a:r>
            <a:endParaRPr lang="en-US" sz="732" dirty="0"/>
          </a:p>
        </p:txBody>
      </p:sp>
      <p:sp>
        <p:nvSpPr>
          <p:cNvPr id="22" name="Text 13"/>
          <p:cNvSpPr/>
          <p:nvPr/>
        </p:nvSpPr>
        <p:spPr>
          <a:xfrm>
            <a:off x="3845598" y="4107656"/>
            <a:ext cx="145280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1A3A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 for Success</a:t>
            </a:r>
            <a:endParaRPr lang="en-US" sz="942" dirty="0"/>
          </a:p>
        </p:txBody>
      </p:sp>
      <p:sp>
        <p:nvSpPr>
          <p:cNvPr id="23" name="Text 14"/>
          <p:cNvSpPr/>
          <p:nvPr/>
        </p:nvSpPr>
        <p:spPr>
          <a:xfrm>
            <a:off x="1479035" y="4420195"/>
            <a:ext cx="212769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microservices architecture provides a </a:t>
            </a:r>
            <a:endParaRPr lang="en-US" sz="785" dirty="0"/>
          </a:p>
        </p:txBody>
      </p:sp>
      <p:sp>
        <p:nvSpPr>
          <p:cNvPr id="24" name="Text 15"/>
          <p:cNvSpPr/>
          <p:nvPr/>
        </p:nvSpPr>
        <p:spPr>
          <a:xfrm>
            <a:off x="3606729" y="4420195"/>
            <a:ext cx="14523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b="1" dirty="0">
                <a:solidFill>
                  <a:srgbClr val="0D7E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robust, scalable, and secure</a:t>
            </a:r>
            <a:endParaRPr lang="en-US" sz="785" dirty="0"/>
          </a:p>
        </p:txBody>
      </p:sp>
      <p:sp>
        <p:nvSpPr>
          <p:cNvPr id="25" name="Text 16"/>
          <p:cNvSpPr/>
          <p:nvPr/>
        </p:nvSpPr>
        <p:spPr>
          <a:xfrm>
            <a:off x="5059031" y="4420195"/>
            <a:ext cx="260593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foundation for a mobile-based virtual card financial </a:t>
            </a:r>
            <a:endParaRPr lang="en-US" sz="785" dirty="0"/>
          </a:p>
        </p:txBody>
      </p:sp>
      <p:sp>
        <p:nvSpPr>
          <p:cNvPr id="26" name="Text 17"/>
          <p:cNvSpPr/>
          <p:nvPr/>
        </p:nvSpPr>
        <p:spPr>
          <a:xfrm>
            <a:off x="1591661" y="4591645"/>
            <a:ext cx="59606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system. The REST API communication pattern ensures flexibility and maintainability, while the chosen technology stack </a:t>
            </a:r>
            <a:endParaRPr lang="en-US" sz="785" dirty="0"/>
          </a:p>
        </p:txBody>
      </p:sp>
      <p:sp>
        <p:nvSpPr>
          <p:cNvPr id="27" name="Text 18"/>
          <p:cNvSpPr/>
          <p:nvPr/>
        </p:nvSpPr>
        <p:spPr>
          <a:xfrm>
            <a:off x="1512773" y="4763095"/>
            <a:ext cx="61184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balances performance, developer productivity, and operational reliability—meeting the stringent security requirements of </a:t>
            </a:r>
            <a:endParaRPr lang="en-US" sz="785" dirty="0"/>
          </a:p>
        </p:txBody>
      </p:sp>
      <p:sp>
        <p:nvSpPr>
          <p:cNvPr id="28" name="Text 19"/>
          <p:cNvSpPr/>
          <p:nvPr/>
        </p:nvSpPr>
        <p:spPr>
          <a:xfrm>
            <a:off x="3912933" y="4934545"/>
            <a:ext cx="131813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financial systems.</a:t>
            </a:r>
            <a:endParaRPr lang="en-US" sz="7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2025-10-20T19:57:14Z</dcterms:created>
  <dcterms:modified xsi:type="dcterms:W3CDTF">2025-10-20T19:57:14Z</dcterms:modified>
</cp:coreProperties>
</file>