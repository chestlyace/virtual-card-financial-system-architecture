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4" name="Shape 1"/>
          <p:cNvSpPr/>
          <p:nvPr/>
        </p:nvSpPr>
        <p:spPr>
          <a:xfrm>
            <a:off x="1857375" y="1770227"/>
            <a:ext cx="857250" cy="85725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477" y="1984539"/>
            <a:ext cx="375047" cy="428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4005" y="2841789"/>
            <a:ext cx="352396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spc="1" kern="0" dirty="0">
                <a:solidFill>
                  <a:srgbClr val="FFFFFF"/>
                </a:solidFill>
              </a:rPr>
              <a:t>Secure Authentication</a:t>
            </a:r>
            <a:endParaRPr lang="en-US" sz="1397" dirty="0"/>
          </a:p>
        </p:txBody>
      </p:sp>
      <p:sp>
        <p:nvSpPr>
          <p:cNvPr id="7" name="Text 3"/>
          <p:cNvSpPr/>
          <p:nvPr/>
        </p:nvSpPr>
        <p:spPr>
          <a:xfrm>
            <a:off x="524005" y="3213264"/>
            <a:ext cx="3523962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FFFFFF">
                    <a:alpha val="90000"/>
                  </a:srgbClr>
                </a:solidFill>
              </a:rPr>
              <a:t>Enterprise-grade JWT-based authentication service for modern applications</a:t>
            </a:r>
            <a:endParaRPr lang="en-US" sz="727" dirty="0"/>
          </a:p>
        </p:txBody>
      </p:sp>
      <p:sp>
        <p:nvSpPr>
          <p:cNvPr id="8" name="Text 4"/>
          <p:cNvSpPr/>
          <p:nvPr/>
        </p:nvSpPr>
        <p:spPr>
          <a:xfrm>
            <a:off x="4929188" y="686553"/>
            <a:ext cx="3857625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1A3A52"/>
                </a:solidFill>
              </a:rPr>
              <a:t>Authentication Service</a:t>
            </a:r>
            <a:endParaRPr lang="en-US" sz="2862" dirty="0"/>
          </a:p>
        </p:txBody>
      </p:sp>
      <p:sp>
        <p:nvSpPr>
          <p:cNvPr id="9" name="Text 5"/>
          <p:cNvSpPr/>
          <p:nvPr/>
        </p:nvSpPr>
        <p:spPr>
          <a:xfrm>
            <a:off x="4929188" y="2039569"/>
            <a:ext cx="385762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D7EA8"/>
                </a:solidFill>
              </a:rPr>
              <a:t>Complete API Reference and Implementation Guide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4929188" y="2696794"/>
            <a:ext cx="385762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A comprehensive microservice built with Node.js and Express.js, providing secure user authentication, token management, and profile access with industry-standard security practices.</a:t>
            </a:r>
            <a:endParaRPr lang="en-US" sz="834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3617556"/>
            <a:ext cx="114300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29213" y="3599697"/>
            <a:ext cx="15407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3A52"/>
                </a:solidFill>
              </a:rPr>
              <a:t>Secure JWT-based authentication</a:t>
            </a:r>
            <a:endParaRPr lang="en-US" sz="727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3853300"/>
            <a:ext cx="114300" cy="1143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129213" y="3835440"/>
            <a:ext cx="148260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3A52"/>
                </a:solidFill>
              </a:rPr>
              <a:t>Password hashing with bcryptjs</a:t>
            </a:r>
            <a:endParaRPr lang="en-US" sz="727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4089043"/>
            <a:ext cx="114300" cy="1143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129213" y="4071184"/>
            <a:ext cx="16002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3A52"/>
                </a:solidFill>
              </a:rPr>
              <a:t>Rate limiting and security headers</a:t>
            </a:r>
            <a:endParaRPr lang="en-US" sz="727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4324787"/>
            <a:ext cx="114300" cy="1143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129213" y="4306928"/>
            <a:ext cx="19434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1A3A52"/>
                </a:solidFill>
              </a:rPr>
              <a:t>MySQL database with connection pooling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2197819" cy="521494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A52"/>
                </a:solidFill>
              </a:rPr>
              <a:t>Service Overview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357188" y="1164431"/>
            <a:ext cx="500063" cy="500063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84" y="1285875"/>
            <a:ext cx="321469" cy="2571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57188" y="1807369"/>
            <a:ext cx="266699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A52"/>
                </a:solidFill>
              </a:rPr>
              <a:t>User Management</a:t>
            </a:r>
            <a:endParaRPr lang="en-US" sz="885" dirty="0"/>
          </a:p>
        </p:txBody>
      </p:sp>
      <p:sp>
        <p:nvSpPr>
          <p:cNvPr id="7" name="Text 3"/>
          <p:cNvSpPr/>
          <p:nvPr/>
        </p:nvSpPr>
        <p:spPr>
          <a:xfrm>
            <a:off x="357188" y="2085975"/>
            <a:ext cx="266699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Secure user registration and profile management with email validation and account status tracking.</a:t>
            </a:r>
            <a:endParaRPr lang="en-US" sz="727" dirty="0"/>
          </a:p>
        </p:txBody>
      </p:sp>
      <p:sp>
        <p:nvSpPr>
          <p:cNvPr id="8" name="Text 4"/>
          <p:cNvSpPr/>
          <p:nvPr/>
        </p:nvSpPr>
        <p:spPr>
          <a:xfrm>
            <a:off x="357188" y="2684599"/>
            <a:ext cx="2666991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User registration</a:t>
            </a:r>
            <a:endParaRPr lang="en-US" sz="674" dirty="0"/>
          </a:p>
        </p:txBody>
      </p:sp>
      <p:sp>
        <p:nvSpPr>
          <p:cNvPr id="9" name="Text 5"/>
          <p:cNvSpPr/>
          <p:nvPr/>
        </p:nvSpPr>
        <p:spPr>
          <a:xfrm>
            <a:off x="357188" y="2881052"/>
            <a:ext cx="2666991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Email validation</a:t>
            </a:r>
            <a:endParaRPr lang="en-US" sz="674" dirty="0"/>
          </a:p>
        </p:txBody>
      </p:sp>
      <p:sp>
        <p:nvSpPr>
          <p:cNvPr id="10" name="Text 6"/>
          <p:cNvSpPr/>
          <p:nvPr/>
        </p:nvSpPr>
        <p:spPr>
          <a:xfrm>
            <a:off x="357188" y="3077505"/>
            <a:ext cx="2666991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Profile retrieval</a:t>
            </a:r>
            <a:endParaRPr lang="en-US" sz="674" dirty="0"/>
          </a:p>
        </p:txBody>
      </p:sp>
      <p:sp>
        <p:nvSpPr>
          <p:cNvPr id="11" name="Text 7"/>
          <p:cNvSpPr/>
          <p:nvPr/>
        </p:nvSpPr>
        <p:spPr>
          <a:xfrm>
            <a:off x="357188" y="3273958"/>
            <a:ext cx="2666991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Account status</a:t>
            </a:r>
            <a:endParaRPr lang="en-US" sz="674" dirty="0"/>
          </a:p>
        </p:txBody>
      </p:sp>
      <p:sp>
        <p:nvSpPr>
          <p:cNvPr id="12" name="Text 8"/>
          <p:cNvSpPr/>
          <p:nvPr/>
        </p:nvSpPr>
        <p:spPr>
          <a:xfrm>
            <a:off x="357188" y="2684599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D7EA8"/>
                </a:solidFill>
              </a:rPr>
              <a:t>→</a:t>
            </a:r>
            <a:endParaRPr lang="en-US" sz="634" dirty="0"/>
          </a:p>
        </p:txBody>
      </p:sp>
      <p:sp>
        <p:nvSpPr>
          <p:cNvPr id="13" name="Text 9"/>
          <p:cNvSpPr/>
          <p:nvPr/>
        </p:nvSpPr>
        <p:spPr>
          <a:xfrm>
            <a:off x="357188" y="2881052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D7EA8"/>
                </a:solidFill>
              </a:rPr>
              <a:t>→</a:t>
            </a:r>
            <a:endParaRPr lang="en-US" sz="634" dirty="0"/>
          </a:p>
        </p:txBody>
      </p:sp>
      <p:sp>
        <p:nvSpPr>
          <p:cNvPr id="14" name="Text 10"/>
          <p:cNvSpPr/>
          <p:nvPr/>
        </p:nvSpPr>
        <p:spPr>
          <a:xfrm>
            <a:off x="357188" y="3077505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D7EA8"/>
                </a:solidFill>
              </a:rPr>
              <a:t>→</a:t>
            </a:r>
            <a:endParaRPr lang="en-US" sz="634" dirty="0"/>
          </a:p>
        </p:txBody>
      </p:sp>
      <p:sp>
        <p:nvSpPr>
          <p:cNvPr id="15" name="Text 11"/>
          <p:cNvSpPr/>
          <p:nvPr/>
        </p:nvSpPr>
        <p:spPr>
          <a:xfrm>
            <a:off x="357188" y="3273958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D7EA8"/>
                </a:solidFill>
              </a:rPr>
              <a:t>→</a:t>
            </a:r>
            <a:endParaRPr lang="en-US" sz="634" dirty="0"/>
          </a:p>
        </p:txBody>
      </p:sp>
      <p:sp>
        <p:nvSpPr>
          <p:cNvPr id="16" name="Shape 12"/>
          <p:cNvSpPr/>
          <p:nvPr/>
        </p:nvSpPr>
        <p:spPr>
          <a:xfrm>
            <a:off x="3238491" y="1164431"/>
            <a:ext cx="500063" cy="500063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008" y="1285875"/>
            <a:ext cx="225028" cy="2571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38491" y="1807369"/>
            <a:ext cx="266699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A52"/>
                </a:solidFill>
              </a:rPr>
              <a:t>Authentication</a:t>
            </a:r>
            <a:endParaRPr lang="en-US" sz="885" dirty="0"/>
          </a:p>
        </p:txBody>
      </p:sp>
      <p:sp>
        <p:nvSpPr>
          <p:cNvPr id="19" name="Text 14"/>
          <p:cNvSpPr/>
          <p:nvPr/>
        </p:nvSpPr>
        <p:spPr>
          <a:xfrm>
            <a:off x="3238491" y="2085975"/>
            <a:ext cx="2666991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Industry-standard JWT-based authentication with secure password hashing and token management.</a:t>
            </a:r>
            <a:endParaRPr lang="en-US" sz="727" dirty="0"/>
          </a:p>
        </p:txBody>
      </p:sp>
      <p:sp>
        <p:nvSpPr>
          <p:cNvPr id="20" name="Text 15"/>
          <p:cNvSpPr/>
          <p:nvPr/>
        </p:nvSpPr>
        <p:spPr>
          <a:xfrm>
            <a:off x="3238491" y="2684599"/>
            <a:ext cx="2666991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JWT tokens</a:t>
            </a:r>
            <a:endParaRPr lang="en-US" sz="674" dirty="0"/>
          </a:p>
        </p:txBody>
      </p:sp>
      <p:sp>
        <p:nvSpPr>
          <p:cNvPr id="21" name="Text 16"/>
          <p:cNvSpPr/>
          <p:nvPr/>
        </p:nvSpPr>
        <p:spPr>
          <a:xfrm>
            <a:off x="3238491" y="2881052"/>
            <a:ext cx="2666991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Bcryptjs hashing</a:t>
            </a:r>
            <a:endParaRPr lang="en-US" sz="674" dirty="0"/>
          </a:p>
        </p:txBody>
      </p:sp>
      <p:sp>
        <p:nvSpPr>
          <p:cNvPr id="22" name="Text 17"/>
          <p:cNvSpPr/>
          <p:nvPr/>
        </p:nvSpPr>
        <p:spPr>
          <a:xfrm>
            <a:off x="3238491" y="3077505"/>
            <a:ext cx="2666991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Token refresh</a:t>
            </a:r>
            <a:endParaRPr lang="en-US" sz="674" dirty="0"/>
          </a:p>
        </p:txBody>
      </p:sp>
      <p:sp>
        <p:nvSpPr>
          <p:cNvPr id="23" name="Text 18"/>
          <p:cNvSpPr/>
          <p:nvPr/>
        </p:nvSpPr>
        <p:spPr>
          <a:xfrm>
            <a:off x="3238491" y="3273958"/>
            <a:ext cx="2666991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Session logout</a:t>
            </a:r>
            <a:endParaRPr lang="en-US" sz="674" dirty="0"/>
          </a:p>
        </p:txBody>
      </p:sp>
      <p:sp>
        <p:nvSpPr>
          <p:cNvPr id="24" name="Text 19"/>
          <p:cNvSpPr/>
          <p:nvPr/>
        </p:nvSpPr>
        <p:spPr>
          <a:xfrm>
            <a:off x="3238491" y="2684599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D7EA8"/>
                </a:solidFill>
              </a:rPr>
              <a:t>→</a:t>
            </a:r>
            <a:endParaRPr lang="en-US" sz="634" dirty="0"/>
          </a:p>
        </p:txBody>
      </p:sp>
      <p:sp>
        <p:nvSpPr>
          <p:cNvPr id="25" name="Text 20"/>
          <p:cNvSpPr/>
          <p:nvPr/>
        </p:nvSpPr>
        <p:spPr>
          <a:xfrm>
            <a:off x="3238491" y="2881052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D7EA8"/>
                </a:solidFill>
              </a:rPr>
              <a:t>→</a:t>
            </a:r>
            <a:endParaRPr lang="en-US" sz="634" dirty="0"/>
          </a:p>
        </p:txBody>
      </p:sp>
      <p:sp>
        <p:nvSpPr>
          <p:cNvPr id="26" name="Text 21"/>
          <p:cNvSpPr/>
          <p:nvPr/>
        </p:nvSpPr>
        <p:spPr>
          <a:xfrm>
            <a:off x="3238491" y="3077505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D7EA8"/>
                </a:solidFill>
              </a:rPr>
              <a:t>→</a:t>
            </a:r>
            <a:endParaRPr lang="en-US" sz="634" dirty="0"/>
          </a:p>
        </p:txBody>
      </p:sp>
      <p:sp>
        <p:nvSpPr>
          <p:cNvPr id="27" name="Text 22"/>
          <p:cNvSpPr/>
          <p:nvPr/>
        </p:nvSpPr>
        <p:spPr>
          <a:xfrm>
            <a:off x="3238491" y="3273958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D7EA8"/>
                </a:solidFill>
              </a:rPr>
              <a:t>→</a:t>
            </a:r>
            <a:endParaRPr lang="en-US" sz="634" dirty="0"/>
          </a:p>
        </p:txBody>
      </p:sp>
      <p:sp>
        <p:nvSpPr>
          <p:cNvPr id="28" name="Shape 23"/>
          <p:cNvSpPr/>
          <p:nvPr/>
        </p:nvSpPr>
        <p:spPr>
          <a:xfrm>
            <a:off x="6119794" y="1164431"/>
            <a:ext cx="500063" cy="500063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238" y="1285875"/>
            <a:ext cx="257175" cy="25717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119794" y="1807369"/>
            <a:ext cx="266701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A52"/>
                </a:solidFill>
              </a:rPr>
              <a:t>Security</a:t>
            </a:r>
            <a:endParaRPr lang="en-US" sz="885" dirty="0"/>
          </a:p>
        </p:txBody>
      </p:sp>
      <p:sp>
        <p:nvSpPr>
          <p:cNvPr id="31" name="Text 25"/>
          <p:cNvSpPr/>
          <p:nvPr/>
        </p:nvSpPr>
        <p:spPr>
          <a:xfrm>
            <a:off x="6119794" y="2085975"/>
            <a:ext cx="266701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Comprehensive security measures including rate limiting, input validation, and security headers.</a:t>
            </a:r>
            <a:endParaRPr lang="en-US" sz="727" dirty="0"/>
          </a:p>
        </p:txBody>
      </p:sp>
      <p:sp>
        <p:nvSpPr>
          <p:cNvPr id="32" name="Text 26"/>
          <p:cNvSpPr/>
          <p:nvPr/>
        </p:nvSpPr>
        <p:spPr>
          <a:xfrm>
            <a:off x="6119794" y="2684599"/>
            <a:ext cx="2667019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Rate limiting</a:t>
            </a:r>
            <a:endParaRPr lang="en-US" sz="674" dirty="0"/>
          </a:p>
        </p:txBody>
      </p:sp>
      <p:sp>
        <p:nvSpPr>
          <p:cNvPr id="33" name="Text 27"/>
          <p:cNvSpPr/>
          <p:nvPr/>
        </p:nvSpPr>
        <p:spPr>
          <a:xfrm>
            <a:off x="6119794" y="2881052"/>
            <a:ext cx="2667019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Input validation</a:t>
            </a:r>
            <a:endParaRPr lang="en-US" sz="674" dirty="0"/>
          </a:p>
        </p:txBody>
      </p:sp>
      <p:sp>
        <p:nvSpPr>
          <p:cNvPr id="34" name="Text 28"/>
          <p:cNvSpPr/>
          <p:nvPr/>
        </p:nvSpPr>
        <p:spPr>
          <a:xfrm>
            <a:off x="6119794" y="3077505"/>
            <a:ext cx="2667019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Helmet headers</a:t>
            </a:r>
            <a:endParaRPr lang="en-US" sz="674" dirty="0"/>
          </a:p>
        </p:txBody>
      </p:sp>
      <p:sp>
        <p:nvSpPr>
          <p:cNvPr id="35" name="Text 29"/>
          <p:cNvSpPr/>
          <p:nvPr/>
        </p:nvSpPr>
        <p:spPr>
          <a:xfrm>
            <a:off x="6119794" y="3273958"/>
            <a:ext cx="2667019" cy="13930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CORS support</a:t>
            </a:r>
            <a:endParaRPr lang="en-US" sz="674" dirty="0"/>
          </a:p>
        </p:txBody>
      </p:sp>
      <p:sp>
        <p:nvSpPr>
          <p:cNvPr id="36" name="Shape 30"/>
          <p:cNvSpPr/>
          <p:nvPr/>
        </p:nvSpPr>
        <p:spPr>
          <a:xfrm>
            <a:off x="357188" y="4214813"/>
            <a:ext cx="8429625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7" name="Shape 31"/>
          <p:cNvSpPr/>
          <p:nvPr/>
        </p:nvSpPr>
        <p:spPr>
          <a:xfrm>
            <a:off x="357188" y="4214813"/>
            <a:ext cx="8429625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38" name="Text 32"/>
          <p:cNvSpPr/>
          <p:nvPr/>
        </p:nvSpPr>
        <p:spPr>
          <a:xfrm>
            <a:off x="6119794" y="2684599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D7EA8"/>
                </a:solidFill>
              </a:rPr>
              <a:t>→</a:t>
            </a:r>
            <a:endParaRPr lang="en-US" sz="634" dirty="0"/>
          </a:p>
        </p:txBody>
      </p:sp>
      <p:sp>
        <p:nvSpPr>
          <p:cNvPr id="39" name="Text 33"/>
          <p:cNvSpPr/>
          <p:nvPr/>
        </p:nvSpPr>
        <p:spPr>
          <a:xfrm>
            <a:off x="6119794" y="2881052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D7EA8"/>
                </a:solidFill>
              </a:rPr>
              <a:t>→</a:t>
            </a:r>
            <a:endParaRPr lang="en-US" sz="634" dirty="0"/>
          </a:p>
        </p:txBody>
      </p:sp>
      <p:sp>
        <p:nvSpPr>
          <p:cNvPr id="40" name="Text 34"/>
          <p:cNvSpPr/>
          <p:nvPr/>
        </p:nvSpPr>
        <p:spPr>
          <a:xfrm>
            <a:off x="6119794" y="3077505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D7EA8"/>
                </a:solidFill>
              </a:rPr>
              <a:t>→</a:t>
            </a:r>
            <a:endParaRPr lang="en-US" sz="634" dirty="0"/>
          </a:p>
        </p:txBody>
      </p:sp>
      <p:sp>
        <p:nvSpPr>
          <p:cNvPr id="41" name="Text 35"/>
          <p:cNvSpPr/>
          <p:nvPr/>
        </p:nvSpPr>
        <p:spPr>
          <a:xfrm>
            <a:off x="6119794" y="3273958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0D7EA8"/>
                </a:solidFill>
              </a:rPr>
              <a:t>→</a:t>
            </a:r>
            <a:endParaRPr lang="en-US" sz="634" dirty="0"/>
          </a:p>
        </p:txBody>
      </p:sp>
      <p:sp>
        <p:nvSpPr>
          <p:cNvPr id="42" name="Text 36"/>
          <p:cNvSpPr/>
          <p:nvPr/>
        </p:nvSpPr>
        <p:spPr>
          <a:xfrm>
            <a:off x="357188" y="4443413"/>
            <a:ext cx="13076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D7EA8"/>
                </a:solidFill>
              </a:rPr>
              <a:t>6</a:t>
            </a:r>
            <a:endParaRPr lang="en-US" sz="1602" dirty="0"/>
          </a:p>
        </p:txBody>
      </p:sp>
      <p:sp>
        <p:nvSpPr>
          <p:cNvPr id="43" name="Text 37"/>
          <p:cNvSpPr/>
          <p:nvPr/>
        </p:nvSpPr>
        <p:spPr>
          <a:xfrm>
            <a:off x="595108" y="4544848"/>
            <a:ext cx="2391315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API Endpoints for complete authentication lifecycle</a:t>
            </a:r>
            <a:endParaRPr lang="en-US" sz="727" dirty="0"/>
          </a:p>
        </p:txBody>
      </p:sp>
      <p:sp>
        <p:nvSpPr>
          <p:cNvPr id="44" name="Text 38"/>
          <p:cNvSpPr/>
          <p:nvPr/>
        </p:nvSpPr>
        <p:spPr>
          <a:xfrm>
            <a:off x="4679156" y="4443413"/>
            <a:ext cx="39229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0D7EA8"/>
                </a:solidFill>
              </a:rPr>
              <a:t>100</a:t>
            </a:r>
            <a:endParaRPr lang="en-US" sz="1602" dirty="0"/>
          </a:p>
        </p:txBody>
      </p:sp>
      <p:sp>
        <p:nvSpPr>
          <p:cNvPr id="45" name="Text 39"/>
          <p:cNvSpPr/>
          <p:nvPr/>
        </p:nvSpPr>
        <p:spPr>
          <a:xfrm>
            <a:off x="5178605" y="4544848"/>
            <a:ext cx="1612227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Requests per 15 minutes rate limit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519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3721336" cy="521494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A52"/>
                </a:solidFill>
              </a:rPr>
              <a:t>Architecture: Layered Design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357188" y="1092994"/>
            <a:ext cx="8429625" cy="58076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2"/>
          <p:cNvSpPr/>
          <p:nvPr/>
        </p:nvSpPr>
        <p:spPr>
          <a:xfrm>
            <a:off x="357188" y="1092994"/>
            <a:ext cx="35719" cy="580765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6" name="Shape 3"/>
          <p:cNvSpPr/>
          <p:nvPr/>
        </p:nvSpPr>
        <p:spPr>
          <a:xfrm>
            <a:off x="485775" y="1256574"/>
            <a:ext cx="1000125" cy="253603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7" name="Text 4"/>
          <p:cNvSpPr/>
          <p:nvPr/>
        </p:nvSpPr>
        <p:spPr>
          <a:xfrm>
            <a:off x="485775" y="1256574"/>
            <a:ext cx="1000125" cy="25360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Routes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1628775" y="1221581"/>
            <a:ext cx="70294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A52"/>
                </a:solidFill>
              </a:rPr>
              <a:t>Express Route Handlers</a:t>
            </a:r>
            <a:endParaRPr lang="en-US" sz="734" dirty="0"/>
          </a:p>
        </p:txBody>
      </p:sp>
      <p:sp>
        <p:nvSpPr>
          <p:cNvPr id="9" name="Text 6"/>
          <p:cNvSpPr/>
          <p:nvPr/>
        </p:nvSpPr>
        <p:spPr>
          <a:xfrm>
            <a:off x="1628775" y="1425178"/>
            <a:ext cx="70294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HTTP endpoint definitions for registration, login, refresh, logout, and user profile retrieval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357188" y="1702333"/>
            <a:ext cx="8429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0D7EA8"/>
                </a:solidFill>
              </a:rPr>
              <a:t>↓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357188" y="1923790"/>
            <a:ext cx="8429625" cy="58076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2" name="Shape 9"/>
          <p:cNvSpPr/>
          <p:nvPr/>
        </p:nvSpPr>
        <p:spPr>
          <a:xfrm>
            <a:off x="357188" y="1923790"/>
            <a:ext cx="35719" cy="580765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13" name="Shape 10"/>
          <p:cNvSpPr/>
          <p:nvPr/>
        </p:nvSpPr>
        <p:spPr>
          <a:xfrm>
            <a:off x="485775" y="2087370"/>
            <a:ext cx="1000125" cy="253603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14" name="Text 11"/>
          <p:cNvSpPr/>
          <p:nvPr/>
        </p:nvSpPr>
        <p:spPr>
          <a:xfrm>
            <a:off x="485775" y="2087370"/>
            <a:ext cx="1000125" cy="25360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Services</a:t>
            </a:r>
            <a:endParaRPr lang="en-US" sz="634" dirty="0"/>
          </a:p>
        </p:txBody>
      </p:sp>
      <p:sp>
        <p:nvSpPr>
          <p:cNvPr id="15" name="Text 12"/>
          <p:cNvSpPr/>
          <p:nvPr/>
        </p:nvSpPr>
        <p:spPr>
          <a:xfrm>
            <a:off x="1628775" y="2052377"/>
            <a:ext cx="70294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A52"/>
                </a:solidFill>
              </a:rPr>
              <a:t>Business Logic</a:t>
            </a:r>
            <a:endParaRPr lang="en-US" sz="734" dirty="0"/>
          </a:p>
        </p:txBody>
      </p:sp>
      <p:sp>
        <p:nvSpPr>
          <p:cNvPr id="16" name="Text 13"/>
          <p:cNvSpPr/>
          <p:nvPr/>
        </p:nvSpPr>
        <p:spPr>
          <a:xfrm>
            <a:off x="1628775" y="2255974"/>
            <a:ext cx="70294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Core authentication logic including user registration, login, token generation, and profile retrieval</a:t>
            </a:r>
            <a:endParaRPr lang="en-US" sz="621" dirty="0"/>
          </a:p>
        </p:txBody>
      </p:sp>
      <p:sp>
        <p:nvSpPr>
          <p:cNvPr id="17" name="Text 14"/>
          <p:cNvSpPr/>
          <p:nvPr/>
        </p:nvSpPr>
        <p:spPr>
          <a:xfrm>
            <a:off x="357188" y="2533129"/>
            <a:ext cx="8429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0D7EA8"/>
                </a:solidFill>
              </a:rPr>
              <a:t>↓</a:t>
            </a:r>
            <a:endParaRPr lang="en-US" sz="942" dirty="0"/>
          </a:p>
        </p:txBody>
      </p:sp>
      <p:sp>
        <p:nvSpPr>
          <p:cNvPr id="18" name="Shape 15"/>
          <p:cNvSpPr/>
          <p:nvPr/>
        </p:nvSpPr>
        <p:spPr>
          <a:xfrm>
            <a:off x="357188" y="2754585"/>
            <a:ext cx="8429625" cy="580765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9" name="Shape 16"/>
          <p:cNvSpPr/>
          <p:nvPr/>
        </p:nvSpPr>
        <p:spPr>
          <a:xfrm>
            <a:off x="357188" y="2754585"/>
            <a:ext cx="35719" cy="580765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20" name="Shape 17"/>
          <p:cNvSpPr/>
          <p:nvPr/>
        </p:nvSpPr>
        <p:spPr>
          <a:xfrm>
            <a:off x="485775" y="2918166"/>
            <a:ext cx="1000125" cy="253603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21" name="Text 18"/>
          <p:cNvSpPr/>
          <p:nvPr/>
        </p:nvSpPr>
        <p:spPr>
          <a:xfrm>
            <a:off x="485775" y="2918166"/>
            <a:ext cx="1000125" cy="25360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Repository</a:t>
            </a:r>
            <a:endParaRPr lang="en-US" sz="634" dirty="0"/>
          </a:p>
        </p:txBody>
      </p:sp>
      <p:sp>
        <p:nvSpPr>
          <p:cNvPr id="22" name="Text 19"/>
          <p:cNvSpPr/>
          <p:nvPr/>
        </p:nvSpPr>
        <p:spPr>
          <a:xfrm>
            <a:off x="1628775" y="2883173"/>
            <a:ext cx="70294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A52"/>
                </a:solidFill>
              </a:rPr>
              <a:t>Data Access</a:t>
            </a:r>
            <a:endParaRPr lang="en-US" sz="734" dirty="0"/>
          </a:p>
        </p:txBody>
      </p:sp>
      <p:sp>
        <p:nvSpPr>
          <p:cNvPr id="23" name="Text 20"/>
          <p:cNvSpPr/>
          <p:nvPr/>
        </p:nvSpPr>
        <p:spPr>
          <a:xfrm>
            <a:off x="1628775" y="3086770"/>
            <a:ext cx="70294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Database operations for user CRUD operations with parameterized queries and connection pooling</a:t>
            </a:r>
            <a:endParaRPr lang="en-US" sz="621" dirty="0"/>
          </a:p>
        </p:txBody>
      </p:sp>
      <p:sp>
        <p:nvSpPr>
          <p:cNvPr id="24" name="Text 21"/>
          <p:cNvSpPr/>
          <p:nvPr/>
        </p:nvSpPr>
        <p:spPr>
          <a:xfrm>
            <a:off x="357188" y="3363925"/>
            <a:ext cx="8429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0D7EA8"/>
                </a:solidFill>
              </a:rPr>
              <a:t>↓</a:t>
            </a:r>
            <a:endParaRPr lang="en-US" sz="942" dirty="0"/>
          </a:p>
        </p:txBody>
      </p:sp>
      <p:sp>
        <p:nvSpPr>
          <p:cNvPr id="25" name="Shape 22"/>
          <p:cNvSpPr/>
          <p:nvPr/>
        </p:nvSpPr>
        <p:spPr>
          <a:xfrm>
            <a:off x="357188" y="3585381"/>
            <a:ext cx="8429625" cy="580765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26" name="Shape 23"/>
          <p:cNvSpPr/>
          <p:nvPr/>
        </p:nvSpPr>
        <p:spPr>
          <a:xfrm>
            <a:off x="357188" y="3585381"/>
            <a:ext cx="35719" cy="580765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7" name="Shape 24"/>
          <p:cNvSpPr/>
          <p:nvPr/>
        </p:nvSpPr>
        <p:spPr>
          <a:xfrm>
            <a:off x="485775" y="3748962"/>
            <a:ext cx="1000125" cy="253603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8" name="Text 25"/>
          <p:cNvSpPr/>
          <p:nvPr/>
        </p:nvSpPr>
        <p:spPr>
          <a:xfrm>
            <a:off x="485775" y="3748962"/>
            <a:ext cx="1000125" cy="253603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Middleware</a:t>
            </a:r>
            <a:endParaRPr lang="en-US" sz="634" dirty="0"/>
          </a:p>
        </p:txBody>
      </p:sp>
      <p:sp>
        <p:nvSpPr>
          <p:cNvPr id="29" name="Text 26"/>
          <p:cNvSpPr/>
          <p:nvPr/>
        </p:nvSpPr>
        <p:spPr>
          <a:xfrm>
            <a:off x="1628775" y="3713969"/>
            <a:ext cx="70294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A52"/>
                </a:solidFill>
              </a:rPr>
              <a:t>Authentication &amp; Security</a:t>
            </a:r>
            <a:endParaRPr lang="en-US" sz="734" dirty="0"/>
          </a:p>
        </p:txBody>
      </p:sp>
      <p:sp>
        <p:nvSpPr>
          <p:cNvPr id="30" name="Text 27"/>
          <p:cNvSpPr/>
          <p:nvPr/>
        </p:nvSpPr>
        <p:spPr>
          <a:xfrm>
            <a:off x="1628775" y="3917566"/>
            <a:ext cx="7029450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JWT token validation, user verification, rate limiting, CORS, and security headers</a:t>
            </a:r>
            <a:endParaRPr lang="en-US" sz="621" dirty="0"/>
          </a:p>
        </p:txBody>
      </p:sp>
      <p:sp>
        <p:nvSpPr>
          <p:cNvPr id="31" name="Shape 28"/>
          <p:cNvSpPr/>
          <p:nvPr/>
        </p:nvSpPr>
        <p:spPr>
          <a:xfrm>
            <a:off x="357188" y="4430464"/>
            <a:ext cx="8429625" cy="46434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2" name="Shape 29"/>
          <p:cNvSpPr/>
          <p:nvPr/>
        </p:nvSpPr>
        <p:spPr>
          <a:xfrm>
            <a:off x="357188" y="4430464"/>
            <a:ext cx="28575" cy="464344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33" name="Shape 30"/>
          <p:cNvSpPr/>
          <p:nvPr/>
        </p:nvSpPr>
        <p:spPr>
          <a:xfrm>
            <a:off x="464344" y="4537621"/>
            <a:ext cx="250031" cy="250031"/>
          </a:xfrm>
          <a:prstGeom prst="ellipse">
            <a:avLst/>
          </a:prstGeom>
          <a:solidFill>
            <a:srgbClr val="0D7EA8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97" y="4605486"/>
            <a:ext cx="85725" cy="1143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800100" y="4598343"/>
            <a:ext cx="224542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Next: Database Layer, Utilities, and Connection Pooling</a:t>
            </a:r>
            <a:endParaRPr lang="en-US" sz="58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485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0031" y="250031"/>
            <a:ext cx="3993440" cy="521494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A52"/>
                </a:solidFill>
              </a:rPr>
              <a:t>Architecture: Data and Utilities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250031" y="878681"/>
            <a:ext cx="321469" cy="321469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007" y="960834"/>
            <a:ext cx="137517" cy="157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7225" y="942975"/>
            <a:ext cx="99658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A52"/>
                </a:solidFill>
              </a:rPr>
              <a:t>Database Layer</a:t>
            </a:r>
            <a:endParaRPr lang="en-US" sz="885" dirty="0"/>
          </a:p>
        </p:txBody>
      </p:sp>
      <p:sp>
        <p:nvSpPr>
          <p:cNvPr id="7" name="Shape 3"/>
          <p:cNvSpPr/>
          <p:nvPr/>
        </p:nvSpPr>
        <p:spPr>
          <a:xfrm>
            <a:off x="250031" y="1328738"/>
            <a:ext cx="4250531" cy="111369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Shape 4"/>
          <p:cNvSpPr/>
          <p:nvPr/>
        </p:nvSpPr>
        <p:spPr>
          <a:xfrm>
            <a:off x="250031" y="1328738"/>
            <a:ext cx="35719" cy="1113699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9" name="Text 5"/>
          <p:cNvSpPr/>
          <p:nvPr/>
        </p:nvSpPr>
        <p:spPr>
          <a:xfrm>
            <a:off x="335756" y="1414463"/>
            <a:ext cx="40790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MySQL Data Store</a:t>
            </a:r>
            <a:endParaRPr lang="en-US" sz="634" dirty="0"/>
          </a:p>
        </p:txBody>
      </p:sp>
      <p:sp>
        <p:nvSpPr>
          <p:cNvPr id="10" name="Text 6"/>
          <p:cNvSpPr/>
          <p:nvPr/>
        </p:nvSpPr>
        <p:spPr>
          <a:xfrm>
            <a:off x="335756" y="1596628"/>
            <a:ext cx="4079081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Persistent storage for user accounts, credentials, and account status with connection pooling</a:t>
            </a:r>
            <a:endParaRPr lang="en-US" sz="568" dirty="0"/>
          </a:p>
        </p:txBody>
      </p:sp>
      <p:sp>
        <p:nvSpPr>
          <p:cNvPr id="11" name="Text 7"/>
          <p:cNvSpPr/>
          <p:nvPr/>
        </p:nvSpPr>
        <p:spPr>
          <a:xfrm>
            <a:off x="335756" y="1842362"/>
            <a:ext cx="4079081" cy="10715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User account storage</a:t>
            </a:r>
            <a:endParaRPr lang="en-US" sz="516" dirty="0"/>
          </a:p>
        </p:txBody>
      </p:sp>
      <p:sp>
        <p:nvSpPr>
          <p:cNvPr id="12" name="Text 8"/>
          <p:cNvSpPr/>
          <p:nvPr/>
        </p:nvSpPr>
        <p:spPr>
          <a:xfrm>
            <a:off x="335756" y="1978093"/>
            <a:ext cx="4079081" cy="10715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Credential management</a:t>
            </a:r>
            <a:endParaRPr lang="en-US" sz="516" dirty="0"/>
          </a:p>
        </p:txBody>
      </p:sp>
      <p:sp>
        <p:nvSpPr>
          <p:cNvPr id="13" name="Text 9"/>
          <p:cNvSpPr/>
          <p:nvPr/>
        </p:nvSpPr>
        <p:spPr>
          <a:xfrm>
            <a:off x="335756" y="2113824"/>
            <a:ext cx="4079081" cy="10715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Account status tracking</a:t>
            </a:r>
            <a:endParaRPr lang="en-US" sz="516" dirty="0"/>
          </a:p>
        </p:txBody>
      </p:sp>
      <p:sp>
        <p:nvSpPr>
          <p:cNvPr id="14" name="Text 10"/>
          <p:cNvSpPr/>
          <p:nvPr/>
        </p:nvSpPr>
        <p:spPr>
          <a:xfrm>
            <a:off x="335756" y="2249556"/>
            <a:ext cx="4079081" cy="10715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Timestamp management</a:t>
            </a:r>
            <a:endParaRPr lang="en-US" sz="516" dirty="0"/>
          </a:p>
        </p:txBody>
      </p:sp>
      <p:sp>
        <p:nvSpPr>
          <p:cNvPr id="15" name="Shape 11"/>
          <p:cNvSpPr/>
          <p:nvPr/>
        </p:nvSpPr>
        <p:spPr>
          <a:xfrm>
            <a:off x="250031" y="2513874"/>
            <a:ext cx="4250531" cy="1113699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16" name="Shape 12"/>
          <p:cNvSpPr/>
          <p:nvPr/>
        </p:nvSpPr>
        <p:spPr>
          <a:xfrm>
            <a:off x="250031" y="2513874"/>
            <a:ext cx="35719" cy="1113699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3"/>
          <p:cNvSpPr/>
          <p:nvPr/>
        </p:nvSpPr>
        <p:spPr>
          <a:xfrm>
            <a:off x="335756" y="1842362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0D7EA8"/>
                </a:solidFill>
              </a:rPr>
              <a:t>→</a:t>
            </a:r>
            <a:endParaRPr lang="en-US" sz="485" dirty="0"/>
          </a:p>
        </p:txBody>
      </p:sp>
      <p:sp>
        <p:nvSpPr>
          <p:cNvPr id="18" name="Text 14"/>
          <p:cNvSpPr/>
          <p:nvPr/>
        </p:nvSpPr>
        <p:spPr>
          <a:xfrm>
            <a:off x="335756" y="1978093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0D7EA8"/>
                </a:solidFill>
              </a:rPr>
              <a:t>→</a:t>
            </a:r>
            <a:endParaRPr lang="en-US" sz="485" dirty="0"/>
          </a:p>
        </p:txBody>
      </p:sp>
      <p:sp>
        <p:nvSpPr>
          <p:cNvPr id="19" name="Text 15"/>
          <p:cNvSpPr/>
          <p:nvPr/>
        </p:nvSpPr>
        <p:spPr>
          <a:xfrm>
            <a:off x="335756" y="2113824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0D7EA8"/>
                </a:solidFill>
              </a:rPr>
              <a:t>→</a:t>
            </a:r>
            <a:endParaRPr lang="en-US" sz="485" dirty="0"/>
          </a:p>
        </p:txBody>
      </p:sp>
      <p:sp>
        <p:nvSpPr>
          <p:cNvPr id="20" name="Text 16"/>
          <p:cNvSpPr/>
          <p:nvPr/>
        </p:nvSpPr>
        <p:spPr>
          <a:xfrm>
            <a:off x="335756" y="2249556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0D7EA8"/>
                </a:solidFill>
              </a:rPr>
              <a:t>→</a:t>
            </a:r>
            <a:endParaRPr lang="en-US" sz="485" dirty="0"/>
          </a:p>
        </p:txBody>
      </p:sp>
      <p:sp>
        <p:nvSpPr>
          <p:cNvPr id="21" name="Text 17"/>
          <p:cNvSpPr/>
          <p:nvPr/>
        </p:nvSpPr>
        <p:spPr>
          <a:xfrm>
            <a:off x="335756" y="2599599"/>
            <a:ext cx="40790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Connection Pooling</a:t>
            </a:r>
            <a:endParaRPr lang="en-US" sz="634" dirty="0"/>
          </a:p>
        </p:txBody>
      </p:sp>
      <p:sp>
        <p:nvSpPr>
          <p:cNvPr id="22" name="Text 18"/>
          <p:cNvSpPr/>
          <p:nvPr/>
        </p:nvSpPr>
        <p:spPr>
          <a:xfrm>
            <a:off x="335756" y="2781765"/>
            <a:ext cx="4079081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Efficient database connection management with configurable pool size and queue limits</a:t>
            </a:r>
            <a:endParaRPr lang="en-US" sz="568" dirty="0"/>
          </a:p>
        </p:txBody>
      </p:sp>
      <p:sp>
        <p:nvSpPr>
          <p:cNvPr id="23" name="Text 19"/>
          <p:cNvSpPr/>
          <p:nvPr/>
        </p:nvSpPr>
        <p:spPr>
          <a:xfrm>
            <a:off x="335756" y="3027499"/>
            <a:ext cx="4079081" cy="10715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Min connections: 2</a:t>
            </a:r>
            <a:endParaRPr lang="en-US" sz="516" dirty="0"/>
          </a:p>
        </p:txBody>
      </p:sp>
      <p:sp>
        <p:nvSpPr>
          <p:cNvPr id="24" name="Text 20"/>
          <p:cNvSpPr/>
          <p:nvPr/>
        </p:nvSpPr>
        <p:spPr>
          <a:xfrm>
            <a:off x="335756" y="3163230"/>
            <a:ext cx="4079081" cy="10715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Max connections: 10</a:t>
            </a:r>
            <a:endParaRPr lang="en-US" sz="516" dirty="0"/>
          </a:p>
        </p:txBody>
      </p:sp>
      <p:sp>
        <p:nvSpPr>
          <p:cNvPr id="25" name="Text 21"/>
          <p:cNvSpPr/>
          <p:nvPr/>
        </p:nvSpPr>
        <p:spPr>
          <a:xfrm>
            <a:off x="335756" y="3298961"/>
            <a:ext cx="4079081" cy="10715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Queue limit: 0</a:t>
            </a:r>
            <a:endParaRPr lang="en-US" sz="516" dirty="0"/>
          </a:p>
        </p:txBody>
      </p:sp>
      <p:sp>
        <p:nvSpPr>
          <p:cNvPr id="26" name="Text 22"/>
          <p:cNvSpPr/>
          <p:nvPr/>
        </p:nvSpPr>
        <p:spPr>
          <a:xfrm>
            <a:off x="335756" y="3434693"/>
            <a:ext cx="4079081" cy="10715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Connection timeout: 10s</a:t>
            </a:r>
            <a:endParaRPr lang="en-US" sz="516" dirty="0"/>
          </a:p>
        </p:txBody>
      </p:sp>
      <p:sp>
        <p:nvSpPr>
          <p:cNvPr id="27" name="Text 23"/>
          <p:cNvSpPr/>
          <p:nvPr/>
        </p:nvSpPr>
        <p:spPr>
          <a:xfrm>
            <a:off x="335756" y="3027499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F39C12"/>
                </a:solidFill>
              </a:rPr>
              <a:t>→</a:t>
            </a:r>
            <a:endParaRPr lang="en-US" sz="485" dirty="0"/>
          </a:p>
        </p:txBody>
      </p:sp>
      <p:sp>
        <p:nvSpPr>
          <p:cNvPr id="28" name="Text 24"/>
          <p:cNvSpPr/>
          <p:nvPr/>
        </p:nvSpPr>
        <p:spPr>
          <a:xfrm>
            <a:off x="335756" y="3163230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F39C12"/>
                </a:solidFill>
              </a:rPr>
              <a:t>→</a:t>
            </a:r>
            <a:endParaRPr lang="en-US" sz="485" dirty="0"/>
          </a:p>
        </p:txBody>
      </p:sp>
      <p:sp>
        <p:nvSpPr>
          <p:cNvPr id="29" name="Text 25"/>
          <p:cNvSpPr/>
          <p:nvPr/>
        </p:nvSpPr>
        <p:spPr>
          <a:xfrm>
            <a:off x="335756" y="3298961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F39C12"/>
                </a:solidFill>
              </a:rPr>
              <a:t>→</a:t>
            </a:r>
            <a:endParaRPr lang="en-US" sz="485" dirty="0"/>
          </a:p>
        </p:txBody>
      </p:sp>
      <p:sp>
        <p:nvSpPr>
          <p:cNvPr id="30" name="Text 26"/>
          <p:cNvSpPr/>
          <p:nvPr/>
        </p:nvSpPr>
        <p:spPr>
          <a:xfrm>
            <a:off x="335756" y="3434693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F39C12"/>
                </a:solidFill>
              </a:rPr>
              <a:t>→</a:t>
            </a:r>
            <a:endParaRPr lang="en-US" sz="485" dirty="0"/>
          </a:p>
        </p:txBody>
      </p:sp>
      <p:sp>
        <p:nvSpPr>
          <p:cNvPr id="31" name="Shape 27"/>
          <p:cNvSpPr/>
          <p:nvPr/>
        </p:nvSpPr>
        <p:spPr>
          <a:xfrm>
            <a:off x="4643438" y="878681"/>
            <a:ext cx="321469" cy="321469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945" y="960834"/>
            <a:ext cx="196453" cy="157163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050631" y="942975"/>
            <a:ext cx="106176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3A52"/>
                </a:solidFill>
              </a:rPr>
              <a:t>Utility Functions</a:t>
            </a:r>
            <a:endParaRPr lang="en-US" sz="885" dirty="0"/>
          </a:p>
        </p:txBody>
      </p:sp>
      <p:sp>
        <p:nvSpPr>
          <p:cNvPr id="34" name="Shape 29"/>
          <p:cNvSpPr/>
          <p:nvPr/>
        </p:nvSpPr>
        <p:spPr>
          <a:xfrm>
            <a:off x="4643438" y="1328738"/>
            <a:ext cx="4250531" cy="111369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5" name="Shape 30"/>
          <p:cNvSpPr/>
          <p:nvPr/>
        </p:nvSpPr>
        <p:spPr>
          <a:xfrm>
            <a:off x="4643438" y="1328738"/>
            <a:ext cx="35719" cy="1113699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36" name="Text 31"/>
          <p:cNvSpPr/>
          <p:nvPr/>
        </p:nvSpPr>
        <p:spPr>
          <a:xfrm>
            <a:off x="4729163" y="1414463"/>
            <a:ext cx="40790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JWT Token Generation</a:t>
            </a:r>
            <a:endParaRPr lang="en-US" sz="634" dirty="0"/>
          </a:p>
        </p:txBody>
      </p:sp>
      <p:sp>
        <p:nvSpPr>
          <p:cNvPr id="37" name="Text 32"/>
          <p:cNvSpPr/>
          <p:nvPr/>
        </p:nvSpPr>
        <p:spPr>
          <a:xfrm>
            <a:off x="4729163" y="1596628"/>
            <a:ext cx="4079081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Create secure JWT tokens with user claims and expiration</a:t>
            </a:r>
            <a:endParaRPr lang="en-US" sz="568" dirty="0"/>
          </a:p>
        </p:txBody>
      </p:sp>
      <p:sp>
        <p:nvSpPr>
          <p:cNvPr id="38" name="Text 33"/>
          <p:cNvSpPr/>
          <p:nvPr/>
        </p:nvSpPr>
        <p:spPr>
          <a:xfrm>
            <a:off x="4729163" y="1842362"/>
            <a:ext cx="4079081" cy="10715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HS256 algorithm</a:t>
            </a:r>
            <a:endParaRPr lang="en-US" sz="516" dirty="0"/>
          </a:p>
        </p:txBody>
      </p:sp>
      <p:sp>
        <p:nvSpPr>
          <p:cNvPr id="39" name="Text 34"/>
          <p:cNvSpPr/>
          <p:nvPr/>
        </p:nvSpPr>
        <p:spPr>
          <a:xfrm>
            <a:off x="4729163" y="1978093"/>
            <a:ext cx="4079081" cy="10715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Access token: 15 min</a:t>
            </a:r>
            <a:endParaRPr lang="en-US" sz="516" dirty="0"/>
          </a:p>
        </p:txBody>
      </p:sp>
      <p:sp>
        <p:nvSpPr>
          <p:cNvPr id="40" name="Text 35"/>
          <p:cNvSpPr/>
          <p:nvPr/>
        </p:nvSpPr>
        <p:spPr>
          <a:xfrm>
            <a:off x="4729163" y="2113824"/>
            <a:ext cx="4079081" cy="10715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Refresh token: 7 days</a:t>
            </a:r>
            <a:endParaRPr lang="en-US" sz="516" dirty="0"/>
          </a:p>
        </p:txBody>
      </p:sp>
      <p:sp>
        <p:nvSpPr>
          <p:cNvPr id="41" name="Text 36"/>
          <p:cNvSpPr/>
          <p:nvPr/>
        </p:nvSpPr>
        <p:spPr>
          <a:xfrm>
            <a:off x="4729163" y="2249556"/>
            <a:ext cx="4079081" cy="10715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User ID &amp; email payload</a:t>
            </a:r>
            <a:endParaRPr lang="en-US" sz="516" dirty="0"/>
          </a:p>
        </p:txBody>
      </p:sp>
      <p:sp>
        <p:nvSpPr>
          <p:cNvPr id="42" name="Shape 37"/>
          <p:cNvSpPr/>
          <p:nvPr/>
        </p:nvSpPr>
        <p:spPr>
          <a:xfrm>
            <a:off x="4643438" y="2513874"/>
            <a:ext cx="4250531" cy="111369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3" name="Shape 38"/>
          <p:cNvSpPr/>
          <p:nvPr/>
        </p:nvSpPr>
        <p:spPr>
          <a:xfrm>
            <a:off x="4643438" y="2513874"/>
            <a:ext cx="35719" cy="1113699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44" name="Text 39"/>
          <p:cNvSpPr/>
          <p:nvPr/>
        </p:nvSpPr>
        <p:spPr>
          <a:xfrm>
            <a:off x="4729163" y="1842362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0D7EA8"/>
                </a:solidFill>
              </a:rPr>
              <a:t>→</a:t>
            </a:r>
            <a:endParaRPr lang="en-US" sz="485" dirty="0"/>
          </a:p>
        </p:txBody>
      </p:sp>
      <p:sp>
        <p:nvSpPr>
          <p:cNvPr id="45" name="Text 40"/>
          <p:cNvSpPr/>
          <p:nvPr/>
        </p:nvSpPr>
        <p:spPr>
          <a:xfrm>
            <a:off x="4729163" y="1978093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0D7EA8"/>
                </a:solidFill>
              </a:rPr>
              <a:t>→</a:t>
            </a:r>
            <a:endParaRPr lang="en-US" sz="485" dirty="0"/>
          </a:p>
        </p:txBody>
      </p:sp>
      <p:sp>
        <p:nvSpPr>
          <p:cNvPr id="46" name="Text 41"/>
          <p:cNvSpPr/>
          <p:nvPr/>
        </p:nvSpPr>
        <p:spPr>
          <a:xfrm>
            <a:off x="4729163" y="2113824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0D7EA8"/>
                </a:solidFill>
              </a:rPr>
              <a:t>→</a:t>
            </a:r>
            <a:endParaRPr lang="en-US" sz="485" dirty="0"/>
          </a:p>
        </p:txBody>
      </p:sp>
      <p:sp>
        <p:nvSpPr>
          <p:cNvPr id="47" name="Text 42"/>
          <p:cNvSpPr/>
          <p:nvPr/>
        </p:nvSpPr>
        <p:spPr>
          <a:xfrm>
            <a:off x="4729163" y="2249556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0D7EA8"/>
                </a:solidFill>
              </a:rPr>
              <a:t>→</a:t>
            </a:r>
            <a:endParaRPr lang="en-US" sz="485" dirty="0"/>
          </a:p>
        </p:txBody>
      </p:sp>
      <p:sp>
        <p:nvSpPr>
          <p:cNvPr id="48" name="Text 43"/>
          <p:cNvSpPr/>
          <p:nvPr/>
        </p:nvSpPr>
        <p:spPr>
          <a:xfrm>
            <a:off x="4729163" y="2599599"/>
            <a:ext cx="40790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Password Security</a:t>
            </a:r>
            <a:endParaRPr lang="en-US" sz="634" dirty="0"/>
          </a:p>
        </p:txBody>
      </p:sp>
      <p:sp>
        <p:nvSpPr>
          <p:cNvPr id="49" name="Text 44"/>
          <p:cNvSpPr/>
          <p:nvPr/>
        </p:nvSpPr>
        <p:spPr>
          <a:xfrm>
            <a:off x="4729163" y="2781765"/>
            <a:ext cx="4079081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Hash and verify passwords using bcryptjs with strong salt rounds</a:t>
            </a:r>
            <a:endParaRPr lang="en-US" sz="568" dirty="0"/>
          </a:p>
        </p:txBody>
      </p:sp>
      <p:sp>
        <p:nvSpPr>
          <p:cNvPr id="50" name="Text 45"/>
          <p:cNvSpPr/>
          <p:nvPr/>
        </p:nvSpPr>
        <p:spPr>
          <a:xfrm>
            <a:off x="4729163" y="3027499"/>
            <a:ext cx="4079081" cy="10715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Bcryptjs hashing</a:t>
            </a:r>
            <a:endParaRPr lang="en-US" sz="516" dirty="0"/>
          </a:p>
        </p:txBody>
      </p:sp>
      <p:sp>
        <p:nvSpPr>
          <p:cNvPr id="51" name="Text 46"/>
          <p:cNvSpPr/>
          <p:nvPr/>
        </p:nvSpPr>
        <p:spPr>
          <a:xfrm>
            <a:off x="4729163" y="3163230"/>
            <a:ext cx="4079081" cy="10715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Salt rounds: 12</a:t>
            </a:r>
            <a:endParaRPr lang="en-US" sz="516" dirty="0"/>
          </a:p>
        </p:txBody>
      </p:sp>
      <p:sp>
        <p:nvSpPr>
          <p:cNvPr id="52" name="Text 47"/>
          <p:cNvSpPr/>
          <p:nvPr/>
        </p:nvSpPr>
        <p:spPr>
          <a:xfrm>
            <a:off x="4729163" y="3298961"/>
            <a:ext cx="4079081" cy="10715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Secure comparison</a:t>
            </a:r>
            <a:endParaRPr lang="en-US" sz="516" dirty="0"/>
          </a:p>
        </p:txBody>
      </p:sp>
      <p:sp>
        <p:nvSpPr>
          <p:cNvPr id="53" name="Text 48"/>
          <p:cNvSpPr/>
          <p:nvPr/>
        </p:nvSpPr>
        <p:spPr>
          <a:xfrm>
            <a:off x="4729163" y="3434693"/>
            <a:ext cx="4079081" cy="10715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No plaintext storage</a:t>
            </a:r>
            <a:endParaRPr lang="en-US" sz="516" dirty="0"/>
          </a:p>
        </p:txBody>
      </p:sp>
      <p:sp>
        <p:nvSpPr>
          <p:cNvPr id="54" name="Shape 49"/>
          <p:cNvSpPr/>
          <p:nvPr/>
        </p:nvSpPr>
        <p:spPr>
          <a:xfrm>
            <a:off x="4643438" y="3699011"/>
            <a:ext cx="4250531" cy="111369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5" name="Shape 50"/>
          <p:cNvSpPr/>
          <p:nvPr/>
        </p:nvSpPr>
        <p:spPr>
          <a:xfrm>
            <a:off x="4643438" y="3699011"/>
            <a:ext cx="35719" cy="1113699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56" name="Text 51"/>
          <p:cNvSpPr/>
          <p:nvPr/>
        </p:nvSpPr>
        <p:spPr>
          <a:xfrm>
            <a:off x="4729163" y="3027499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0D7EA8"/>
                </a:solidFill>
              </a:rPr>
              <a:t>→</a:t>
            </a:r>
            <a:endParaRPr lang="en-US" sz="485" dirty="0"/>
          </a:p>
        </p:txBody>
      </p:sp>
      <p:sp>
        <p:nvSpPr>
          <p:cNvPr id="57" name="Text 52"/>
          <p:cNvSpPr/>
          <p:nvPr/>
        </p:nvSpPr>
        <p:spPr>
          <a:xfrm>
            <a:off x="4729163" y="3163230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0D7EA8"/>
                </a:solidFill>
              </a:rPr>
              <a:t>→</a:t>
            </a:r>
            <a:endParaRPr lang="en-US" sz="485" dirty="0"/>
          </a:p>
        </p:txBody>
      </p:sp>
      <p:sp>
        <p:nvSpPr>
          <p:cNvPr id="58" name="Text 53"/>
          <p:cNvSpPr/>
          <p:nvPr/>
        </p:nvSpPr>
        <p:spPr>
          <a:xfrm>
            <a:off x="4729163" y="3298961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0D7EA8"/>
                </a:solidFill>
              </a:rPr>
              <a:t>→</a:t>
            </a:r>
            <a:endParaRPr lang="en-US" sz="485" dirty="0"/>
          </a:p>
        </p:txBody>
      </p:sp>
      <p:sp>
        <p:nvSpPr>
          <p:cNvPr id="59" name="Text 54"/>
          <p:cNvSpPr/>
          <p:nvPr/>
        </p:nvSpPr>
        <p:spPr>
          <a:xfrm>
            <a:off x="4729163" y="3434693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0D7EA8"/>
                </a:solidFill>
              </a:rPr>
              <a:t>→</a:t>
            </a:r>
            <a:endParaRPr lang="en-US" sz="485" dirty="0"/>
          </a:p>
        </p:txBody>
      </p:sp>
      <p:sp>
        <p:nvSpPr>
          <p:cNvPr id="60" name="Text 55"/>
          <p:cNvSpPr/>
          <p:nvPr/>
        </p:nvSpPr>
        <p:spPr>
          <a:xfrm>
            <a:off x="4729163" y="3784736"/>
            <a:ext cx="40790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Email &amp; Input Validation</a:t>
            </a:r>
            <a:endParaRPr lang="en-US" sz="634" dirty="0"/>
          </a:p>
        </p:txBody>
      </p:sp>
      <p:sp>
        <p:nvSpPr>
          <p:cNvPr id="61" name="Text 56"/>
          <p:cNvSpPr/>
          <p:nvPr/>
        </p:nvSpPr>
        <p:spPr>
          <a:xfrm>
            <a:off x="4729163" y="3966902"/>
            <a:ext cx="4079081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Validate and sanitize user inputs for data integrity</a:t>
            </a:r>
            <a:endParaRPr lang="en-US" sz="568" dirty="0"/>
          </a:p>
        </p:txBody>
      </p:sp>
      <p:sp>
        <p:nvSpPr>
          <p:cNvPr id="62" name="Text 57"/>
          <p:cNvSpPr/>
          <p:nvPr/>
        </p:nvSpPr>
        <p:spPr>
          <a:xfrm>
            <a:off x="4729163" y="4212636"/>
            <a:ext cx="4079081" cy="10715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Email format validation</a:t>
            </a:r>
            <a:endParaRPr lang="en-US" sz="516" dirty="0"/>
          </a:p>
        </p:txBody>
      </p:sp>
      <p:sp>
        <p:nvSpPr>
          <p:cNvPr id="63" name="Text 58"/>
          <p:cNvSpPr/>
          <p:nvPr/>
        </p:nvSpPr>
        <p:spPr>
          <a:xfrm>
            <a:off x="4729163" y="4348367"/>
            <a:ext cx="4079081" cy="10715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Password complexity check</a:t>
            </a:r>
            <a:endParaRPr lang="en-US" sz="516" dirty="0"/>
          </a:p>
        </p:txBody>
      </p:sp>
      <p:sp>
        <p:nvSpPr>
          <p:cNvPr id="64" name="Text 59"/>
          <p:cNvSpPr/>
          <p:nvPr/>
        </p:nvSpPr>
        <p:spPr>
          <a:xfrm>
            <a:off x="4729163" y="4484098"/>
            <a:ext cx="4079081" cy="10715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Input sanitization</a:t>
            </a:r>
            <a:endParaRPr lang="en-US" sz="516" dirty="0"/>
          </a:p>
        </p:txBody>
      </p:sp>
      <p:sp>
        <p:nvSpPr>
          <p:cNvPr id="65" name="Text 60"/>
          <p:cNvSpPr/>
          <p:nvPr/>
        </p:nvSpPr>
        <p:spPr>
          <a:xfrm>
            <a:off x="4729163" y="4619830"/>
            <a:ext cx="4079081" cy="107156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XSS prevention</a:t>
            </a:r>
            <a:endParaRPr lang="en-US" sz="516" dirty="0"/>
          </a:p>
        </p:txBody>
      </p:sp>
      <p:sp>
        <p:nvSpPr>
          <p:cNvPr id="66" name="Shape 61"/>
          <p:cNvSpPr/>
          <p:nvPr/>
        </p:nvSpPr>
        <p:spPr>
          <a:xfrm>
            <a:off x="250031" y="4919867"/>
            <a:ext cx="8643938" cy="3786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7" name="Shape 62"/>
          <p:cNvSpPr/>
          <p:nvPr/>
        </p:nvSpPr>
        <p:spPr>
          <a:xfrm>
            <a:off x="250031" y="4919867"/>
            <a:ext cx="8643938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68" name="Text 63"/>
          <p:cNvSpPr/>
          <p:nvPr/>
        </p:nvSpPr>
        <p:spPr>
          <a:xfrm>
            <a:off x="4729163" y="4212636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0D7EA8"/>
                </a:solidFill>
              </a:rPr>
              <a:t>→</a:t>
            </a:r>
            <a:endParaRPr lang="en-US" sz="485" dirty="0"/>
          </a:p>
        </p:txBody>
      </p:sp>
      <p:sp>
        <p:nvSpPr>
          <p:cNvPr id="69" name="Text 64"/>
          <p:cNvSpPr/>
          <p:nvPr/>
        </p:nvSpPr>
        <p:spPr>
          <a:xfrm>
            <a:off x="4729163" y="4348367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0D7EA8"/>
                </a:solidFill>
              </a:rPr>
              <a:t>→</a:t>
            </a:r>
            <a:endParaRPr lang="en-US" sz="485" dirty="0"/>
          </a:p>
        </p:txBody>
      </p:sp>
      <p:sp>
        <p:nvSpPr>
          <p:cNvPr id="70" name="Text 65"/>
          <p:cNvSpPr/>
          <p:nvPr/>
        </p:nvSpPr>
        <p:spPr>
          <a:xfrm>
            <a:off x="4729163" y="4484098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0D7EA8"/>
                </a:solidFill>
              </a:rPr>
              <a:t>→</a:t>
            </a:r>
            <a:endParaRPr lang="en-US" sz="485" dirty="0"/>
          </a:p>
        </p:txBody>
      </p:sp>
      <p:sp>
        <p:nvSpPr>
          <p:cNvPr id="71" name="Text 66"/>
          <p:cNvSpPr/>
          <p:nvPr/>
        </p:nvSpPr>
        <p:spPr>
          <a:xfrm>
            <a:off x="4729163" y="4619830"/>
            <a:ext cx="714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0D7EA8"/>
                </a:solidFill>
              </a:rPr>
              <a:t>→</a:t>
            </a:r>
            <a:endParaRPr lang="en-US" sz="485" dirty="0"/>
          </a:p>
        </p:txBody>
      </p:sp>
      <p:sp>
        <p:nvSpPr>
          <p:cNvPr id="72" name="Shape 67"/>
          <p:cNvSpPr/>
          <p:nvPr/>
        </p:nvSpPr>
        <p:spPr>
          <a:xfrm>
            <a:off x="250031" y="5027023"/>
            <a:ext cx="257175" cy="257175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7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3" y="5098461"/>
            <a:ext cx="100013" cy="114300"/>
          </a:xfrm>
          <a:prstGeom prst="rect">
            <a:avLst/>
          </a:prstGeom>
        </p:spPr>
      </p:pic>
      <p:sp>
        <p:nvSpPr>
          <p:cNvPr id="74" name="Text 68"/>
          <p:cNvSpPr/>
          <p:nvPr/>
        </p:nvSpPr>
        <p:spPr>
          <a:xfrm>
            <a:off x="578644" y="5027023"/>
            <a:ext cx="353116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Secure by Design</a:t>
            </a:r>
            <a:endParaRPr lang="en-US" sz="584" dirty="0"/>
          </a:p>
        </p:txBody>
      </p:sp>
      <p:sp>
        <p:nvSpPr>
          <p:cNvPr id="75" name="Text 69"/>
          <p:cNvSpPr/>
          <p:nvPr/>
        </p:nvSpPr>
        <p:spPr>
          <a:xfrm>
            <a:off x="578644" y="5169898"/>
            <a:ext cx="353116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All sensitive operations use industry-standard cryptographic functions and secure comparison algorithms</a:t>
            </a:r>
            <a:endParaRPr lang="en-US" sz="516" dirty="0"/>
          </a:p>
        </p:txBody>
      </p:sp>
      <p:sp>
        <p:nvSpPr>
          <p:cNvPr id="76" name="Shape 70"/>
          <p:cNvSpPr/>
          <p:nvPr/>
        </p:nvSpPr>
        <p:spPr>
          <a:xfrm>
            <a:off x="4643438" y="5027023"/>
            <a:ext cx="257175" cy="257175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7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9163" y="5098461"/>
            <a:ext cx="85725" cy="114300"/>
          </a:xfrm>
          <a:prstGeom prst="rect">
            <a:avLst/>
          </a:prstGeom>
        </p:spPr>
      </p:pic>
      <p:sp>
        <p:nvSpPr>
          <p:cNvPr id="78" name="Text 71"/>
          <p:cNvSpPr/>
          <p:nvPr/>
        </p:nvSpPr>
        <p:spPr>
          <a:xfrm>
            <a:off x="4972050" y="5027023"/>
            <a:ext cx="333906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Performance Optimized</a:t>
            </a:r>
            <a:endParaRPr lang="en-US" sz="584" dirty="0"/>
          </a:p>
        </p:txBody>
      </p:sp>
      <p:sp>
        <p:nvSpPr>
          <p:cNvPr id="79" name="Text 72"/>
          <p:cNvSpPr/>
          <p:nvPr/>
        </p:nvSpPr>
        <p:spPr>
          <a:xfrm>
            <a:off x="4972050" y="5169898"/>
            <a:ext cx="3339061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Connection pooling and efficient query patterns ensure fast response times and resource utilization</a:t>
            </a:r>
            <a:endParaRPr lang="en-US" sz="51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3865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3091514" cy="521494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A52"/>
                </a:solidFill>
              </a:rPr>
              <a:t>API Endpoints Summary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357188" y="1092994"/>
            <a:ext cx="4143375" cy="136802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2"/>
          <p:cNvSpPr/>
          <p:nvPr/>
        </p:nvSpPr>
        <p:spPr>
          <a:xfrm>
            <a:off x="357188" y="1092994"/>
            <a:ext cx="35719" cy="1368028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6" name="Shape 3"/>
          <p:cNvSpPr/>
          <p:nvPr/>
        </p:nvSpPr>
        <p:spPr>
          <a:xfrm>
            <a:off x="500063" y="1235869"/>
            <a:ext cx="376107" cy="214313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7" name="Text 4"/>
          <p:cNvSpPr/>
          <p:nvPr/>
        </p:nvSpPr>
        <p:spPr>
          <a:xfrm>
            <a:off x="500063" y="1235869"/>
            <a:ext cx="376107" cy="214313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POST</a:t>
            </a:r>
            <a:endParaRPr lang="en-US" sz="584" dirty="0"/>
          </a:p>
        </p:txBody>
      </p:sp>
      <p:sp>
        <p:nvSpPr>
          <p:cNvPr id="8" name="Text 5"/>
          <p:cNvSpPr/>
          <p:nvPr/>
        </p:nvSpPr>
        <p:spPr>
          <a:xfrm>
            <a:off x="500063" y="1535906"/>
            <a:ext cx="38576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/v1/api/auth/register</a:t>
            </a:r>
            <a:endParaRPr lang="en-US" sz="634" dirty="0"/>
          </a:p>
        </p:txBody>
      </p:sp>
      <p:sp>
        <p:nvSpPr>
          <p:cNvPr id="9" name="Shape 6"/>
          <p:cNvSpPr/>
          <p:nvPr/>
        </p:nvSpPr>
        <p:spPr>
          <a:xfrm>
            <a:off x="500063" y="1732359"/>
            <a:ext cx="3857625" cy="23574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0" name="Text 7"/>
          <p:cNvSpPr/>
          <p:nvPr/>
        </p:nvSpPr>
        <p:spPr>
          <a:xfrm>
            <a:off x="557213" y="1793081"/>
            <a:ext cx="58528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Authentication:</a:t>
            </a:r>
            <a:endParaRPr lang="en-US" sz="568" dirty="0"/>
          </a:p>
        </p:txBody>
      </p:sp>
      <p:sp>
        <p:nvSpPr>
          <p:cNvPr id="11" name="Shape 8"/>
          <p:cNvSpPr/>
          <p:nvPr/>
        </p:nvSpPr>
        <p:spPr>
          <a:xfrm>
            <a:off x="1199648" y="1775222"/>
            <a:ext cx="396701" cy="150019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9"/>
          <p:cNvSpPr/>
          <p:nvPr/>
        </p:nvSpPr>
        <p:spPr>
          <a:xfrm>
            <a:off x="1199648" y="1775222"/>
            <a:ext cx="396701" cy="150019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Optional</a:t>
            </a:r>
            <a:endParaRPr lang="en-US" sz="485" dirty="0"/>
          </a:p>
        </p:txBody>
      </p:sp>
      <p:sp>
        <p:nvSpPr>
          <p:cNvPr id="13" name="Text 10"/>
          <p:cNvSpPr/>
          <p:nvPr/>
        </p:nvSpPr>
        <p:spPr>
          <a:xfrm>
            <a:off x="500063" y="2039541"/>
            <a:ext cx="38576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Create new user account with email, password, and optional name. Returns user data and JWT tokens.</a:t>
            </a:r>
            <a:endParaRPr lang="en-US" sz="674" dirty="0"/>
          </a:p>
        </p:txBody>
      </p:sp>
      <p:sp>
        <p:nvSpPr>
          <p:cNvPr id="14" name="Shape 11"/>
          <p:cNvSpPr/>
          <p:nvPr/>
        </p:nvSpPr>
        <p:spPr>
          <a:xfrm>
            <a:off x="4643438" y="1092994"/>
            <a:ext cx="4143375" cy="136802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2"/>
          <p:cNvSpPr/>
          <p:nvPr/>
        </p:nvSpPr>
        <p:spPr>
          <a:xfrm>
            <a:off x="4643438" y="1092994"/>
            <a:ext cx="35719" cy="1368028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16" name="Shape 13"/>
          <p:cNvSpPr/>
          <p:nvPr/>
        </p:nvSpPr>
        <p:spPr>
          <a:xfrm>
            <a:off x="4786313" y="1235869"/>
            <a:ext cx="376107" cy="214313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4"/>
          <p:cNvSpPr/>
          <p:nvPr/>
        </p:nvSpPr>
        <p:spPr>
          <a:xfrm>
            <a:off x="4786313" y="1235869"/>
            <a:ext cx="376107" cy="214313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POST</a:t>
            </a:r>
            <a:endParaRPr lang="en-US" sz="584" dirty="0"/>
          </a:p>
        </p:txBody>
      </p:sp>
      <p:sp>
        <p:nvSpPr>
          <p:cNvPr id="18" name="Text 15"/>
          <p:cNvSpPr/>
          <p:nvPr/>
        </p:nvSpPr>
        <p:spPr>
          <a:xfrm>
            <a:off x="4786313" y="1535906"/>
            <a:ext cx="38576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/v1/api/auth/login</a:t>
            </a:r>
            <a:endParaRPr lang="en-US" sz="634" dirty="0"/>
          </a:p>
        </p:txBody>
      </p:sp>
      <p:sp>
        <p:nvSpPr>
          <p:cNvPr id="19" name="Shape 16"/>
          <p:cNvSpPr/>
          <p:nvPr/>
        </p:nvSpPr>
        <p:spPr>
          <a:xfrm>
            <a:off x="4786313" y="1732359"/>
            <a:ext cx="3857625" cy="23574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0" name="Text 17"/>
          <p:cNvSpPr/>
          <p:nvPr/>
        </p:nvSpPr>
        <p:spPr>
          <a:xfrm>
            <a:off x="4843463" y="1793081"/>
            <a:ext cx="58528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Authentication:</a:t>
            </a:r>
            <a:endParaRPr lang="en-US" sz="568" dirty="0"/>
          </a:p>
        </p:txBody>
      </p:sp>
      <p:sp>
        <p:nvSpPr>
          <p:cNvPr id="21" name="Shape 18"/>
          <p:cNvSpPr/>
          <p:nvPr/>
        </p:nvSpPr>
        <p:spPr>
          <a:xfrm>
            <a:off x="5485898" y="1775222"/>
            <a:ext cx="396701" cy="150019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19"/>
          <p:cNvSpPr/>
          <p:nvPr/>
        </p:nvSpPr>
        <p:spPr>
          <a:xfrm>
            <a:off x="5485898" y="1775222"/>
            <a:ext cx="396701" cy="150019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Optional</a:t>
            </a:r>
            <a:endParaRPr lang="en-US" sz="485" dirty="0"/>
          </a:p>
        </p:txBody>
      </p:sp>
      <p:sp>
        <p:nvSpPr>
          <p:cNvPr id="23" name="Text 20"/>
          <p:cNvSpPr/>
          <p:nvPr/>
        </p:nvSpPr>
        <p:spPr>
          <a:xfrm>
            <a:off x="4786313" y="2039541"/>
            <a:ext cx="38576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Authenticate user with email and password. Returns user profile and access/refresh tokens.</a:t>
            </a:r>
            <a:endParaRPr lang="en-US" sz="674" dirty="0"/>
          </a:p>
        </p:txBody>
      </p:sp>
      <p:sp>
        <p:nvSpPr>
          <p:cNvPr id="24" name="Shape 21"/>
          <p:cNvSpPr/>
          <p:nvPr/>
        </p:nvSpPr>
        <p:spPr>
          <a:xfrm>
            <a:off x="357188" y="2603897"/>
            <a:ext cx="4143375" cy="136802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Shape 22"/>
          <p:cNvSpPr/>
          <p:nvPr/>
        </p:nvSpPr>
        <p:spPr>
          <a:xfrm>
            <a:off x="357188" y="2603897"/>
            <a:ext cx="35719" cy="1368028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26" name="Shape 23"/>
          <p:cNvSpPr/>
          <p:nvPr/>
        </p:nvSpPr>
        <p:spPr>
          <a:xfrm>
            <a:off x="500063" y="2746772"/>
            <a:ext cx="376107" cy="214313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7" name="Text 24"/>
          <p:cNvSpPr/>
          <p:nvPr/>
        </p:nvSpPr>
        <p:spPr>
          <a:xfrm>
            <a:off x="500063" y="2746772"/>
            <a:ext cx="376107" cy="214313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POST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500063" y="3046809"/>
            <a:ext cx="38576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/v1/api/auth/refresh</a:t>
            </a:r>
            <a:endParaRPr lang="en-US" sz="634" dirty="0"/>
          </a:p>
        </p:txBody>
      </p:sp>
      <p:sp>
        <p:nvSpPr>
          <p:cNvPr id="29" name="Shape 26"/>
          <p:cNvSpPr/>
          <p:nvPr/>
        </p:nvSpPr>
        <p:spPr>
          <a:xfrm>
            <a:off x="500063" y="3243263"/>
            <a:ext cx="3857625" cy="23574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30" name="Text 27"/>
          <p:cNvSpPr/>
          <p:nvPr/>
        </p:nvSpPr>
        <p:spPr>
          <a:xfrm>
            <a:off x="557213" y="3303984"/>
            <a:ext cx="58528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Authentication:</a:t>
            </a:r>
            <a:endParaRPr lang="en-US" sz="568" dirty="0"/>
          </a:p>
        </p:txBody>
      </p:sp>
      <p:sp>
        <p:nvSpPr>
          <p:cNvPr id="31" name="Shape 28"/>
          <p:cNvSpPr/>
          <p:nvPr/>
        </p:nvSpPr>
        <p:spPr>
          <a:xfrm>
            <a:off x="1199648" y="3286125"/>
            <a:ext cx="396701" cy="150019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2" name="Text 29"/>
          <p:cNvSpPr/>
          <p:nvPr/>
        </p:nvSpPr>
        <p:spPr>
          <a:xfrm>
            <a:off x="1199648" y="3286125"/>
            <a:ext cx="396701" cy="150019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Optional</a:t>
            </a:r>
            <a:endParaRPr lang="en-US" sz="485" dirty="0"/>
          </a:p>
        </p:txBody>
      </p:sp>
      <p:sp>
        <p:nvSpPr>
          <p:cNvPr id="33" name="Text 30"/>
          <p:cNvSpPr/>
          <p:nvPr/>
        </p:nvSpPr>
        <p:spPr>
          <a:xfrm>
            <a:off x="500063" y="3550444"/>
            <a:ext cx="38576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Generate new access and refresh tokens using valid refresh token for seamless session renewal.</a:t>
            </a:r>
            <a:endParaRPr lang="en-US" sz="674" dirty="0"/>
          </a:p>
        </p:txBody>
      </p:sp>
      <p:sp>
        <p:nvSpPr>
          <p:cNvPr id="34" name="Shape 31"/>
          <p:cNvSpPr/>
          <p:nvPr/>
        </p:nvSpPr>
        <p:spPr>
          <a:xfrm>
            <a:off x="4643438" y="2603897"/>
            <a:ext cx="4143375" cy="136802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5" name="Shape 32"/>
          <p:cNvSpPr/>
          <p:nvPr/>
        </p:nvSpPr>
        <p:spPr>
          <a:xfrm>
            <a:off x="4643438" y="2603897"/>
            <a:ext cx="35719" cy="1368028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36" name="Shape 33"/>
          <p:cNvSpPr/>
          <p:nvPr/>
        </p:nvSpPr>
        <p:spPr>
          <a:xfrm>
            <a:off x="4786313" y="2746772"/>
            <a:ext cx="376107" cy="214313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7" name="Text 34"/>
          <p:cNvSpPr/>
          <p:nvPr/>
        </p:nvSpPr>
        <p:spPr>
          <a:xfrm>
            <a:off x="4786313" y="2746772"/>
            <a:ext cx="376107" cy="214313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POST</a:t>
            </a:r>
            <a:endParaRPr lang="en-US" sz="584" dirty="0"/>
          </a:p>
        </p:txBody>
      </p:sp>
      <p:sp>
        <p:nvSpPr>
          <p:cNvPr id="38" name="Text 35"/>
          <p:cNvSpPr/>
          <p:nvPr/>
        </p:nvSpPr>
        <p:spPr>
          <a:xfrm>
            <a:off x="4786313" y="3046809"/>
            <a:ext cx="38576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/v1/api/auth/logout</a:t>
            </a:r>
            <a:endParaRPr lang="en-US" sz="634" dirty="0"/>
          </a:p>
        </p:txBody>
      </p:sp>
      <p:sp>
        <p:nvSpPr>
          <p:cNvPr id="39" name="Shape 36"/>
          <p:cNvSpPr/>
          <p:nvPr/>
        </p:nvSpPr>
        <p:spPr>
          <a:xfrm>
            <a:off x="4786313" y="3243263"/>
            <a:ext cx="3857625" cy="23574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0" name="Text 37"/>
          <p:cNvSpPr/>
          <p:nvPr/>
        </p:nvSpPr>
        <p:spPr>
          <a:xfrm>
            <a:off x="4843463" y="3303984"/>
            <a:ext cx="58528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67E22"/>
                </a:solidFill>
              </a:rPr>
              <a:t>Authentication:</a:t>
            </a:r>
            <a:endParaRPr lang="en-US" sz="568" dirty="0"/>
          </a:p>
        </p:txBody>
      </p:sp>
      <p:sp>
        <p:nvSpPr>
          <p:cNvPr id="41" name="Shape 38"/>
          <p:cNvSpPr/>
          <p:nvPr/>
        </p:nvSpPr>
        <p:spPr>
          <a:xfrm>
            <a:off x="5485898" y="3286125"/>
            <a:ext cx="407501" cy="150019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2" name="Text 39"/>
          <p:cNvSpPr/>
          <p:nvPr/>
        </p:nvSpPr>
        <p:spPr>
          <a:xfrm>
            <a:off x="5485898" y="3286125"/>
            <a:ext cx="407501" cy="150019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Required</a:t>
            </a:r>
            <a:endParaRPr lang="en-US" sz="485" dirty="0"/>
          </a:p>
        </p:txBody>
      </p:sp>
      <p:sp>
        <p:nvSpPr>
          <p:cNvPr id="43" name="Text 40"/>
          <p:cNvSpPr/>
          <p:nvPr/>
        </p:nvSpPr>
        <p:spPr>
          <a:xfrm>
            <a:off x="4786313" y="3550444"/>
            <a:ext cx="38576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Invalidate current user session. Requires valid JWT token in Authorization header.</a:t>
            </a:r>
            <a:endParaRPr lang="en-US" sz="674" dirty="0"/>
          </a:p>
        </p:txBody>
      </p:sp>
      <p:sp>
        <p:nvSpPr>
          <p:cNvPr id="44" name="Shape 41"/>
          <p:cNvSpPr/>
          <p:nvPr/>
        </p:nvSpPr>
        <p:spPr>
          <a:xfrm>
            <a:off x="357188" y="4114800"/>
            <a:ext cx="4143375" cy="136802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5" name="Shape 42"/>
          <p:cNvSpPr/>
          <p:nvPr/>
        </p:nvSpPr>
        <p:spPr>
          <a:xfrm>
            <a:off x="357188" y="4114800"/>
            <a:ext cx="35719" cy="1368028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46" name="Shape 43"/>
          <p:cNvSpPr/>
          <p:nvPr/>
        </p:nvSpPr>
        <p:spPr>
          <a:xfrm>
            <a:off x="500063" y="4257675"/>
            <a:ext cx="313320" cy="214313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47" name="Text 44"/>
          <p:cNvSpPr/>
          <p:nvPr/>
        </p:nvSpPr>
        <p:spPr>
          <a:xfrm>
            <a:off x="500063" y="4257675"/>
            <a:ext cx="313320" cy="214313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GET</a:t>
            </a:r>
            <a:endParaRPr lang="en-US" sz="584" dirty="0"/>
          </a:p>
        </p:txBody>
      </p:sp>
      <p:sp>
        <p:nvSpPr>
          <p:cNvPr id="48" name="Text 45"/>
          <p:cNvSpPr/>
          <p:nvPr/>
        </p:nvSpPr>
        <p:spPr>
          <a:xfrm>
            <a:off x="500063" y="4557713"/>
            <a:ext cx="38576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/v1/api/users/me</a:t>
            </a:r>
            <a:endParaRPr lang="en-US" sz="634" dirty="0"/>
          </a:p>
        </p:txBody>
      </p:sp>
      <p:sp>
        <p:nvSpPr>
          <p:cNvPr id="49" name="Shape 46"/>
          <p:cNvSpPr/>
          <p:nvPr/>
        </p:nvSpPr>
        <p:spPr>
          <a:xfrm>
            <a:off x="500063" y="4754166"/>
            <a:ext cx="3857625" cy="23574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50" name="Text 47"/>
          <p:cNvSpPr/>
          <p:nvPr/>
        </p:nvSpPr>
        <p:spPr>
          <a:xfrm>
            <a:off x="557213" y="4814888"/>
            <a:ext cx="58528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E67E22"/>
                </a:solidFill>
              </a:rPr>
              <a:t>Authentication:</a:t>
            </a:r>
            <a:endParaRPr lang="en-US" sz="568" dirty="0"/>
          </a:p>
        </p:txBody>
      </p:sp>
      <p:sp>
        <p:nvSpPr>
          <p:cNvPr id="51" name="Shape 48"/>
          <p:cNvSpPr/>
          <p:nvPr/>
        </p:nvSpPr>
        <p:spPr>
          <a:xfrm>
            <a:off x="1199648" y="4797028"/>
            <a:ext cx="407501" cy="150019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2" name="Text 49"/>
          <p:cNvSpPr/>
          <p:nvPr/>
        </p:nvSpPr>
        <p:spPr>
          <a:xfrm>
            <a:off x="1199648" y="4797028"/>
            <a:ext cx="407501" cy="150019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Required</a:t>
            </a:r>
            <a:endParaRPr lang="en-US" sz="485" dirty="0"/>
          </a:p>
        </p:txBody>
      </p:sp>
      <p:sp>
        <p:nvSpPr>
          <p:cNvPr id="53" name="Text 50"/>
          <p:cNvSpPr/>
          <p:nvPr/>
        </p:nvSpPr>
        <p:spPr>
          <a:xfrm>
            <a:off x="500063" y="5061347"/>
            <a:ext cx="38576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Retrieve current authenticated user's profile information including email, name, and account status.</a:t>
            </a:r>
            <a:endParaRPr lang="en-US" sz="674" dirty="0"/>
          </a:p>
        </p:txBody>
      </p:sp>
      <p:sp>
        <p:nvSpPr>
          <p:cNvPr id="54" name="Shape 51"/>
          <p:cNvSpPr/>
          <p:nvPr/>
        </p:nvSpPr>
        <p:spPr>
          <a:xfrm>
            <a:off x="4643438" y="4114800"/>
            <a:ext cx="4143375" cy="136802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5" name="Shape 52"/>
          <p:cNvSpPr/>
          <p:nvPr/>
        </p:nvSpPr>
        <p:spPr>
          <a:xfrm>
            <a:off x="4643438" y="4114800"/>
            <a:ext cx="35719" cy="1368028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56" name="Shape 53"/>
          <p:cNvSpPr/>
          <p:nvPr/>
        </p:nvSpPr>
        <p:spPr>
          <a:xfrm>
            <a:off x="4786313" y="4257675"/>
            <a:ext cx="313320" cy="214313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57" name="Text 54"/>
          <p:cNvSpPr/>
          <p:nvPr/>
        </p:nvSpPr>
        <p:spPr>
          <a:xfrm>
            <a:off x="4786313" y="4257675"/>
            <a:ext cx="313320" cy="214313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FFFFF"/>
                </a:solidFill>
              </a:rPr>
              <a:t>GET</a:t>
            </a:r>
            <a:endParaRPr lang="en-US" sz="584" dirty="0"/>
          </a:p>
        </p:txBody>
      </p:sp>
      <p:sp>
        <p:nvSpPr>
          <p:cNvPr id="58" name="Text 55"/>
          <p:cNvSpPr/>
          <p:nvPr/>
        </p:nvSpPr>
        <p:spPr>
          <a:xfrm>
            <a:off x="4786313" y="4557713"/>
            <a:ext cx="385762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/health</a:t>
            </a:r>
            <a:endParaRPr lang="en-US" sz="634" dirty="0"/>
          </a:p>
        </p:txBody>
      </p:sp>
      <p:sp>
        <p:nvSpPr>
          <p:cNvPr id="59" name="Shape 56"/>
          <p:cNvSpPr/>
          <p:nvPr/>
        </p:nvSpPr>
        <p:spPr>
          <a:xfrm>
            <a:off x="4786313" y="4754166"/>
            <a:ext cx="3857625" cy="235744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60" name="Text 57"/>
          <p:cNvSpPr/>
          <p:nvPr/>
        </p:nvSpPr>
        <p:spPr>
          <a:xfrm>
            <a:off x="4843463" y="4814888"/>
            <a:ext cx="58528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Authentication:</a:t>
            </a:r>
            <a:endParaRPr lang="en-US" sz="568" dirty="0"/>
          </a:p>
        </p:txBody>
      </p:sp>
      <p:sp>
        <p:nvSpPr>
          <p:cNvPr id="61" name="Shape 58"/>
          <p:cNvSpPr/>
          <p:nvPr/>
        </p:nvSpPr>
        <p:spPr>
          <a:xfrm>
            <a:off x="5485898" y="4797028"/>
            <a:ext cx="396701" cy="150019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62" name="Text 59"/>
          <p:cNvSpPr/>
          <p:nvPr/>
        </p:nvSpPr>
        <p:spPr>
          <a:xfrm>
            <a:off x="5485898" y="4797028"/>
            <a:ext cx="396701" cy="150019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Optional</a:t>
            </a:r>
            <a:endParaRPr lang="en-US" sz="485" dirty="0"/>
          </a:p>
        </p:txBody>
      </p:sp>
      <p:sp>
        <p:nvSpPr>
          <p:cNvPr id="63" name="Text 60"/>
          <p:cNvSpPr/>
          <p:nvPr/>
        </p:nvSpPr>
        <p:spPr>
          <a:xfrm>
            <a:off x="4786313" y="5061347"/>
            <a:ext cx="38576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Check service health status. Returns status and timestamp for monitoring and uptime verification.</a:t>
            </a:r>
            <a:endParaRPr lang="en-US" sz="674" dirty="0"/>
          </a:p>
        </p:txBody>
      </p:sp>
      <p:sp>
        <p:nvSpPr>
          <p:cNvPr id="64" name="Shape 61"/>
          <p:cNvSpPr/>
          <p:nvPr/>
        </p:nvSpPr>
        <p:spPr>
          <a:xfrm>
            <a:off x="357188" y="5697141"/>
            <a:ext cx="8429625" cy="33218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357188" y="5697141"/>
            <a:ext cx="8429625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66" name="Shape 63"/>
          <p:cNvSpPr/>
          <p:nvPr/>
        </p:nvSpPr>
        <p:spPr>
          <a:xfrm>
            <a:off x="1749158" y="5840016"/>
            <a:ext cx="315023" cy="17502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67" name="Text 64"/>
          <p:cNvSpPr/>
          <p:nvPr/>
        </p:nvSpPr>
        <p:spPr>
          <a:xfrm>
            <a:off x="1749158" y="5840016"/>
            <a:ext cx="315023" cy="17502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POST</a:t>
            </a:r>
            <a:endParaRPr lang="en-US" sz="534" dirty="0"/>
          </a:p>
        </p:txBody>
      </p:sp>
      <p:sp>
        <p:nvSpPr>
          <p:cNvPr id="68" name="Text 65"/>
          <p:cNvSpPr/>
          <p:nvPr/>
        </p:nvSpPr>
        <p:spPr>
          <a:xfrm>
            <a:off x="2121331" y="5857875"/>
            <a:ext cx="118084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Create or modify resources</a:t>
            </a:r>
            <a:endParaRPr lang="en-US" sz="674" dirty="0"/>
          </a:p>
        </p:txBody>
      </p:sp>
      <p:sp>
        <p:nvSpPr>
          <p:cNvPr id="69" name="Shape 66"/>
          <p:cNvSpPr/>
          <p:nvPr/>
        </p:nvSpPr>
        <p:spPr>
          <a:xfrm>
            <a:off x="3516483" y="5840016"/>
            <a:ext cx="260719" cy="175022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70" name="Text 67"/>
          <p:cNvSpPr/>
          <p:nvPr/>
        </p:nvSpPr>
        <p:spPr>
          <a:xfrm>
            <a:off x="3516483" y="5840016"/>
            <a:ext cx="260719" cy="175022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GET</a:t>
            </a:r>
            <a:endParaRPr lang="en-US" sz="534" dirty="0"/>
          </a:p>
        </p:txBody>
      </p:sp>
      <p:sp>
        <p:nvSpPr>
          <p:cNvPr id="71" name="Text 68"/>
          <p:cNvSpPr/>
          <p:nvPr/>
        </p:nvSpPr>
        <p:spPr>
          <a:xfrm>
            <a:off x="3834352" y="5857875"/>
            <a:ext cx="80509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Retrieve resources</a:t>
            </a:r>
            <a:endParaRPr lang="en-US" sz="674" dirty="0"/>
          </a:p>
        </p:txBody>
      </p:sp>
      <p:sp>
        <p:nvSpPr>
          <p:cNvPr id="72" name="Shape 69"/>
          <p:cNvSpPr/>
          <p:nvPr/>
        </p:nvSpPr>
        <p:spPr>
          <a:xfrm>
            <a:off x="4910910" y="5852517"/>
            <a:ext cx="407501" cy="150019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3" name="Text 70"/>
          <p:cNvSpPr/>
          <p:nvPr/>
        </p:nvSpPr>
        <p:spPr>
          <a:xfrm>
            <a:off x="4910910" y="5852517"/>
            <a:ext cx="407501" cy="150019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Required</a:t>
            </a:r>
            <a:endParaRPr lang="en-US" sz="485" dirty="0"/>
          </a:p>
        </p:txBody>
      </p:sp>
      <p:sp>
        <p:nvSpPr>
          <p:cNvPr id="74" name="Text 71"/>
          <p:cNvSpPr/>
          <p:nvPr/>
        </p:nvSpPr>
        <p:spPr>
          <a:xfrm>
            <a:off x="5375560" y="5857875"/>
            <a:ext cx="201925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Bearer token required in Authorization header</a:t>
            </a:r>
            <a:endParaRPr lang="en-US" sz="67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70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4356822" cy="521494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A52"/>
                </a:solidFill>
              </a:rPr>
              <a:t>User Registration Flow: Validation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1535906" y="1092994"/>
            <a:ext cx="357188" cy="357188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5" name="Text 2"/>
          <p:cNvSpPr/>
          <p:nvPr/>
        </p:nvSpPr>
        <p:spPr>
          <a:xfrm>
            <a:off x="1535906" y="1092994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1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357188" y="1557338"/>
            <a:ext cx="2714625" cy="82510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4"/>
          <p:cNvSpPr/>
          <p:nvPr/>
        </p:nvSpPr>
        <p:spPr>
          <a:xfrm>
            <a:off x="357188" y="1557338"/>
            <a:ext cx="2714625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8" name="Shape 5"/>
          <p:cNvSpPr/>
          <p:nvPr/>
        </p:nvSpPr>
        <p:spPr>
          <a:xfrm>
            <a:off x="3057525" y="1557338"/>
            <a:ext cx="14288" cy="825103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9" name="Shape 6"/>
          <p:cNvSpPr/>
          <p:nvPr/>
        </p:nvSpPr>
        <p:spPr>
          <a:xfrm>
            <a:off x="357188" y="2368153"/>
            <a:ext cx="2714625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0" name="Shape 7"/>
          <p:cNvSpPr/>
          <p:nvPr/>
        </p:nvSpPr>
        <p:spPr>
          <a:xfrm>
            <a:off x="357188" y="1557338"/>
            <a:ext cx="35719" cy="825103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11" name="Text 8"/>
          <p:cNvSpPr/>
          <p:nvPr/>
        </p:nvSpPr>
        <p:spPr>
          <a:xfrm>
            <a:off x="500063" y="1712714"/>
            <a:ext cx="24288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A52"/>
                </a:solidFill>
              </a:rPr>
              <a:t>Client Request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500063" y="1944886"/>
            <a:ext cx="24288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User submits email, password, and name through mobile app</a:t>
            </a:r>
            <a:endParaRPr lang="en-US" sz="674" dirty="0"/>
          </a:p>
        </p:txBody>
      </p:sp>
      <p:sp>
        <p:nvSpPr>
          <p:cNvPr id="13" name="Shape 10"/>
          <p:cNvSpPr/>
          <p:nvPr/>
        </p:nvSpPr>
        <p:spPr>
          <a:xfrm>
            <a:off x="4393406" y="1105495"/>
            <a:ext cx="357188" cy="357188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14" name="Text 11"/>
          <p:cNvSpPr/>
          <p:nvPr/>
        </p:nvSpPr>
        <p:spPr>
          <a:xfrm>
            <a:off x="4393406" y="1105495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2</a:t>
            </a:r>
            <a:endParaRPr lang="en-US" sz="1193" dirty="0"/>
          </a:p>
        </p:txBody>
      </p:sp>
      <p:sp>
        <p:nvSpPr>
          <p:cNvPr id="15" name="Shape 12"/>
          <p:cNvSpPr/>
          <p:nvPr/>
        </p:nvSpPr>
        <p:spPr>
          <a:xfrm>
            <a:off x="3500717" y="1569839"/>
            <a:ext cx="2142539" cy="79652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Shape 13"/>
          <p:cNvSpPr/>
          <p:nvPr/>
        </p:nvSpPr>
        <p:spPr>
          <a:xfrm>
            <a:off x="3500717" y="1569839"/>
            <a:ext cx="2142539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7" name="Shape 14"/>
          <p:cNvSpPr/>
          <p:nvPr/>
        </p:nvSpPr>
        <p:spPr>
          <a:xfrm>
            <a:off x="5628968" y="1569839"/>
            <a:ext cx="14288" cy="79652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8" name="Shape 15"/>
          <p:cNvSpPr/>
          <p:nvPr/>
        </p:nvSpPr>
        <p:spPr>
          <a:xfrm>
            <a:off x="3500717" y="2352080"/>
            <a:ext cx="2142539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9" name="Shape 16"/>
          <p:cNvSpPr/>
          <p:nvPr/>
        </p:nvSpPr>
        <p:spPr>
          <a:xfrm>
            <a:off x="3500717" y="1569839"/>
            <a:ext cx="35719" cy="796528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20" name="Text 17"/>
          <p:cNvSpPr/>
          <p:nvPr/>
        </p:nvSpPr>
        <p:spPr>
          <a:xfrm>
            <a:off x="3668595" y="1782366"/>
            <a:ext cx="180678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A52"/>
                </a:solidFill>
              </a:rPr>
              <a:t>Email Validation</a:t>
            </a:r>
            <a:endParaRPr lang="en-US" sz="734" dirty="0"/>
          </a:p>
        </p:txBody>
      </p:sp>
      <p:sp>
        <p:nvSpPr>
          <p:cNvPr id="21" name="Text 18"/>
          <p:cNvSpPr/>
          <p:nvPr/>
        </p:nvSpPr>
        <p:spPr>
          <a:xfrm>
            <a:off x="3668595" y="2014538"/>
            <a:ext cx="180678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Verify email format matches valid pattern</a:t>
            </a:r>
            <a:endParaRPr lang="en-US" sz="674" dirty="0"/>
          </a:p>
        </p:txBody>
      </p:sp>
      <p:sp>
        <p:nvSpPr>
          <p:cNvPr id="22" name="Shape 19"/>
          <p:cNvSpPr/>
          <p:nvPr/>
        </p:nvSpPr>
        <p:spPr>
          <a:xfrm>
            <a:off x="7250906" y="1105495"/>
            <a:ext cx="357188" cy="357188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23" name="Text 20"/>
          <p:cNvSpPr/>
          <p:nvPr/>
        </p:nvSpPr>
        <p:spPr>
          <a:xfrm>
            <a:off x="7250906" y="1105495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3</a:t>
            </a:r>
            <a:endParaRPr lang="en-US" sz="1193" dirty="0"/>
          </a:p>
        </p:txBody>
      </p:sp>
      <p:sp>
        <p:nvSpPr>
          <p:cNvPr id="24" name="Shape 21"/>
          <p:cNvSpPr/>
          <p:nvPr/>
        </p:nvSpPr>
        <p:spPr>
          <a:xfrm>
            <a:off x="6161540" y="1569839"/>
            <a:ext cx="2535920" cy="79652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Shape 22"/>
          <p:cNvSpPr/>
          <p:nvPr/>
        </p:nvSpPr>
        <p:spPr>
          <a:xfrm>
            <a:off x="6161540" y="1569839"/>
            <a:ext cx="2535920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6" name="Shape 23"/>
          <p:cNvSpPr/>
          <p:nvPr/>
        </p:nvSpPr>
        <p:spPr>
          <a:xfrm>
            <a:off x="8683172" y="1569839"/>
            <a:ext cx="14288" cy="79652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7" name="Shape 24"/>
          <p:cNvSpPr/>
          <p:nvPr/>
        </p:nvSpPr>
        <p:spPr>
          <a:xfrm>
            <a:off x="6161540" y="2352080"/>
            <a:ext cx="2535920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8" name="Shape 25"/>
          <p:cNvSpPr/>
          <p:nvPr/>
        </p:nvSpPr>
        <p:spPr>
          <a:xfrm>
            <a:off x="6161540" y="1569839"/>
            <a:ext cx="35719" cy="796528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29" name="Text 26"/>
          <p:cNvSpPr/>
          <p:nvPr/>
        </p:nvSpPr>
        <p:spPr>
          <a:xfrm>
            <a:off x="6329418" y="1782366"/>
            <a:ext cx="22001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A52"/>
                </a:solidFill>
              </a:rPr>
              <a:t>Password Check</a:t>
            </a:r>
            <a:endParaRPr lang="en-US" sz="734" dirty="0"/>
          </a:p>
        </p:txBody>
      </p:sp>
      <p:sp>
        <p:nvSpPr>
          <p:cNvPr id="30" name="Text 27"/>
          <p:cNvSpPr/>
          <p:nvPr/>
        </p:nvSpPr>
        <p:spPr>
          <a:xfrm>
            <a:off x="6329418" y="2014538"/>
            <a:ext cx="22001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Validate password meets complexity requirements</a:t>
            </a:r>
            <a:endParaRPr lang="en-US" sz="674" dirty="0"/>
          </a:p>
        </p:txBody>
      </p:sp>
      <p:sp>
        <p:nvSpPr>
          <p:cNvPr id="31" name="Shape 28"/>
          <p:cNvSpPr/>
          <p:nvPr/>
        </p:nvSpPr>
        <p:spPr>
          <a:xfrm>
            <a:off x="357188" y="2616398"/>
            <a:ext cx="8429625" cy="1407319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357188" y="2616398"/>
            <a:ext cx="8429625" cy="1428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3" name="Shape 30"/>
          <p:cNvSpPr/>
          <p:nvPr/>
        </p:nvSpPr>
        <p:spPr>
          <a:xfrm>
            <a:off x="8772525" y="2616398"/>
            <a:ext cx="14288" cy="1407319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4" name="Shape 31"/>
          <p:cNvSpPr/>
          <p:nvPr/>
        </p:nvSpPr>
        <p:spPr>
          <a:xfrm>
            <a:off x="357188" y="4009430"/>
            <a:ext cx="8429625" cy="1428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5" name="Shape 32"/>
          <p:cNvSpPr/>
          <p:nvPr/>
        </p:nvSpPr>
        <p:spPr>
          <a:xfrm>
            <a:off x="357188" y="2616398"/>
            <a:ext cx="35719" cy="1407319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3" y="2791420"/>
            <a:ext cx="114300" cy="114300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71513" y="2773561"/>
            <a:ext cx="120617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F39C12"/>
                </a:solidFill>
              </a:rPr>
              <a:t>Password Requirements</a:t>
            </a:r>
            <a:endParaRPr lang="en-US" sz="683" dirty="0"/>
          </a:p>
        </p:txBody>
      </p:sp>
      <p:sp>
        <p:nvSpPr>
          <p:cNvPr id="38" name="Text 34"/>
          <p:cNvSpPr/>
          <p:nvPr/>
        </p:nvSpPr>
        <p:spPr>
          <a:xfrm>
            <a:off x="500063" y="2995017"/>
            <a:ext cx="8143875" cy="12858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Minimum 8 characters long</a:t>
            </a:r>
            <a:endParaRPr lang="en-US" sz="621" dirty="0"/>
          </a:p>
        </p:txBody>
      </p:sp>
      <p:sp>
        <p:nvSpPr>
          <p:cNvPr id="39" name="Text 35"/>
          <p:cNvSpPr/>
          <p:nvPr/>
        </p:nvSpPr>
        <p:spPr>
          <a:xfrm>
            <a:off x="500063" y="3180755"/>
            <a:ext cx="8143875" cy="12858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At least one uppercase letter (A-Z)</a:t>
            </a:r>
            <a:endParaRPr lang="en-US" sz="621" dirty="0"/>
          </a:p>
        </p:txBody>
      </p:sp>
      <p:sp>
        <p:nvSpPr>
          <p:cNvPr id="40" name="Text 36"/>
          <p:cNvSpPr/>
          <p:nvPr/>
        </p:nvSpPr>
        <p:spPr>
          <a:xfrm>
            <a:off x="500063" y="3366492"/>
            <a:ext cx="8143875" cy="12858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At least one lowercase letter (a-z)</a:t>
            </a:r>
            <a:endParaRPr lang="en-US" sz="621" dirty="0"/>
          </a:p>
        </p:txBody>
      </p:sp>
      <p:sp>
        <p:nvSpPr>
          <p:cNvPr id="41" name="Text 37"/>
          <p:cNvSpPr/>
          <p:nvPr/>
        </p:nvSpPr>
        <p:spPr>
          <a:xfrm>
            <a:off x="500063" y="3552230"/>
            <a:ext cx="8143875" cy="12858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At least one number (0-9)</a:t>
            </a:r>
            <a:endParaRPr lang="en-US" sz="621" dirty="0"/>
          </a:p>
        </p:txBody>
      </p:sp>
      <p:sp>
        <p:nvSpPr>
          <p:cNvPr id="42" name="Text 38"/>
          <p:cNvSpPr/>
          <p:nvPr/>
        </p:nvSpPr>
        <p:spPr>
          <a:xfrm>
            <a:off x="500063" y="3737967"/>
            <a:ext cx="8143875" cy="12858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At least one special character (!@#$%^&amp;*)</a:t>
            </a:r>
            <a:endParaRPr lang="en-US" sz="621" dirty="0"/>
          </a:p>
        </p:txBody>
      </p:sp>
      <p:sp>
        <p:nvSpPr>
          <p:cNvPr id="43" name="Shape 39"/>
          <p:cNvSpPr/>
          <p:nvPr/>
        </p:nvSpPr>
        <p:spPr>
          <a:xfrm>
            <a:off x="357188" y="4295180"/>
            <a:ext cx="8429625" cy="464344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4" name="Shape 40"/>
          <p:cNvSpPr/>
          <p:nvPr/>
        </p:nvSpPr>
        <p:spPr>
          <a:xfrm>
            <a:off x="357188" y="4295180"/>
            <a:ext cx="28575" cy="464344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45" name="Text 41"/>
          <p:cNvSpPr/>
          <p:nvPr/>
        </p:nvSpPr>
        <p:spPr>
          <a:xfrm>
            <a:off x="500063" y="2995017"/>
            <a:ext cx="62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✓</a:t>
            </a:r>
            <a:endParaRPr lang="en-US" sz="584" dirty="0"/>
          </a:p>
        </p:txBody>
      </p:sp>
      <p:sp>
        <p:nvSpPr>
          <p:cNvPr id="46" name="Text 42"/>
          <p:cNvSpPr/>
          <p:nvPr/>
        </p:nvSpPr>
        <p:spPr>
          <a:xfrm>
            <a:off x="500063" y="3180755"/>
            <a:ext cx="62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✓</a:t>
            </a:r>
            <a:endParaRPr lang="en-US" sz="584" dirty="0"/>
          </a:p>
        </p:txBody>
      </p:sp>
      <p:sp>
        <p:nvSpPr>
          <p:cNvPr id="47" name="Text 43"/>
          <p:cNvSpPr/>
          <p:nvPr/>
        </p:nvSpPr>
        <p:spPr>
          <a:xfrm>
            <a:off x="500063" y="3366492"/>
            <a:ext cx="62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✓</a:t>
            </a:r>
            <a:endParaRPr lang="en-US" sz="584" dirty="0"/>
          </a:p>
        </p:txBody>
      </p:sp>
      <p:sp>
        <p:nvSpPr>
          <p:cNvPr id="48" name="Text 44"/>
          <p:cNvSpPr/>
          <p:nvPr/>
        </p:nvSpPr>
        <p:spPr>
          <a:xfrm>
            <a:off x="500063" y="3552230"/>
            <a:ext cx="62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✓</a:t>
            </a:r>
            <a:endParaRPr lang="en-US" sz="584" dirty="0"/>
          </a:p>
        </p:txBody>
      </p:sp>
      <p:sp>
        <p:nvSpPr>
          <p:cNvPr id="49" name="Text 45"/>
          <p:cNvSpPr/>
          <p:nvPr/>
        </p:nvSpPr>
        <p:spPr>
          <a:xfrm>
            <a:off x="500063" y="3737967"/>
            <a:ext cx="6200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✓</a:t>
            </a:r>
            <a:endParaRPr lang="en-US" sz="584" dirty="0"/>
          </a:p>
        </p:txBody>
      </p:sp>
      <p:sp>
        <p:nvSpPr>
          <p:cNvPr id="50" name="Shape 46"/>
          <p:cNvSpPr/>
          <p:nvPr/>
        </p:nvSpPr>
        <p:spPr>
          <a:xfrm>
            <a:off x="464344" y="4402336"/>
            <a:ext cx="250031" cy="250031"/>
          </a:xfrm>
          <a:prstGeom prst="ellipse">
            <a:avLst/>
          </a:prstGeom>
          <a:solidFill>
            <a:srgbClr val="0D7EA8"/>
          </a:solidFill>
          <a:ln/>
        </p:spPr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97" y="4470202"/>
            <a:ext cx="85725" cy="114300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800100" y="4463058"/>
            <a:ext cx="265208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Next: Duplicate Check, Password Hashing, and Token Generation</a:t>
            </a:r>
            <a:endParaRPr lang="en-US" sz="5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614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4040488" cy="521494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A52"/>
                </a:solidFill>
              </a:rPr>
              <a:t>User Registration Flow: Storage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1535906" y="1092994"/>
            <a:ext cx="357188" cy="357188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5" name="Text 2"/>
          <p:cNvSpPr/>
          <p:nvPr/>
        </p:nvSpPr>
        <p:spPr>
          <a:xfrm>
            <a:off x="1535906" y="1092994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4</a:t>
            </a:r>
            <a:endParaRPr lang="en-US" sz="1193" dirty="0"/>
          </a:p>
        </p:txBody>
      </p:sp>
      <p:sp>
        <p:nvSpPr>
          <p:cNvPr id="6" name="Shape 3"/>
          <p:cNvSpPr/>
          <p:nvPr/>
        </p:nvSpPr>
        <p:spPr>
          <a:xfrm>
            <a:off x="637942" y="1557338"/>
            <a:ext cx="2153115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4"/>
          <p:cNvSpPr/>
          <p:nvPr/>
        </p:nvSpPr>
        <p:spPr>
          <a:xfrm>
            <a:off x="637942" y="1557338"/>
            <a:ext cx="2153115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8" name="Shape 5"/>
          <p:cNvSpPr/>
          <p:nvPr/>
        </p:nvSpPr>
        <p:spPr>
          <a:xfrm>
            <a:off x="2776770" y="1557338"/>
            <a:ext cx="14288" cy="68580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9" name="Shape 6"/>
          <p:cNvSpPr/>
          <p:nvPr/>
        </p:nvSpPr>
        <p:spPr>
          <a:xfrm>
            <a:off x="637942" y="2228850"/>
            <a:ext cx="2153115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0" name="Shape 7"/>
          <p:cNvSpPr/>
          <p:nvPr/>
        </p:nvSpPr>
        <p:spPr>
          <a:xfrm>
            <a:off x="637942" y="1557338"/>
            <a:ext cx="35719" cy="685800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11" name="Text 8"/>
          <p:cNvSpPr/>
          <p:nvPr/>
        </p:nvSpPr>
        <p:spPr>
          <a:xfrm>
            <a:off x="805821" y="1714500"/>
            <a:ext cx="181735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A52"/>
                </a:solidFill>
              </a:rPr>
              <a:t>Duplicate Check</a:t>
            </a:r>
            <a:endParaRPr lang="en-US" sz="734" dirty="0"/>
          </a:p>
        </p:txBody>
      </p:sp>
      <p:sp>
        <p:nvSpPr>
          <p:cNvPr id="12" name="Text 9"/>
          <p:cNvSpPr/>
          <p:nvPr/>
        </p:nvSpPr>
        <p:spPr>
          <a:xfrm>
            <a:off x="805821" y="1946672"/>
            <a:ext cx="181735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Query database to ensure email is unique</a:t>
            </a:r>
            <a:endParaRPr lang="en-US" sz="674" dirty="0"/>
          </a:p>
        </p:txBody>
      </p:sp>
      <p:sp>
        <p:nvSpPr>
          <p:cNvPr id="13" name="Shape 10"/>
          <p:cNvSpPr/>
          <p:nvPr/>
        </p:nvSpPr>
        <p:spPr>
          <a:xfrm>
            <a:off x="4393406" y="1092994"/>
            <a:ext cx="357188" cy="357188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14" name="Text 11"/>
          <p:cNvSpPr/>
          <p:nvPr/>
        </p:nvSpPr>
        <p:spPr>
          <a:xfrm>
            <a:off x="4393406" y="1092994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5</a:t>
            </a:r>
            <a:endParaRPr lang="en-US" sz="1193" dirty="0"/>
          </a:p>
        </p:txBody>
      </p:sp>
      <p:sp>
        <p:nvSpPr>
          <p:cNvPr id="15" name="Shape 12"/>
          <p:cNvSpPr/>
          <p:nvPr/>
        </p:nvSpPr>
        <p:spPr>
          <a:xfrm>
            <a:off x="3403829" y="1557338"/>
            <a:ext cx="2336341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Shape 13"/>
          <p:cNvSpPr/>
          <p:nvPr/>
        </p:nvSpPr>
        <p:spPr>
          <a:xfrm>
            <a:off x="3403829" y="1557338"/>
            <a:ext cx="2336341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7" name="Shape 14"/>
          <p:cNvSpPr/>
          <p:nvPr/>
        </p:nvSpPr>
        <p:spPr>
          <a:xfrm>
            <a:off x="5725883" y="1557338"/>
            <a:ext cx="14288" cy="68580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8" name="Shape 15"/>
          <p:cNvSpPr/>
          <p:nvPr/>
        </p:nvSpPr>
        <p:spPr>
          <a:xfrm>
            <a:off x="3403829" y="2228850"/>
            <a:ext cx="2336341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19" name="Shape 16"/>
          <p:cNvSpPr/>
          <p:nvPr/>
        </p:nvSpPr>
        <p:spPr>
          <a:xfrm>
            <a:off x="3403829" y="1557338"/>
            <a:ext cx="35719" cy="685800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20" name="Text 17"/>
          <p:cNvSpPr/>
          <p:nvPr/>
        </p:nvSpPr>
        <p:spPr>
          <a:xfrm>
            <a:off x="3571708" y="1714500"/>
            <a:ext cx="200058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A52"/>
                </a:solidFill>
              </a:rPr>
              <a:t>Password Hashing</a:t>
            </a:r>
            <a:endParaRPr lang="en-US" sz="734" dirty="0"/>
          </a:p>
        </p:txBody>
      </p:sp>
      <p:sp>
        <p:nvSpPr>
          <p:cNvPr id="21" name="Text 18"/>
          <p:cNvSpPr/>
          <p:nvPr/>
        </p:nvSpPr>
        <p:spPr>
          <a:xfrm>
            <a:off x="3571708" y="1946672"/>
            <a:ext cx="200058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Hash password using bcryptjs (12 salt rounds)</a:t>
            </a:r>
            <a:endParaRPr lang="en-US" sz="674" dirty="0"/>
          </a:p>
        </p:txBody>
      </p:sp>
      <p:sp>
        <p:nvSpPr>
          <p:cNvPr id="22" name="Shape 19"/>
          <p:cNvSpPr/>
          <p:nvPr/>
        </p:nvSpPr>
        <p:spPr>
          <a:xfrm>
            <a:off x="7250906" y="1092994"/>
            <a:ext cx="357188" cy="357188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23" name="Text 20"/>
          <p:cNvSpPr/>
          <p:nvPr/>
        </p:nvSpPr>
        <p:spPr>
          <a:xfrm>
            <a:off x="7250906" y="1092994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6</a:t>
            </a:r>
            <a:endParaRPr lang="en-US" sz="1193" dirty="0"/>
          </a:p>
        </p:txBody>
      </p:sp>
      <p:sp>
        <p:nvSpPr>
          <p:cNvPr id="24" name="Shape 21"/>
          <p:cNvSpPr/>
          <p:nvPr/>
        </p:nvSpPr>
        <p:spPr>
          <a:xfrm>
            <a:off x="6225527" y="1557338"/>
            <a:ext cx="2407946" cy="6858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5" name="Shape 22"/>
          <p:cNvSpPr/>
          <p:nvPr/>
        </p:nvSpPr>
        <p:spPr>
          <a:xfrm>
            <a:off x="6225527" y="1557338"/>
            <a:ext cx="2407946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6" name="Shape 23"/>
          <p:cNvSpPr/>
          <p:nvPr/>
        </p:nvSpPr>
        <p:spPr>
          <a:xfrm>
            <a:off x="8619186" y="1557338"/>
            <a:ext cx="14288" cy="685800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7" name="Shape 24"/>
          <p:cNvSpPr/>
          <p:nvPr/>
        </p:nvSpPr>
        <p:spPr>
          <a:xfrm>
            <a:off x="6225527" y="2228850"/>
            <a:ext cx="2407946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28" name="Shape 25"/>
          <p:cNvSpPr/>
          <p:nvPr/>
        </p:nvSpPr>
        <p:spPr>
          <a:xfrm>
            <a:off x="6225527" y="1557338"/>
            <a:ext cx="35719" cy="685800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29" name="Text 26"/>
          <p:cNvSpPr/>
          <p:nvPr/>
        </p:nvSpPr>
        <p:spPr>
          <a:xfrm>
            <a:off x="6393405" y="1700213"/>
            <a:ext cx="207219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A52"/>
                </a:solidFill>
              </a:rPr>
              <a:t>Store &amp; Generate</a:t>
            </a:r>
            <a:endParaRPr lang="en-US" sz="734" dirty="0"/>
          </a:p>
        </p:txBody>
      </p:sp>
      <p:sp>
        <p:nvSpPr>
          <p:cNvPr id="30" name="Text 27"/>
          <p:cNvSpPr/>
          <p:nvPr/>
        </p:nvSpPr>
        <p:spPr>
          <a:xfrm>
            <a:off x="6393405" y="1932384"/>
            <a:ext cx="207219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555555"/>
                </a:solidFill>
              </a:rPr>
              <a:t>Save user to database and generate JWT tokens</a:t>
            </a:r>
            <a:endParaRPr lang="en-US" sz="674" dirty="0"/>
          </a:p>
        </p:txBody>
      </p:sp>
      <p:sp>
        <p:nvSpPr>
          <p:cNvPr id="31" name="Shape 28"/>
          <p:cNvSpPr/>
          <p:nvPr/>
        </p:nvSpPr>
        <p:spPr>
          <a:xfrm>
            <a:off x="357188" y="2464594"/>
            <a:ext cx="8429625" cy="1039416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2" name="Shape 29"/>
          <p:cNvSpPr/>
          <p:nvPr/>
        </p:nvSpPr>
        <p:spPr>
          <a:xfrm>
            <a:off x="357188" y="2464594"/>
            <a:ext cx="8429625" cy="1428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3" name="Shape 30"/>
          <p:cNvSpPr/>
          <p:nvPr/>
        </p:nvSpPr>
        <p:spPr>
          <a:xfrm>
            <a:off x="8772525" y="2464594"/>
            <a:ext cx="14288" cy="103941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4" name="Shape 31"/>
          <p:cNvSpPr/>
          <p:nvPr/>
        </p:nvSpPr>
        <p:spPr>
          <a:xfrm>
            <a:off x="357188" y="3489722"/>
            <a:ext cx="8429625" cy="14288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5" name="Shape 32"/>
          <p:cNvSpPr/>
          <p:nvPr/>
        </p:nvSpPr>
        <p:spPr>
          <a:xfrm>
            <a:off x="357188" y="2464594"/>
            <a:ext cx="35719" cy="1039416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44" y="2591395"/>
            <a:ext cx="100013" cy="100013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621506" y="2571750"/>
            <a:ext cx="159922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39C12"/>
                </a:solidFill>
              </a:rPr>
              <a:t>Bcryptjs Password Hashing Details</a:t>
            </a:r>
            <a:endParaRPr lang="en-US" sz="634" dirty="0"/>
          </a:p>
        </p:txBody>
      </p:sp>
      <p:sp>
        <p:nvSpPr>
          <p:cNvPr id="38" name="Text 34"/>
          <p:cNvSpPr/>
          <p:nvPr/>
        </p:nvSpPr>
        <p:spPr>
          <a:xfrm>
            <a:off x="464344" y="2768203"/>
            <a:ext cx="8215313" cy="117872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Algorithm: Bcryptjs with 12 salt rounds</a:t>
            </a:r>
            <a:endParaRPr lang="en-US" sz="568" dirty="0"/>
          </a:p>
        </p:txBody>
      </p:sp>
      <p:sp>
        <p:nvSpPr>
          <p:cNvPr id="39" name="Text 35"/>
          <p:cNvSpPr/>
          <p:nvPr/>
        </p:nvSpPr>
        <p:spPr>
          <a:xfrm>
            <a:off x="464344" y="2928938"/>
            <a:ext cx="8215313" cy="117872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Output: 60-character hash stored in database</a:t>
            </a:r>
            <a:endParaRPr lang="en-US" sz="568" dirty="0"/>
          </a:p>
        </p:txBody>
      </p:sp>
      <p:sp>
        <p:nvSpPr>
          <p:cNvPr id="40" name="Text 36"/>
          <p:cNvSpPr/>
          <p:nvPr/>
        </p:nvSpPr>
        <p:spPr>
          <a:xfrm>
            <a:off x="464344" y="3089672"/>
            <a:ext cx="8215313" cy="117872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Security: Resistant to rainbow table and brute-force attacks</a:t>
            </a:r>
            <a:endParaRPr lang="en-US" sz="568" dirty="0"/>
          </a:p>
        </p:txBody>
      </p:sp>
      <p:sp>
        <p:nvSpPr>
          <p:cNvPr id="41" name="Text 37"/>
          <p:cNvSpPr/>
          <p:nvPr/>
        </p:nvSpPr>
        <p:spPr>
          <a:xfrm>
            <a:off x="464344" y="3250406"/>
            <a:ext cx="8215313" cy="117872"/>
          </a:xfrm>
          <a:prstGeom prst="rect">
            <a:avLst/>
          </a:prstGeom>
          <a:noFill/>
          <a:ln/>
        </p:spPr>
        <p:txBody>
          <a:bodyPr wrap="none" lIns="153035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Verification: Secure comparison prevents timing attacks</a:t>
            </a:r>
            <a:endParaRPr lang="en-US" sz="568" dirty="0"/>
          </a:p>
        </p:txBody>
      </p:sp>
      <p:sp>
        <p:nvSpPr>
          <p:cNvPr id="42" name="Text 38"/>
          <p:cNvSpPr/>
          <p:nvPr/>
        </p:nvSpPr>
        <p:spPr>
          <a:xfrm>
            <a:off x="357188" y="3689747"/>
            <a:ext cx="84296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0D7EA8"/>
                </a:solidFill>
              </a:rPr>
              <a:t>↓</a:t>
            </a:r>
            <a:endParaRPr lang="en-US" sz="1269" dirty="0"/>
          </a:p>
        </p:txBody>
      </p:sp>
      <p:sp>
        <p:nvSpPr>
          <p:cNvPr id="43" name="Shape 39"/>
          <p:cNvSpPr/>
          <p:nvPr/>
        </p:nvSpPr>
        <p:spPr>
          <a:xfrm>
            <a:off x="357188" y="4268391"/>
            <a:ext cx="8429625" cy="1178719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4" name="Shape 40"/>
          <p:cNvSpPr/>
          <p:nvPr/>
        </p:nvSpPr>
        <p:spPr>
          <a:xfrm>
            <a:off x="357188" y="4268391"/>
            <a:ext cx="8429625" cy="1428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5" name="Shape 41"/>
          <p:cNvSpPr/>
          <p:nvPr/>
        </p:nvSpPr>
        <p:spPr>
          <a:xfrm>
            <a:off x="8772525" y="4268391"/>
            <a:ext cx="14288" cy="1178719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6" name="Shape 42"/>
          <p:cNvSpPr/>
          <p:nvPr/>
        </p:nvSpPr>
        <p:spPr>
          <a:xfrm>
            <a:off x="357188" y="5432822"/>
            <a:ext cx="8429625" cy="1428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7" name="Shape 43"/>
          <p:cNvSpPr/>
          <p:nvPr/>
        </p:nvSpPr>
        <p:spPr>
          <a:xfrm>
            <a:off x="357188" y="4268391"/>
            <a:ext cx="35719" cy="1178719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8" name="Text 44"/>
          <p:cNvSpPr/>
          <p:nvPr/>
        </p:nvSpPr>
        <p:spPr>
          <a:xfrm>
            <a:off x="464344" y="2768203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39C12"/>
                </a:solidFill>
              </a:rPr>
              <a:t>•</a:t>
            </a:r>
            <a:endParaRPr lang="en-US" sz="534" dirty="0"/>
          </a:p>
        </p:txBody>
      </p:sp>
      <p:sp>
        <p:nvSpPr>
          <p:cNvPr id="49" name="Text 45"/>
          <p:cNvSpPr/>
          <p:nvPr/>
        </p:nvSpPr>
        <p:spPr>
          <a:xfrm>
            <a:off x="464344" y="2928938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39C12"/>
                </a:solidFill>
              </a:rPr>
              <a:t>•</a:t>
            </a:r>
            <a:endParaRPr lang="en-US" sz="534" dirty="0"/>
          </a:p>
        </p:txBody>
      </p:sp>
      <p:sp>
        <p:nvSpPr>
          <p:cNvPr id="50" name="Text 46"/>
          <p:cNvSpPr/>
          <p:nvPr/>
        </p:nvSpPr>
        <p:spPr>
          <a:xfrm>
            <a:off x="464344" y="3089672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39C12"/>
                </a:solidFill>
              </a:rPr>
              <a:t>•</a:t>
            </a:r>
            <a:endParaRPr lang="en-US" sz="534" dirty="0"/>
          </a:p>
        </p:txBody>
      </p:sp>
      <p:sp>
        <p:nvSpPr>
          <p:cNvPr id="51" name="Text 47"/>
          <p:cNvSpPr/>
          <p:nvPr/>
        </p:nvSpPr>
        <p:spPr>
          <a:xfrm>
            <a:off x="464344" y="3250406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39C12"/>
                </a:solidFill>
              </a:rPr>
              <a:t>•</a:t>
            </a:r>
            <a:endParaRPr lang="en-US" sz="534" dirty="0"/>
          </a:p>
        </p:txBody>
      </p:sp>
      <p:pic>
        <p:nvPicPr>
          <p:cNvPr id="5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3" y="4429125"/>
            <a:ext cx="114300" cy="114300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671513" y="4411266"/>
            <a:ext cx="152611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E7D32"/>
                </a:solidFill>
              </a:rPr>
              <a:t>Registration Success Response</a:t>
            </a:r>
            <a:endParaRPr lang="en-US" sz="683" dirty="0"/>
          </a:p>
        </p:txBody>
      </p:sp>
      <p:sp>
        <p:nvSpPr>
          <p:cNvPr id="54" name="Text 49"/>
          <p:cNvSpPr/>
          <p:nvPr/>
        </p:nvSpPr>
        <p:spPr>
          <a:xfrm>
            <a:off x="500063" y="4632722"/>
            <a:ext cx="8143875" cy="12858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B5E20"/>
                </a:solidFill>
              </a:rPr>
              <a:t>User object with id, email, name, account status</a:t>
            </a:r>
            <a:endParaRPr lang="en-US" sz="621" dirty="0"/>
          </a:p>
        </p:txBody>
      </p:sp>
      <p:sp>
        <p:nvSpPr>
          <p:cNvPr id="55" name="Text 50"/>
          <p:cNvSpPr/>
          <p:nvPr/>
        </p:nvSpPr>
        <p:spPr>
          <a:xfrm>
            <a:off x="500063" y="4804172"/>
            <a:ext cx="8143875" cy="12858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B5E20"/>
                </a:solidFill>
              </a:rPr>
              <a:t>Access token (15 minute expiration)</a:t>
            </a:r>
            <a:endParaRPr lang="en-US" sz="621" dirty="0"/>
          </a:p>
        </p:txBody>
      </p:sp>
      <p:sp>
        <p:nvSpPr>
          <p:cNvPr id="56" name="Text 51"/>
          <p:cNvSpPr/>
          <p:nvPr/>
        </p:nvSpPr>
        <p:spPr>
          <a:xfrm>
            <a:off x="500063" y="4975622"/>
            <a:ext cx="8143875" cy="12858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B5E20"/>
                </a:solidFill>
              </a:rPr>
              <a:t>Refresh token (7 day expiration)</a:t>
            </a:r>
            <a:endParaRPr lang="en-US" sz="621" dirty="0"/>
          </a:p>
        </p:txBody>
      </p:sp>
      <p:sp>
        <p:nvSpPr>
          <p:cNvPr id="57" name="Text 52"/>
          <p:cNvSpPr/>
          <p:nvPr/>
        </p:nvSpPr>
        <p:spPr>
          <a:xfrm>
            <a:off x="500063" y="5147072"/>
            <a:ext cx="8143875" cy="12858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1B5E20"/>
                </a:solidFill>
              </a:rPr>
              <a:t>HTTP 201 Created status code</a:t>
            </a:r>
            <a:endParaRPr lang="en-US" sz="621" dirty="0"/>
          </a:p>
        </p:txBody>
      </p:sp>
      <p:sp>
        <p:nvSpPr>
          <p:cNvPr id="58" name="Text 53"/>
          <p:cNvSpPr/>
          <p:nvPr/>
        </p:nvSpPr>
        <p:spPr>
          <a:xfrm>
            <a:off x="500063" y="4632722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4CAF50"/>
                </a:solidFill>
              </a:rPr>
              <a:t>→</a:t>
            </a:r>
            <a:endParaRPr lang="en-US" sz="584" dirty="0"/>
          </a:p>
        </p:txBody>
      </p:sp>
      <p:sp>
        <p:nvSpPr>
          <p:cNvPr id="59" name="Text 54"/>
          <p:cNvSpPr/>
          <p:nvPr/>
        </p:nvSpPr>
        <p:spPr>
          <a:xfrm>
            <a:off x="500063" y="4804172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4CAF50"/>
                </a:solidFill>
              </a:rPr>
              <a:t>→</a:t>
            </a:r>
            <a:endParaRPr lang="en-US" sz="584" dirty="0"/>
          </a:p>
        </p:txBody>
      </p:sp>
      <p:sp>
        <p:nvSpPr>
          <p:cNvPr id="60" name="Text 55"/>
          <p:cNvSpPr/>
          <p:nvPr/>
        </p:nvSpPr>
        <p:spPr>
          <a:xfrm>
            <a:off x="500063" y="4975622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4CAF50"/>
                </a:solidFill>
              </a:rPr>
              <a:t>→</a:t>
            </a:r>
            <a:endParaRPr lang="en-US" sz="584" dirty="0"/>
          </a:p>
        </p:txBody>
      </p:sp>
      <p:sp>
        <p:nvSpPr>
          <p:cNvPr id="61" name="Text 56"/>
          <p:cNvSpPr/>
          <p:nvPr/>
        </p:nvSpPr>
        <p:spPr>
          <a:xfrm>
            <a:off x="500063" y="5147072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4CAF50"/>
                </a:solidFill>
              </a:rPr>
              <a:t>→</a:t>
            </a:r>
            <a:endParaRPr lang="en-US" sz="58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2033234" cy="521494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A52"/>
                </a:solidFill>
              </a:rPr>
              <a:t>User Login Flow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357188" y="1184467"/>
            <a:ext cx="1000125" cy="834368"/>
          </a:xfrm>
          <a:prstGeom prst="rect">
            <a:avLst/>
          </a:prstGeom>
          <a:solidFill>
            <a:srgbClr val="F8F9FA"/>
          </a:solidFill>
          <a:ln w="18288">
            <a:solidFill>
              <a:srgbClr val="0D7EA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8193" y="1305911"/>
            <a:ext cx="9808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D7EA8"/>
                </a:solidFill>
              </a:rPr>
              <a:t>1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609842" y="1620236"/>
            <a:ext cx="49481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User Input</a:t>
            </a:r>
            <a:endParaRPr lang="en-US" sz="634" dirty="0"/>
          </a:p>
        </p:txBody>
      </p:sp>
      <p:sp>
        <p:nvSpPr>
          <p:cNvPr id="7" name="Text 4"/>
          <p:cNvSpPr/>
          <p:nvPr/>
        </p:nvSpPr>
        <p:spPr>
          <a:xfrm>
            <a:off x="529447" y="1795258"/>
            <a:ext cx="655606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Email &amp; Password</a:t>
            </a:r>
            <a:endParaRPr lang="en-US" sz="568" dirty="0"/>
          </a:p>
        </p:txBody>
      </p:sp>
      <p:sp>
        <p:nvSpPr>
          <p:cNvPr id="8" name="Text 5"/>
          <p:cNvSpPr/>
          <p:nvPr/>
        </p:nvSpPr>
        <p:spPr>
          <a:xfrm>
            <a:off x="2628900" y="1473064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0D7EA8"/>
                </a:solidFill>
              </a:rPr>
              <a:t>→</a:t>
            </a:r>
            <a:endParaRPr lang="en-US" sz="1269" dirty="0"/>
          </a:p>
        </p:txBody>
      </p:sp>
      <p:sp>
        <p:nvSpPr>
          <p:cNvPr id="9" name="Shape 6"/>
          <p:cNvSpPr/>
          <p:nvPr/>
        </p:nvSpPr>
        <p:spPr>
          <a:xfrm>
            <a:off x="4071938" y="1184467"/>
            <a:ext cx="1000125" cy="834368"/>
          </a:xfrm>
          <a:prstGeom prst="rect">
            <a:avLst/>
          </a:prstGeom>
          <a:solidFill>
            <a:srgbClr val="F8F9FA"/>
          </a:solidFill>
          <a:ln w="18288">
            <a:solidFill>
              <a:srgbClr val="0D7EA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22943" y="1305911"/>
            <a:ext cx="9808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D7EA8"/>
                </a:solidFill>
              </a:rPr>
              <a:t>2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4259517" y="1620236"/>
            <a:ext cx="62493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Email Lookup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4274251" y="1795258"/>
            <a:ext cx="595499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Query Database</a:t>
            </a:r>
            <a:endParaRPr lang="en-US" sz="568" dirty="0"/>
          </a:p>
        </p:txBody>
      </p:sp>
      <p:sp>
        <p:nvSpPr>
          <p:cNvPr id="13" name="Text 10"/>
          <p:cNvSpPr/>
          <p:nvPr/>
        </p:nvSpPr>
        <p:spPr>
          <a:xfrm>
            <a:off x="6343650" y="1473064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0D7EA8"/>
                </a:solidFill>
              </a:rPr>
              <a:t>→</a:t>
            </a:r>
            <a:endParaRPr lang="en-US" sz="1269" dirty="0"/>
          </a:p>
        </p:txBody>
      </p:sp>
      <p:sp>
        <p:nvSpPr>
          <p:cNvPr id="14" name="Shape 11"/>
          <p:cNvSpPr/>
          <p:nvPr/>
        </p:nvSpPr>
        <p:spPr>
          <a:xfrm>
            <a:off x="7786688" y="1184467"/>
            <a:ext cx="1000125" cy="834368"/>
          </a:xfrm>
          <a:prstGeom prst="rect">
            <a:avLst/>
          </a:prstGeom>
          <a:solidFill>
            <a:srgbClr val="F8F9FA"/>
          </a:solidFill>
          <a:ln w="18288">
            <a:solidFill>
              <a:srgbClr val="0D7E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37693" y="1305911"/>
            <a:ext cx="9808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D7EA8"/>
                </a:solidFill>
              </a:rPr>
              <a:t>3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8001167" y="1620236"/>
            <a:ext cx="57116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User Found?</a:t>
            </a:r>
            <a:endParaRPr lang="en-US" sz="634" dirty="0"/>
          </a:p>
        </p:txBody>
      </p:sp>
      <p:sp>
        <p:nvSpPr>
          <p:cNvPr id="17" name="Text 14"/>
          <p:cNvSpPr/>
          <p:nvPr/>
        </p:nvSpPr>
        <p:spPr>
          <a:xfrm>
            <a:off x="7981717" y="1795258"/>
            <a:ext cx="610037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Validation Check</a:t>
            </a:r>
            <a:endParaRPr lang="en-US" sz="568" dirty="0"/>
          </a:p>
        </p:txBody>
      </p:sp>
      <p:sp>
        <p:nvSpPr>
          <p:cNvPr id="18" name="Shape 15"/>
          <p:cNvSpPr/>
          <p:nvPr/>
        </p:nvSpPr>
        <p:spPr>
          <a:xfrm>
            <a:off x="357188" y="2147422"/>
            <a:ext cx="1000125" cy="834368"/>
          </a:xfrm>
          <a:prstGeom prst="rect">
            <a:avLst/>
          </a:prstGeom>
          <a:solidFill>
            <a:srgbClr val="FFF8F0"/>
          </a:solidFill>
          <a:ln w="18288">
            <a:solidFill>
              <a:srgbClr val="F39C1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8193" y="2268866"/>
            <a:ext cx="9808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39C12"/>
                </a:solidFill>
              </a:rPr>
              <a:t>4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487421" y="2583191"/>
            <a:ext cx="73962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Password Verify</a:t>
            </a:r>
            <a:endParaRPr lang="en-US" sz="634" dirty="0"/>
          </a:p>
        </p:txBody>
      </p:sp>
      <p:sp>
        <p:nvSpPr>
          <p:cNvPr id="21" name="Text 18"/>
          <p:cNvSpPr/>
          <p:nvPr/>
        </p:nvSpPr>
        <p:spPr>
          <a:xfrm>
            <a:off x="529893" y="2758213"/>
            <a:ext cx="654686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Bcryptjs Compare</a:t>
            </a:r>
            <a:endParaRPr lang="en-US" sz="568" dirty="0"/>
          </a:p>
        </p:txBody>
      </p:sp>
      <p:sp>
        <p:nvSpPr>
          <p:cNvPr id="22" name="Text 19"/>
          <p:cNvSpPr/>
          <p:nvPr/>
        </p:nvSpPr>
        <p:spPr>
          <a:xfrm>
            <a:off x="2623654" y="2436019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0D7EA8"/>
                </a:solidFill>
              </a:rPr>
              <a:t>→</a:t>
            </a:r>
            <a:endParaRPr lang="en-US" sz="1269" dirty="0"/>
          </a:p>
        </p:txBody>
      </p:sp>
      <p:sp>
        <p:nvSpPr>
          <p:cNvPr id="23" name="Shape 20"/>
          <p:cNvSpPr/>
          <p:nvPr/>
        </p:nvSpPr>
        <p:spPr>
          <a:xfrm>
            <a:off x="4061445" y="2147422"/>
            <a:ext cx="1000125" cy="834368"/>
          </a:xfrm>
          <a:prstGeom prst="rect">
            <a:avLst/>
          </a:prstGeom>
          <a:solidFill>
            <a:srgbClr val="F8F9FA"/>
          </a:solidFill>
          <a:ln w="18288">
            <a:solidFill>
              <a:srgbClr val="0D7EA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12450" y="2268866"/>
            <a:ext cx="9808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D7EA8"/>
                </a:solidFill>
              </a:rPr>
              <a:t>5</a:t>
            </a:r>
            <a:endParaRPr lang="en-US" sz="1193" dirty="0"/>
          </a:p>
        </p:txBody>
      </p:sp>
      <p:sp>
        <p:nvSpPr>
          <p:cNvPr id="25" name="Text 22"/>
          <p:cNvSpPr/>
          <p:nvPr/>
        </p:nvSpPr>
        <p:spPr>
          <a:xfrm>
            <a:off x="4212217" y="2583191"/>
            <a:ext cx="6985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Account Status</a:t>
            </a:r>
            <a:endParaRPr lang="en-US" sz="634" dirty="0"/>
          </a:p>
        </p:txBody>
      </p:sp>
      <p:sp>
        <p:nvSpPr>
          <p:cNvPr id="26" name="Text 23"/>
          <p:cNvSpPr/>
          <p:nvPr/>
        </p:nvSpPr>
        <p:spPr>
          <a:xfrm>
            <a:off x="4329754" y="2758213"/>
            <a:ext cx="463479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Check Active</a:t>
            </a:r>
            <a:endParaRPr lang="en-US" sz="568" dirty="0"/>
          </a:p>
        </p:txBody>
      </p:sp>
      <p:sp>
        <p:nvSpPr>
          <p:cNvPr id="27" name="Text 24"/>
          <p:cNvSpPr/>
          <p:nvPr/>
        </p:nvSpPr>
        <p:spPr>
          <a:xfrm>
            <a:off x="6327911" y="2436019"/>
            <a:ext cx="1714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0D7EA8"/>
                </a:solidFill>
              </a:rPr>
              <a:t>→</a:t>
            </a:r>
            <a:endParaRPr lang="en-US" sz="1269" dirty="0"/>
          </a:p>
        </p:txBody>
      </p:sp>
      <p:sp>
        <p:nvSpPr>
          <p:cNvPr id="28" name="Shape 25"/>
          <p:cNvSpPr/>
          <p:nvPr/>
        </p:nvSpPr>
        <p:spPr>
          <a:xfrm>
            <a:off x="7765703" y="2147422"/>
            <a:ext cx="1021054" cy="834368"/>
          </a:xfrm>
          <a:prstGeom prst="rect">
            <a:avLst/>
          </a:prstGeom>
          <a:solidFill>
            <a:srgbClr val="FFF8F0"/>
          </a:solidFill>
          <a:ln w="18288">
            <a:solidFill>
              <a:srgbClr val="F39C1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37693" y="2268866"/>
            <a:ext cx="9808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F39C12"/>
                </a:solidFill>
              </a:rPr>
              <a:t>6</a:t>
            </a:r>
            <a:endParaRPr lang="en-US" sz="1193" dirty="0"/>
          </a:p>
        </p:txBody>
      </p:sp>
      <p:sp>
        <p:nvSpPr>
          <p:cNvPr id="30" name="Text 27"/>
          <p:cNvSpPr/>
          <p:nvPr/>
        </p:nvSpPr>
        <p:spPr>
          <a:xfrm>
            <a:off x="7897667" y="2583191"/>
            <a:ext cx="7781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Generate Tokens</a:t>
            </a:r>
            <a:endParaRPr lang="en-US" sz="634" dirty="0"/>
          </a:p>
        </p:txBody>
      </p:sp>
      <p:sp>
        <p:nvSpPr>
          <p:cNvPr id="31" name="Text 28"/>
          <p:cNvSpPr/>
          <p:nvPr/>
        </p:nvSpPr>
        <p:spPr>
          <a:xfrm>
            <a:off x="8050560" y="2758213"/>
            <a:ext cx="472353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JWT Creation</a:t>
            </a:r>
            <a:endParaRPr lang="en-US" sz="568" dirty="0"/>
          </a:p>
        </p:txBody>
      </p:sp>
      <p:sp>
        <p:nvSpPr>
          <p:cNvPr id="32" name="Shape 29"/>
          <p:cNvSpPr/>
          <p:nvPr/>
        </p:nvSpPr>
        <p:spPr>
          <a:xfrm>
            <a:off x="3857625" y="3110378"/>
            <a:ext cx="1428750" cy="791505"/>
          </a:xfrm>
          <a:prstGeom prst="rect">
            <a:avLst/>
          </a:prstGeom>
          <a:solidFill>
            <a:srgbClr val="F8F9FA"/>
          </a:solidFill>
          <a:ln w="18288">
            <a:solidFill>
              <a:srgbClr val="0D7EA8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20347" y="3231821"/>
            <a:ext cx="10330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D7EA8"/>
                </a:solidFill>
              </a:rPr>
              <a:t>✓</a:t>
            </a:r>
            <a:endParaRPr lang="en-US" sz="987" dirty="0"/>
          </a:p>
        </p:txBody>
      </p:sp>
      <p:sp>
        <p:nvSpPr>
          <p:cNvPr id="34" name="Text 31"/>
          <p:cNvSpPr/>
          <p:nvPr/>
        </p:nvSpPr>
        <p:spPr>
          <a:xfrm>
            <a:off x="4179233" y="3503284"/>
            <a:ext cx="78550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Return Response</a:t>
            </a:r>
            <a:endParaRPr lang="en-US" sz="634" dirty="0"/>
          </a:p>
        </p:txBody>
      </p:sp>
      <p:sp>
        <p:nvSpPr>
          <p:cNvPr id="35" name="Text 32"/>
          <p:cNvSpPr/>
          <p:nvPr/>
        </p:nvSpPr>
        <p:spPr>
          <a:xfrm>
            <a:off x="4216877" y="3678306"/>
            <a:ext cx="710217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User Data + Tokens</a:t>
            </a:r>
            <a:endParaRPr lang="en-US" sz="568" dirty="0"/>
          </a:p>
        </p:txBody>
      </p:sp>
      <p:sp>
        <p:nvSpPr>
          <p:cNvPr id="36" name="Shape 33"/>
          <p:cNvSpPr/>
          <p:nvPr/>
        </p:nvSpPr>
        <p:spPr>
          <a:xfrm>
            <a:off x="357188" y="4236244"/>
            <a:ext cx="8429625" cy="55006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357188" y="4236244"/>
            <a:ext cx="8429625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38" name="Shape 35"/>
          <p:cNvSpPr/>
          <p:nvPr/>
        </p:nvSpPr>
        <p:spPr>
          <a:xfrm>
            <a:off x="357188" y="4464844"/>
            <a:ext cx="321469" cy="321469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84" y="4554141"/>
            <a:ext cx="142875" cy="142875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785813" y="4464844"/>
            <a:ext cx="367582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Password Verification</a:t>
            </a:r>
            <a:endParaRPr lang="en-US" sz="634" dirty="0"/>
          </a:p>
        </p:txBody>
      </p:sp>
      <p:sp>
        <p:nvSpPr>
          <p:cNvPr id="41" name="Text 37"/>
          <p:cNvSpPr/>
          <p:nvPr/>
        </p:nvSpPr>
        <p:spPr>
          <a:xfrm>
            <a:off x="785813" y="4632722"/>
            <a:ext cx="3675822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Bcryptjs compares provided password with stored hash using secure comparison algorithm</a:t>
            </a:r>
            <a:endParaRPr lang="en-US" sz="621" dirty="0"/>
          </a:p>
        </p:txBody>
      </p:sp>
      <p:sp>
        <p:nvSpPr>
          <p:cNvPr id="42" name="Shape 38"/>
          <p:cNvSpPr/>
          <p:nvPr/>
        </p:nvSpPr>
        <p:spPr>
          <a:xfrm>
            <a:off x="4661297" y="4464844"/>
            <a:ext cx="321469" cy="321469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594" y="4554141"/>
            <a:ext cx="142875" cy="142875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5089922" y="4464844"/>
            <a:ext cx="3305324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Token Generation</a:t>
            </a:r>
            <a:endParaRPr lang="en-US" sz="634" dirty="0"/>
          </a:p>
        </p:txBody>
      </p:sp>
      <p:sp>
        <p:nvSpPr>
          <p:cNvPr id="45" name="Text 40"/>
          <p:cNvSpPr/>
          <p:nvPr/>
        </p:nvSpPr>
        <p:spPr>
          <a:xfrm>
            <a:off x="5089922" y="4632722"/>
            <a:ext cx="3305324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Access token (15 min) and refresh token (7 days) generated with user ID and email</a:t>
            </a:r>
            <a:endParaRPr lang="en-US" sz="62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435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4161876" cy="521494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A52"/>
                </a:solidFill>
              </a:rPr>
              <a:t>Token Management and Refresh</a:t>
            </a:r>
            <a:endParaRPr lang="en-US" sz="1808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975122"/>
            <a:ext cx="142875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00063" y="950119"/>
            <a:ext cx="130119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D7EA8"/>
                </a:solidFill>
              </a:rPr>
              <a:t>JWT Token Structure</a:t>
            </a:r>
            <a:endParaRPr lang="en-US" sz="885" dirty="0"/>
          </a:p>
        </p:txBody>
      </p:sp>
      <p:sp>
        <p:nvSpPr>
          <p:cNvPr id="6" name="Shape 2"/>
          <p:cNvSpPr/>
          <p:nvPr/>
        </p:nvSpPr>
        <p:spPr>
          <a:xfrm>
            <a:off x="285750" y="1250156"/>
            <a:ext cx="4179094" cy="155376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3"/>
          <p:cNvSpPr/>
          <p:nvPr/>
        </p:nvSpPr>
        <p:spPr>
          <a:xfrm>
            <a:off x="285750" y="1250156"/>
            <a:ext cx="35719" cy="1553766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8" name="Text 4"/>
          <p:cNvSpPr/>
          <p:nvPr/>
        </p:nvSpPr>
        <p:spPr>
          <a:xfrm>
            <a:off x="400050" y="1364456"/>
            <a:ext cx="395049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A52"/>
                </a:solidFill>
              </a:rPr>
              <a:t>Access Token</a:t>
            </a:r>
            <a:endParaRPr lang="en-US" sz="734" dirty="0"/>
          </a:p>
        </p:txBody>
      </p:sp>
      <p:sp>
        <p:nvSpPr>
          <p:cNvPr id="9" name="Text 5"/>
          <p:cNvSpPr/>
          <p:nvPr/>
        </p:nvSpPr>
        <p:spPr>
          <a:xfrm>
            <a:off x="400050" y="1639491"/>
            <a:ext cx="36776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Purpose:</a:t>
            </a:r>
            <a:endParaRPr lang="en-US" sz="584" dirty="0"/>
          </a:p>
        </p:txBody>
      </p:sp>
      <p:sp>
        <p:nvSpPr>
          <p:cNvPr id="10" name="Text 6"/>
          <p:cNvSpPr/>
          <p:nvPr/>
        </p:nvSpPr>
        <p:spPr>
          <a:xfrm>
            <a:off x="3803433" y="1639491"/>
            <a:ext cx="54711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D7EA8"/>
                </a:solidFill>
              </a:rPr>
              <a:t>API Requests</a:t>
            </a:r>
            <a:endParaRPr lang="en-US" sz="584" dirty="0"/>
          </a:p>
        </p:txBody>
      </p:sp>
      <p:sp>
        <p:nvSpPr>
          <p:cNvPr id="11" name="Text 7"/>
          <p:cNvSpPr/>
          <p:nvPr/>
        </p:nvSpPr>
        <p:spPr>
          <a:xfrm>
            <a:off x="400050" y="1932384"/>
            <a:ext cx="4514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Expiration:</a:t>
            </a:r>
            <a:endParaRPr lang="en-US" sz="584" dirty="0"/>
          </a:p>
        </p:txBody>
      </p:sp>
      <p:sp>
        <p:nvSpPr>
          <p:cNvPr id="12" name="Text 8"/>
          <p:cNvSpPr/>
          <p:nvPr/>
        </p:nvSpPr>
        <p:spPr>
          <a:xfrm>
            <a:off x="3886256" y="1932384"/>
            <a:ext cx="4642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D7EA8"/>
                </a:solidFill>
              </a:rPr>
              <a:t>15 minutes</a:t>
            </a:r>
            <a:endParaRPr lang="en-US" sz="584" dirty="0"/>
          </a:p>
        </p:txBody>
      </p:sp>
      <p:sp>
        <p:nvSpPr>
          <p:cNvPr id="13" name="Text 9"/>
          <p:cNvSpPr/>
          <p:nvPr/>
        </p:nvSpPr>
        <p:spPr>
          <a:xfrm>
            <a:off x="400050" y="2225278"/>
            <a:ext cx="4470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Algorithm:</a:t>
            </a:r>
            <a:endParaRPr lang="en-US" sz="584" dirty="0"/>
          </a:p>
        </p:txBody>
      </p:sp>
      <p:sp>
        <p:nvSpPr>
          <p:cNvPr id="14" name="Text 10"/>
          <p:cNvSpPr/>
          <p:nvPr/>
        </p:nvSpPr>
        <p:spPr>
          <a:xfrm>
            <a:off x="4091471" y="2225278"/>
            <a:ext cx="25907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D7EA8"/>
                </a:solidFill>
              </a:rPr>
              <a:t>HS256</a:t>
            </a:r>
            <a:endParaRPr lang="en-US" sz="584" dirty="0"/>
          </a:p>
        </p:txBody>
      </p:sp>
      <p:sp>
        <p:nvSpPr>
          <p:cNvPr id="15" name="Text 11"/>
          <p:cNvSpPr/>
          <p:nvPr/>
        </p:nvSpPr>
        <p:spPr>
          <a:xfrm>
            <a:off x="400050" y="2518172"/>
            <a:ext cx="3555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Payload:</a:t>
            </a:r>
            <a:endParaRPr lang="en-US" sz="584" dirty="0"/>
          </a:p>
        </p:txBody>
      </p:sp>
      <p:sp>
        <p:nvSpPr>
          <p:cNvPr id="16" name="Text 12"/>
          <p:cNvSpPr/>
          <p:nvPr/>
        </p:nvSpPr>
        <p:spPr>
          <a:xfrm>
            <a:off x="3802400" y="2518172"/>
            <a:ext cx="5481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D7EA8"/>
                </a:solidFill>
              </a:rPr>
              <a:t>userId, email</a:t>
            </a:r>
            <a:endParaRPr lang="en-US" sz="584" dirty="0"/>
          </a:p>
        </p:txBody>
      </p:sp>
      <p:sp>
        <p:nvSpPr>
          <p:cNvPr id="17" name="Shape 13"/>
          <p:cNvSpPr/>
          <p:nvPr/>
        </p:nvSpPr>
        <p:spPr>
          <a:xfrm>
            <a:off x="285750" y="2911078"/>
            <a:ext cx="4179094" cy="155376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8" name="Shape 14"/>
          <p:cNvSpPr/>
          <p:nvPr/>
        </p:nvSpPr>
        <p:spPr>
          <a:xfrm>
            <a:off x="285750" y="2911078"/>
            <a:ext cx="35719" cy="155376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9" name="Text 15"/>
          <p:cNvSpPr/>
          <p:nvPr/>
        </p:nvSpPr>
        <p:spPr>
          <a:xfrm>
            <a:off x="400050" y="3025378"/>
            <a:ext cx="3950494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A52"/>
                </a:solidFill>
              </a:rPr>
              <a:t>Refresh Token</a:t>
            </a:r>
            <a:endParaRPr lang="en-US" sz="734" dirty="0"/>
          </a:p>
        </p:txBody>
      </p:sp>
      <p:sp>
        <p:nvSpPr>
          <p:cNvPr id="20" name="Text 16"/>
          <p:cNvSpPr/>
          <p:nvPr/>
        </p:nvSpPr>
        <p:spPr>
          <a:xfrm>
            <a:off x="400050" y="3300413"/>
            <a:ext cx="36776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Purpose:</a:t>
            </a:r>
            <a:endParaRPr lang="en-US" sz="584" dirty="0"/>
          </a:p>
        </p:txBody>
      </p:sp>
      <p:sp>
        <p:nvSpPr>
          <p:cNvPr id="21" name="Text 17"/>
          <p:cNvSpPr/>
          <p:nvPr/>
        </p:nvSpPr>
        <p:spPr>
          <a:xfrm>
            <a:off x="3723010" y="3300413"/>
            <a:ext cx="6275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D7EA8"/>
                </a:solidFill>
              </a:rPr>
              <a:t>Token Renewal</a:t>
            </a:r>
            <a:endParaRPr lang="en-US" sz="584" dirty="0"/>
          </a:p>
        </p:txBody>
      </p:sp>
      <p:sp>
        <p:nvSpPr>
          <p:cNvPr id="22" name="Text 18"/>
          <p:cNvSpPr/>
          <p:nvPr/>
        </p:nvSpPr>
        <p:spPr>
          <a:xfrm>
            <a:off x="400050" y="3593306"/>
            <a:ext cx="4514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Expiration:</a:t>
            </a:r>
            <a:endParaRPr lang="en-US" sz="584" dirty="0"/>
          </a:p>
        </p:txBody>
      </p:sp>
      <p:sp>
        <p:nvSpPr>
          <p:cNvPr id="23" name="Text 19"/>
          <p:cNvSpPr/>
          <p:nvPr/>
        </p:nvSpPr>
        <p:spPr>
          <a:xfrm>
            <a:off x="4086253" y="3593306"/>
            <a:ext cx="26429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D7EA8"/>
                </a:solidFill>
              </a:rPr>
              <a:t>7 days</a:t>
            </a:r>
            <a:endParaRPr lang="en-US" sz="584" dirty="0"/>
          </a:p>
        </p:txBody>
      </p:sp>
      <p:sp>
        <p:nvSpPr>
          <p:cNvPr id="24" name="Text 20"/>
          <p:cNvSpPr/>
          <p:nvPr/>
        </p:nvSpPr>
        <p:spPr>
          <a:xfrm>
            <a:off x="400050" y="3886200"/>
            <a:ext cx="44707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Algorithm:</a:t>
            </a:r>
            <a:endParaRPr lang="en-US" sz="584" dirty="0"/>
          </a:p>
        </p:txBody>
      </p:sp>
      <p:sp>
        <p:nvSpPr>
          <p:cNvPr id="25" name="Text 21"/>
          <p:cNvSpPr/>
          <p:nvPr/>
        </p:nvSpPr>
        <p:spPr>
          <a:xfrm>
            <a:off x="4091471" y="3886200"/>
            <a:ext cx="25907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D7EA8"/>
                </a:solidFill>
              </a:rPr>
              <a:t>HS256</a:t>
            </a:r>
            <a:endParaRPr lang="en-US" sz="584" dirty="0"/>
          </a:p>
        </p:txBody>
      </p:sp>
      <p:sp>
        <p:nvSpPr>
          <p:cNvPr id="26" name="Text 22"/>
          <p:cNvSpPr/>
          <p:nvPr/>
        </p:nvSpPr>
        <p:spPr>
          <a:xfrm>
            <a:off x="400050" y="4179094"/>
            <a:ext cx="3555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Payload:</a:t>
            </a:r>
            <a:endParaRPr lang="en-US" sz="584" dirty="0"/>
          </a:p>
        </p:txBody>
      </p:sp>
      <p:sp>
        <p:nvSpPr>
          <p:cNvPr id="27" name="Text 23"/>
          <p:cNvSpPr/>
          <p:nvPr/>
        </p:nvSpPr>
        <p:spPr>
          <a:xfrm>
            <a:off x="3802400" y="4179094"/>
            <a:ext cx="54814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D7EA8"/>
                </a:solidFill>
              </a:rPr>
              <a:t>userId, email</a:t>
            </a:r>
            <a:endParaRPr lang="en-US" sz="584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156" y="975122"/>
            <a:ext cx="142875" cy="14287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893469" y="950119"/>
            <a:ext cx="123985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D7EA8"/>
                </a:solidFill>
              </a:rPr>
              <a:t>Token Refresh Flow</a:t>
            </a:r>
            <a:endParaRPr lang="en-US" sz="885" dirty="0"/>
          </a:p>
        </p:txBody>
      </p:sp>
      <p:sp>
        <p:nvSpPr>
          <p:cNvPr id="30" name="Shape 25"/>
          <p:cNvSpPr/>
          <p:nvPr/>
        </p:nvSpPr>
        <p:spPr>
          <a:xfrm>
            <a:off x="4679156" y="1250156"/>
            <a:ext cx="228600" cy="22860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31" name="Text 26"/>
          <p:cNvSpPr/>
          <p:nvPr/>
        </p:nvSpPr>
        <p:spPr>
          <a:xfrm>
            <a:off x="4679156" y="125015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1</a:t>
            </a:r>
            <a:endParaRPr lang="en-US" sz="634" dirty="0"/>
          </a:p>
        </p:txBody>
      </p:sp>
      <p:sp>
        <p:nvSpPr>
          <p:cNvPr id="32" name="Text 27"/>
          <p:cNvSpPr/>
          <p:nvPr/>
        </p:nvSpPr>
        <p:spPr>
          <a:xfrm>
            <a:off x="4993481" y="1250156"/>
            <a:ext cx="185201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Client Detects Expiration</a:t>
            </a:r>
            <a:endParaRPr lang="en-US" sz="634" dirty="0"/>
          </a:p>
        </p:txBody>
      </p:sp>
      <p:sp>
        <p:nvSpPr>
          <p:cNvPr id="33" name="Text 28"/>
          <p:cNvSpPr/>
          <p:nvPr/>
        </p:nvSpPr>
        <p:spPr>
          <a:xfrm>
            <a:off x="4993481" y="1403747"/>
            <a:ext cx="1852017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Access token nears expiration or returns 401 error</a:t>
            </a:r>
            <a:endParaRPr lang="en-US" sz="568" dirty="0"/>
          </a:p>
        </p:txBody>
      </p:sp>
      <p:sp>
        <p:nvSpPr>
          <p:cNvPr id="34" name="Text 29"/>
          <p:cNvSpPr/>
          <p:nvPr/>
        </p:nvSpPr>
        <p:spPr>
          <a:xfrm>
            <a:off x="4679156" y="1563030"/>
            <a:ext cx="4179094" cy="914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834" dirty="0">
                <a:solidFill>
                  <a:srgbClr val="0D7EA8"/>
                </a:solidFill>
              </a:rPr>
              <a:t>↓</a:t>
            </a:r>
            <a:endParaRPr lang="en-US" sz="834" dirty="0"/>
          </a:p>
        </p:txBody>
      </p:sp>
      <p:sp>
        <p:nvSpPr>
          <p:cNvPr id="35" name="Shape 30"/>
          <p:cNvSpPr/>
          <p:nvPr/>
        </p:nvSpPr>
        <p:spPr>
          <a:xfrm>
            <a:off x="4679156" y="1711598"/>
            <a:ext cx="228600" cy="22860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36" name="Text 31"/>
          <p:cNvSpPr/>
          <p:nvPr/>
        </p:nvSpPr>
        <p:spPr>
          <a:xfrm>
            <a:off x="4679156" y="171159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2</a:t>
            </a:r>
            <a:endParaRPr lang="en-US" sz="634" dirty="0"/>
          </a:p>
        </p:txBody>
      </p:sp>
      <p:sp>
        <p:nvSpPr>
          <p:cNvPr id="37" name="Text 32"/>
          <p:cNvSpPr/>
          <p:nvPr/>
        </p:nvSpPr>
        <p:spPr>
          <a:xfrm>
            <a:off x="4993481" y="1711598"/>
            <a:ext cx="16585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Send Refresh Request</a:t>
            </a:r>
            <a:endParaRPr lang="en-US" sz="634" dirty="0"/>
          </a:p>
        </p:txBody>
      </p:sp>
      <p:sp>
        <p:nvSpPr>
          <p:cNvPr id="38" name="Text 33"/>
          <p:cNvSpPr/>
          <p:nvPr/>
        </p:nvSpPr>
        <p:spPr>
          <a:xfrm>
            <a:off x="4993481" y="1865188"/>
            <a:ext cx="1658550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POST /v1/api/auth/refresh with refresh token</a:t>
            </a:r>
            <a:endParaRPr lang="en-US" sz="568" dirty="0"/>
          </a:p>
        </p:txBody>
      </p:sp>
      <p:sp>
        <p:nvSpPr>
          <p:cNvPr id="39" name="Text 34"/>
          <p:cNvSpPr/>
          <p:nvPr/>
        </p:nvSpPr>
        <p:spPr>
          <a:xfrm>
            <a:off x="4679156" y="2024472"/>
            <a:ext cx="4179094" cy="914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834" dirty="0">
                <a:solidFill>
                  <a:srgbClr val="0D7EA8"/>
                </a:solidFill>
              </a:rPr>
              <a:t>↓</a:t>
            </a:r>
            <a:endParaRPr lang="en-US" sz="834" dirty="0"/>
          </a:p>
        </p:txBody>
      </p:sp>
      <p:sp>
        <p:nvSpPr>
          <p:cNvPr id="40" name="Shape 35"/>
          <p:cNvSpPr/>
          <p:nvPr/>
        </p:nvSpPr>
        <p:spPr>
          <a:xfrm>
            <a:off x="4679156" y="2173039"/>
            <a:ext cx="228600" cy="22860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41" name="Text 36"/>
          <p:cNvSpPr/>
          <p:nvPr/>
        </p:nvSpPr>
        <p:spPr>
          <a:xfrm>
            <a:off x="4679156" y="2173039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3</a:t>
            </a:r>
            <a:endParaRPr lang="en-US" sz="634" dirty="0"/>
          </a:p>
        </p:txBody>
      </p:sp>
      <p:sp>
        <p:nvSpPr>
          <p:cNvPr id="42" name="Text 37"/>
          <p:cNvSpPr/>
          <p:nvPr/>
        </p:nvSpPr>
        <p:spPr>
          <a:xfrm>
            <a:off x="4993481" y="2173039"/>
            <a:ext cx="17414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Verify Refresh Token</a:t>
            </a:r>
            <a:endParaRPr lang="en-US" sz="634" dirty="0"/>
          </a:p>
        </p:txBody>
      </p:sp>
      <p:sp>
        <p:nvSpPr>
          <p:cNvPr id="43" name="Text 38"/>
          <p:cNvSpPr/>
          <p:nvPr/>
        </p:nvSpPr>
        <p:spPr>
          <a:xfrm>
            <a:off x="4993481" y="2326630"/>
            <a:ext cx="1741456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Server validates token signature and expiration</a:t>
            </a:r>
            <a:endParaRPr lang="en-US" sz="568" dirty="0"/>
          </a:p>
        </p:txBody>
      </p:sp>
      <p:sp>
        <p:nvSpPr>
          <p:cNvPr id="44" name="Text 39"/>
          <p:cNvSpPr/>
          <p:nvPr/>
        </p:nvSpPr>
        <p:spPr>
          <a:xfrm>
            <a:off x="4679156" y="2485913"/>
            <a:ext cx="4179094" cy="914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834" dirty="0">
                <a:solidFill>
                  <a:srgbClr val="0D7EA8"/>
                </a:solidFill>
              </a:rPr>
              <a:t>↓</a:t>
            </a:r>
            <a:endParaRPr lang="en-US" sz="834" dirty="0"/>
          </a:p>
        </p:txBody>
      </p:sp>
      <p:sp>
        <p:nvSpPr>
          <p:cNvPr id="45" name="Shape 40"/>
          <p:cNvSpPr/>
          <p:nvPr/>
        </p:nvSpPr>
        <p:spPr>
          <a:xfrm>
            <a:off x="4679156" y="2634481"/>
            <a:ext cx="228600" cy="22860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46" name="Text 41"/>
          <p:cNvSpPr/>
          <p:nvPr/>
        </p:nvSpPr>
        <p:spPr>
          <a:xfrm>
            <a:off x="4679156" y="2634481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4</a:t>
            </a:r>
            <a:endParaRPr lang="en-US" sz="634" dirty="0"/>
          </a:p>
        </p:txBody>
      </p:sp>
      <p:sp>
        <p:nvSpPr>
          <p:cNvPr id="47" name="Text 42"/>
          <p:cNvSpPr/>
          <p:nvPr/>
        </p:nvSpPr>
        <p:spPr>
          <a:xfrm>
            <a:off x="4993481" y="2634481"/>
            <a:ext cx="194418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Generate New Tokens</a:t>
            </a:r>
            <a:endParaRPr lang="en-US" sz="634" dirty="0"/>
          </a:p>
        </p:txBody>
      </p:sp>
      <p:sp>
        <p:nvSpPr>
          <p:cNvPr id="48" name="Text 43"/>
          <p:cNvSpPr/>
          <p:nvPr/>
        </p:nvSpPr>
        <p:spPr>
          <a:xfrm>
            <a:off x="4993481" y="2788072"/>
            <a:ext cx="1944188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New access and refresh tokens created and returned</a:t>
            </a:r>
            <a:endParaRPr lang="en-US" sz="568" dirty="0"/>
          </a:p>
        </p:txBody>
      </p:sp>
      <p:sp>
        <p:nvSpPr>
          <p:cNvPr id="49" name="Text 44"/>
          <p:cNvSpPr/>
          <p:nvPr/>
        </p:nvSpPr>
        <p:spPr>
          <a:xfrm>
            <a:off x="4679156" y="2947355"/>
            <a:ext cx="4179094" cy="914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700"/>
              </a:lnSpc>
              <a:buNone/>
            </a:pPr>
            <a:r>
              <a:rPr lang="en-US" sz="834" dirty="0">
                <a:solidFill>
                  <a:srgbClr val="0D7EA8"/>
                </a:solidFill>
              </a:rPr>
              <a:t>↓</a:t>
            </a:r>
            <a:endParaRPr lang="en-US" sz="834" dirty="0"/>
          </a:p>
        </p:txBody>
      </p:sp>
      <p:sp>
        <p:nvSpPr>
          <p:cNvPr id="50" name="Shape 45"/>
          <p:cNvSpPr/>
          <p:nvPr/>
        </p:nvSpPr>
        <p:spPr>
          <a:xfrm>
            <a:off x="4679156" y="3095923"/>
            <a:ext cx="228600" cy="228600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51" name="Text 46"/>
          <p:cNvSpPr/>
          <p:nvPr/>
        </p:nvSpPr>
        <p:spPr>
          <a:xfrm>
            <a:off x="4679156" y="3095923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5</a:t>
            </a:r>
            <a:endParaRPr lang="en-US" sz="634" dirty="0"/>
          </a:p>
        </p:txBody>
      </p:sp>
      <p:sp>
        <p:nvSpPr>
          <p:cNvPr id="52" name="Text 47"/>
          <p:cNvSpPr/>
          <p:nvPr/>
        </p:nvSpPr>
        <p:spPr>
          <a:xfrm>
            <a:off x="4993481" y="3095923"/>
            <a:ext cx="17501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Continue Requests</a:t>
            </a:r>
            <a:endParaRPr lang="en-US" sz="634" dirty="0"/>
          </a:p>
        </p:txBody>
      </p:sp>
      <p:sp>
        <p:nvSpPr>
          <p:cNvPr id="53" name="Text 48"/>
          <p:cNvSpPr/>
          <p:nvPr/>
        </p:nvSpPr>
        <p:spPr>
          <a:xfrm>
            <a:off x="4993481" y="3249513"/>
            <a:ext cx="1750163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Client uses new tokens for subsequent API calls</a:t>
            </a:r>
            <a:endParaRPr lang="en-US" sz="568" dirty="0"/>
          </a:p>
        </p:txBody>
      </p:sp>
      <p:sp>
        <p:nvSpPr>
          <p:cNvPr id="54" name="Shape 49"/>
          <p:cNvSpPr/>
          <p:nvPr/>
        </p:nvSpPr>
        <p:spPr>
          <a:xfrm>
            <a:off x="285750" y="4714875"/>
            <a:ext cx="8572500" cy="44291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5" name="Shape 50"/>
          <p:cNvSpPr/>
          <p:nvPr/>
        </p:nvSpPr>
        <p:spPr>
          <a:xfrm>
            <a:off x="285750" y="4714875"/>
            <a:ext cx="8572500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56" name="Shape 51"/>
          <p:cNvSpPr/>
          <p:nvPr/>
        </p:nvSpPr>
        <p:spPr>
          <a:xfrm>
            <a:off x="285750" y="4857750"/>
            <a:ext cx="285750" cy="28575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31" y="4936331"/>
            <a:ext cx="128588" cy="128588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657225" y="4857750"/>
            <a:ext cx="269590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Seamless Experience</a:t>
            </a:r>
            <a:endParaRPr lang="en-US" sz="634" dirty="0"/>
          </a:p>
        </p:txBody>
      </p:sp>
      <p:sp>
        <p:nvSpPr>
          <p:cNvPr id="59" name="Text 53"/>
          <p:cNvSpPr/>
          <p:nvPr/>
        </p:nvSpPr>
        <p:spPr>
          <a:xfrm>
            <a:off x="657225" y="5011341"/>
            <a:ext cx="2695901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Users stay logged in without re-entering credentials during long sessions</a:t>
            </a:r>
            <a:endParaRPr lang="en-US" sz="568" dirty="0"/>
          </a:p>
        </p:txBody>
      </p:sp>
      <p:sp>
        <p:nvSpPr>
          <p:cNvPr id="60" name="Shape 54"/>
          <p:cNvSpPr/>
          <p:nvPr/>
        </p:nvSpPr>
        <p:spPr>
          <a:xfrm>
            <a:off x="4661297" y="4857750"/>
            <a:ext cx="285750" cy="28575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9878" y="4936331"/>
            <a:ext cx="128588" cy="128588"/>
          </a:xfrm>
          <a:prstGeom prst="rect">
            <a:avLst/>
          </a:prstGeom>
        </p:spPr>
      </p:pic>
      <p:sp>
        <p:nvSpPr>
          <p:cNvPr id="62" name="Text 55"/>
          <p:cNvSpPr/>
          <p:nvPr/>
        </p:nvSpPr>
        <p:spPr>
          <a:xfrm>
            <a:off x="5032772" y="4857750"/>
            <a:ext cx="26002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Enhanced Security</a:t>
            </a:r>
            <a:endParaRPr lang="en-US" sz="634" dirty="0"/>
          </a:p>
        </p:txBody>
      </p:sp>
      <p:sp>
        <p:nvSpPr>
          <p:cNvPr id="63" name="Text 56"/>
          <p:cNvSpPr/>
          <p:nvPr/>
        </p:nvSpPr>
        <p:spPr>
          <a:xfrm>
            <a:off x="5032772" y="5011341"/>
            <a:ext cx="2600269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Short-lived access tokens minimize risk if credentials are compromised</a:t>
            </a:r>
            <a:endParaRPr lang="en-US" sz="56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756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4375324" cy="521494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A52"/>
                </a:solidFill>
              </a:rPr>
              <a:t>Database Schema and Data Model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360759" y="1060847"/>
            <a:ext cx="8422481" cy="317897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5" name="Text 2"/>
          <p:cNvSpPr/>
          <p:nvPr/>
        </p:nvSpPr>
        <p:spPr>
          <a:xfrm>
            <a:off x="360759" y="1060847"/>
            <a:ext cx="1034811" cy="317897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Column Name</a:t>
            </a:r>
            <a:endParaRPr lang="en-US" sz="634" dirty="0"/>
          </a:p>
        </p:txBody>
      </p:sp>
      <p:sp>
        <p:nvSpPr>
          <p:cNvPr id="6" name="Text 3"/>
          <p:cNvSpPr/>
          <p:nvPr/>
        </p:nvSpPr>
        <p:spPr>
          <a:xfrm>
            <a:off x="1395571" y="1060847"/>
            <a:ext cx="1085850" cy="317897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Data Type</a:t>
            </a:r>
            <a:endParaRPr lang="en-US" sz="634" dirty="0"/>
          </a:p>
        </p:txBody>
      </p:sp>
      <p:sp>
        <p:nvSpPr>
          <p:cNvPr id="7" name="Text 4"/>
          <p:cNvSpPr/>
          <p:nvPr/>
        </p:nvSpPr>
        <p:spPr>
          <a:xfrm>
            <a:off x="2481421" y="1060847"/>
            <a:ext cx="1622831" cy="317897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Constraints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4104252" y="1060847"/>
            <a:ext cx="4678989" cy="317897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FFFFFF"/>
                </a:solidFill>
              </a:rPr>
              <a:t>Description</a:t>
            </a:r>
            <a:endParaRPr lang="en-US" sz="634" dirty="0"/>
          </a:p>
        </p:txBody>
      </p:sp>
      <p:sp>
        <p:nvSpPr>
          <p:cNvPr id="9" name="Shape 6"/>
          <p:cNvSpPr/>
          <p:nvPr/>
        </p:nvSpPr>
        <p:spPr>
          <a:xfrm>
            <a:off x="360759" y="1378744"/>
            <a:ext cx="8422481" cy="36075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Text 7"/>
          <p:cNvSpPr/>
          <p:nvPr/>
        </p:nvSpPr>
        <p:spPr>
          <a:xfrm>
            <a:off x="360759" y="1378744"/>
            <a:ext cx="1034811" cy="36075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id</a:t>
            </a:r>
            <a:endParaRPr lang="en-US" sz="584" dirty="0"/>
          </a:p>
        </p:txBody>
      </p:sp>
      <p:sp>
        <p:nvSpPr>
          <p:cNvPr id="11" name="Shape 8"/>
          <p:cNvSpPr/>
          <p:nvPr/>
        </p:nvSpPr>
        <p:spPr>
          <a:xfrm>
            <a:off x="1506299" y="1471613"/>
            <a:ext cx="500090" cy="173236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12" name="Text 9"/>
          <p:cNvSpPr/>
          <p:nvPr/>
        </p:nvSpPr>
        <p:spPr>
          <a:xfrm>
            <a:off x="1506299" y="1471613"/>
            <a:ext cx="500090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CHAR(36)</a:t>
            </a:r>
            <a:endParaRPr lang="en-US" sz="584" dirty="0"/>
          </a:p>
        </p:txBody>
      </p:sp>
      <p:sp>
        <p:nvSpPr>
          <p:cNvPr id="13" name="Shape 10"/>
          <p:cNvSpPr/>
          <p:nvPr/>
        </p:nvSpPr>
        <p:spPr>
          <a:xfrm>
            <a:off x="2592149" y="1468041"/>
            <a:ext cx="600438" cy="160734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4" name="Text 11"/>
          <p:cNvSpPr/>
          <p:nvPr/>
        </p:nvSpPr>
        <p:spPr>
          <a:xfrm>
            <a:off x="2592149" y="1468041"/>
            <a:ext cx="600438" cy="160734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565C0"/>
                </a:solidFill>
              </a:rPr>
              <a:t>PRIMARY KEY</a:t>
            </a:r>
            <a:endParaRPr lang="en-US" sz="534" dirty="0"/>
          </a:p>
        </p:txBody>
      </p:sp>
      <p:sp>
        <p:nvSpPr>
          <p:cNvPr id="15" name="Shape 12"/>
          <p:cNvSpPr/>
          <p:nvPr/>
        </p:nvSpPr>
        <p:spPr>
          <a:xfrm>
            <a:off x="3250602" y="1468041"/>
            <a:ext cx="480445" cy="16073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6" name="Text 13"/>
          <p:cNvSpPr/>
          <p:nvPr/>
        </p:nvSpPr>
        <p:spPr>
          <a:xfrm>
            <a:off x="3250602" y="1468041"/>
            <a:ext cx="480445" cy="160734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E65100"/>
                </a:solidFill>
              </a:rPr>
              <a:t>NOT NULL</a:t>
            </a:r>
            <a:endParaRPr lang="en-US" sz="534" dirty="0"/>
          </a:p>
        </p:txBody>
      </p:sp>
      <p:sp>
        <p:nvSpPr>
          <p:cNvPr id="17" name="Text 14"/>
          <p:cNvSpPr/>
          <p:nvPr/>
        </p:nvSpPr>
        <p:spPr>
          <a:xfrm>
            <a:off x="4104252" y="1378744"/>
            <a:ext cx="4678989" cy="36075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Unique identifier using UUID v4 format for distributed system compatibility</a:t>
            </a:r>
            <a:endParaRPr lang="en-US" sz="621" dirty="0"/>
          </a:p>
        </p:txBody>
      </p:sp>
      <p:sp>
        <p:nvSpPr>
          <p:cNvPr id="18" name="Shape 15"/>
          <p:cNvSpPr/>
          <p:nvPr/>
        </p:nvSpPr>
        <p:spPr>
          <a:xfrm>
            <a:off x="360759" y="1739503"/>
            <a:ext cx="8422481" cy="3607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360759" y="1739503"/>
            <a:ext cx="1034811" cy="36075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email</a:t>
            </a:r>
            <a:endParaRPr lang="en-US" sz="584" dirty="0"/>
          </a:p>
        </p:txBody>
      </p:sp>
      <p:sp>
        <p:nvSpPr>
          <p:cNvPr id="20" name="Shape 17"/>
          <p:cNvSpPr/>
          <p:nvPr/>
        </p:nvSpPr>
        <p:spPr>
          <a:xfrm>
            <a:off x="1506299" y="1832372"/>
            <a:ext cx="712673" cy="173236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21" name="Text 18"/>
          <p:cNvSpPr/>
          <p:nvPr/>
        </p:nvSpPr>
        <p:spPr>
          <a:xfrm>
            <a:off x="1506299" y="1832372"/>
            <a:ext cx="712673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VARCHAR(255)</a:t>
            </a:r>
            <a:endParaRPr lang="en-US" sz="584" dirty="0"/>
          </a:p>
        </p:txBody>
      </p:sp>
      <p:sp>
        <p:nvSpPr>
          <p:cNvPr id="22" name="Shape 19"/>
          <p:cNvSpPr/>
          <p:nvPr/>
        </p:nvSpPr>
        <p:spPr>
          <a:xfrm>
            <a:off x="2592149" y="1828800"/>
            <a:ext cx="400469" cy="160734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23" name="Text 20"/>
          <p:cNvSpPr/>
          <p:nvPr/>
        </p:nvSpPr>
        <p:spPr>
          <a:xfrm>
            <a:off x="2592149" y="1828800"/>
            <a:ext cx="400469" cy="160734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6A1B9A"/>
                </a:solidFill>
              </a:rPr>
              <a:t>UNIQUE</a:t>
            </a:r>
            <a:endParaRPr lang="en-US" sz="534" dirty="0"/>
          </a:p>
        </p:txBody>
      </p:sp>
      <p:sp>
        <p:nvSpPr>
          <p:cNvPr id="24" name="Shape 21"/>
          <p:cNvSpPr/>
          <p:nvPr/>
        </p:nvSpPr>
        <p:spPr>
          <a:xfrm>
            <a:off x="3050632" y="1828800"/>
            <a:ext cx="480445" cy="16073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5" name="Text 22"/>
          <p:cNvSpPr/>
          <p:nvPr/>
        </p:nvSpPr>
        <p:spPr>
          <a:xfrm>
            <a:off x="3050632" y="1828800"/>
            <a:ext cx="480445" cy="160734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E65100"/>
                </a:solidFill>
              </a:rPr>
              <a:t>NOT NULL</a:t>
            </a:r>
            <a:endParaRPr lang="en-US" sz="534" dirty="0"/>
          </a:p>
        </p:txBody>
      </p:sp>
      <p:sp>
        <p:nvSpPr>
          <p:cNvPr id="26" name="Text 23"/>
          <p:cNvSpPr/>
          <p:nvPr/>
        </p:nvSpPr>
        <p:spPr>
          <a:xfrm>
            <a:off x="4104252" y="1739503"/>
            <a:ext cx="4678989" cy="36075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User email address with unique constraint to prevent duplicate accounts</a:t>
            </a:r>
            <a:endParaRPr lang="en-US" sz="621" dirty="0"/>
          </a:p>
        </p:txBody>
      </p:sp>
      <p:sp>
        <p:nvSpPr>
          <p:cNvPr id="27" name="Shape 24"/>
          <p:cNvSpPr/>
          <p:nvPr/>
        </p:nvSpPr>
        <p:spPr>
          <a:xfrm>
            <a:off x="360759" y="2100263"/>
            <a:ext cx="8422481" cy="36075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8" name="Text 25"/>
          <p:cNvSpPr/>
          <p:nvPr/>
        </p:nvSpPr>
        <p:spPr>
          <a:xfrm>
            <a:off x="360759" y="2100263"/>
            <a:ext cx="1034811" cy="36075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password</a:t>
            </a:r>
            <a:endParaRPr lang="en-US" sz="584" dirty="0"/>
          </a:p>
        </p:txBody>
      </p:sp>
      <p:sp>
        <p:nvSpPr>
          <p:cNvPr id="29" name="Shape 26"/>
          <p:cNvSpPr/>
          <p:nvPr/>
        </p:nvSpPr>
        <p:spPr>
          <a:xfrm>
            <a:off x="1506299" y="2193131"/>
            <a:ext cx="712673" cy="173236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0" name="Text 27"/>
          <p:cNvSpPr/>
          <p:nvPr/>
        </p:nvSpPr>
        <p:spPr>
          <a:xfrm>
            <a:off x="1506299" y="2193131"/>
            <a:ext cx="712673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VARCHAR(255)</a:t>
            </a:r>
            <a:endParaRPr lang="en-US" sz="584" dirty="0"/>
          </a:p>
        </p:txBody>
      </p:sp>
      <p:sp>
        <p:nvSpPr>
          <p:cNvPr id="31" name="Shape 28"/>
          <p:cNvSpPr/>
          <p:nvPr/>
        </p:nvSpPr>
        <p:spPr>
          <a:xfrm>
            <a:off x="2592149" y="2189559"/>
            <a:ext cx="480445" cy="16073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2" name="Text 29"/>
          <p:cNvSpPr/>
          <p:nvPr/>
        </p:nvSpPr>
        <p:spPr>
          <a:xfrm>
            <a:off x="2592149" y="2189559"/>
            <a:ext cx="480445" cy="160734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E65100"/>
                </a:solidFill>
              </a:rPr>
              <a:t>NOT NULL</a:t>
            </a:r>
            <a:endParaRPr lang="en-US" sz="534" dirty="0"/>
          </a:p>
        </p:txBody>
      </p:sp>
      <p:sp>
        <p:nvSpPr>
          <p:cNvPr id="33" name="Text 30"/>
          <p:cNvSpPr/>
          <p:nvPr/>
        </p:nvSpPr>
        <p:spPr>
          <a:xfrm>
            <a:off x="4104252" y="2100263"/>
            <a:ext cx="4678989" cy="36075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Bcryptjs hashed password (60 characters) - never stored in plaintext</a:t>
            </a:r>
            <a:endParaRPr lang="en-US" sz="621" dirty="0"/>
          </a:p>
        </p:txBody>
      </p:sp>
      <p:sp>
        <p:nvSpPr>
          <p:cNvPr id="34" name="Shape 31"/>
          <p:cNvSpPr/>
          <p:nvPr/>
        </p:nvSpPr>
        <p:spPr>
          <a:xfrm>
            <a:off x="360759" y="2461022"/>
            <a:ext cx="8422481" cy="3607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360759" y="2461022"/>
            <a:ext cx="1034811" cy="36075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name</a:t>
            </a:r>
            <a:endParaRPr lang="en-US" sz="584" dirty="0"/>
          </a:p>
        </p:txBody>
      </p:sp>
      <p:sp>
        <p:nvSpPr>
          <p:cNvPr id="36" name="Shape 33"/>
          <p:cNvSpPr/>
          <p:nvPr/>
        </p:nvSpPr>
        <p:spPr>
          <a:xfrm>
            <a:off x="1506299" y="2553891"/>
            <a:ext cx="712673" cy="173236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7" name="Text 34"/>
          <p:cNvSpPr/>
          <p:nvPr/>
        </p:nvSpPr>
        <p:spPr>
          <a:xfrm>
            <a:off x="1506299" y="2553891"/>
            <a:ext cx="712673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VARCHAR(255)</a:t>
            </a:r>
            <a:endParaRPr lang="en-US" sz="584" dirty="0"/>
          </a:p>
        </p:txBody>
      </p:sp>
      <p:sp>
        <p:nvSpPr>
          <p:cNvPr id="38" name="Shape 35"/>
          <p:cNvSpPr/>
          <p:nvPr/>
        </p:nvSpPr>
        <p:spPr>
          <a:xfrm>
            <a:off x="2592149" y="2550319"/>
            <a:ext cx="485161" cy="16073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9" name="Text 36"/>
          <p:cNvSpPr/>
          <p:nvPr/>
        </p:nvSpPr>
        <p:spPr>
          <a:xfrm>
            <a:off x="2592149" y="2550319"/>
            <a:ext cx="485161" cy="160734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2E7D32"/>
                </a:solidFill>
              </a:rPr>
              <a:t>NULLABLE</a:t>
            </a:r>
            <a:endParaRPr lang="en-US" sz="534" dirty="0"/>
          </a:p>
        </p:txBody>
      </p:sp>
      <p:sp>
        <p:nvSpPr>
          <p:cNvPr id="40" name="Text 37"/>
          <p:cNvSpPr/>
          <p:nvPr/>
        </p:nvSpPr>
        <p:spPr>
          <a:xfrm>
            <a:off x="4104252" y="2461022"/>
            <a:ext cx="4678989" cy="36075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User's full name or display name (optional field)</a:t>
            </a:r>
            <a:endParaRPr lang="en-US" sz="621" dirty="0"/>
          </a:p>
        </p:txBody>
      </p:sp>
      <p:sp>
        <p:nvSpPr>
          <p:cNvPr id="41" name="Shape 38"/>
          <p:cNvSpPr/>
          <p:nvPr/>
        </p:nvSpPr>
        <p:spPr>
          <a:xfrm>
            <a:off x="360759" y="2821781"/>
            <a:ext cx="8422481" cy="36075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2" name="Text 39"/>
          <p:cNvSpPr/>
          <p:nvPr/>
        </p:nvSpPr>
        <p:spPr>
          <a:xfrm>
            <a:off x="360759" y="2821781"/>
            <a:ext cx="1034811" cy="36075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accountStatus</a:t>
            </a:r>
            <a:endParaRPr lang="en-US" sz="584" dirty="0"/>
          </a:p>
        </p:txBody>
      </p:sp>
      <p:sp>
        <p:nvSpPr>
          <p:cNvPr id="43" name="Shape 40"/>
          <p:cNvSpPr/>
          <p:nvPr/>
        </p:nvSpPr>
        <p:spPr>
          <a:xfrm>
            <a:off x="1506299" y="2914650"/>
            <a:ext cx="373791" cy="173236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44" name="Text 41"/>
          <p:cNvSpPr/>
          <p:nvPr/>
        </p:nvSpPr>
        <p:spPr>
          <a:xfrm>
            <a:off x="1506299" y="2914650"/>
            <a:ext cx="373791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ENUM</a:t>
            </a:r>
            <a:endParaRPr lang="en-US" sz="584" dirty="0"/>
          </a:p>
        </p:txBody>
      </p:sp>
      <p:sp>
        <p:nvSpPr>
          <p:cNvPr id="45" name="Shape 42"/>
          <p:cNvSpPr/>
          <p:nvPr/>
        </p:nvSpPr>
        <p:spPr>
          <a:xfrm>
            <a:off x="2592149" y="2911078"/>
            <a:ext cx="480445" cy="16073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6" name="Text 43"/>
          <p:cNvSpPr/>
          <p:nvPr/>
        </p:nvSpPr>
        <p:spPr>
          <a:xfrm>
            <a:off x="2592149" y="2911078"/>
            <a:ext cx="480445" cy="160734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E65100"/>
                </a:solidFill>
              </a:rPr>
              <a:t>NOT NULL</a:t>
            </a:r>
            <a:endParaRPr lang="en-US" sz="534" dirty="0"/>
          </a:p>
        </p:txBody>
      </p:sp>
      <p:sp>
        <p:nvSpPr>
          <p:cNvPr id="47" name="Text 44"/>
          <p:cNvSpPr/>
          <p:nvPr/>
        </p:nvSpPr>
        <p:spPr>
          <a:xfrm>
            <a:off x="4104252" y="2821781"/>
            <a:ext cx="4678989" cy="36075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Account status: 'active', 'inactive', 'suspended' (default: 'active')</a:t>
            </a:r>
            <a:endParaRPr lang="en-US" sz="621" dirty="0"/>
          </a:p>
        </p:txBody>
      </p:sp>
      <p:sp>
        <p:nvSpPr>
          <p:cNvPr id="48" name="Shape 45"/>
          <p:cNvSpPr/>
          <p:nvPr/>
        </p:nvSpPr>
        <p:spPr>
          <a:xfrm>
            <a:off x="360759" y="3182541"/>
            <a:ext cx="8422481" cy="3607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6"/>
          <p:cNvSpPr/>
          <p:nvPr/>
        </p:nvSpPr>
        <p:spPr>
          <a:xfrm>
            <a:off x="360759" y="3182541"/>
            <a:ext cx="1034811" cy="36075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createdAt</a:t>
            </a:r>
            <a:endParaRPr lang="en-US" sz="584" dirty="0"/>
          </a:p>
        </p:txBody>
      </p:sp>
      <p:sp>
        <p:nvSpPr>
          <p:cNvPr id="50" name="Shape 47"/>
          <p:cNvSpPr/>
          <p:nvPr/>
        </p:nvSpPr>
        <p:spPr>
          <a:xfrm>
            <a:off x="1506299" y="3275409"/>
            <a:ext cx="602614" cy="173236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51" name="Text 48"/>
          <p:cNvSpPr/>
          <p:nvPr/>
        </p:nvSpPr>
        <p:spPr>
          <a:xfrm>
            <a:off x="1506299" y="3275409"/>
            <a:ext cx="602614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TIMESTAMP</a:t>
            </a:r>
            <a:endParaRPr lang="en-US" sz="584" dirty="0"/>
          </a:p>
        </p:txBody>
      </p:sp>
      <p:sp>
        <p:nvSpPr>
          <p:cNvPr id="52" name="Shape 49"/>
          <p:cNvSpPr/>
          <p:nvPr/>
        </p:nvSpPr>
        <p:spPr>
          <a:xfrm>
            <a:off x="2592149" y="3271838"/>
            <a:ext cx="480445" cy="16073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53" name="Text 50"/>
          <p:cNvSpPr/>
          <p:nvPr/>
        </p:nvSpPr>
        <p:spPr>
          <a:xfrm>
            <a:off x="2592149" y="3271838"/>
            <a:ext cx="480445" cy="160734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E65100"/>
                </a:solidFill>
              </a:rPr>
              <a:t>NOT NULL</a:t>
            </a:r>
            <a:endParaRPr lang="en-US" sz="534" dirty="0"/>
          </a:p>
        </p:txBody>
      </p:sp>
      <p:sp>
        <p:nvSpPr>
          <p:cNvPr id="54" name="Text 51"/>
          <p:cNvSpPr/>
          <p:nvPr/>
        </p:nvSpPr>
        <p:spPr>
          <a:xfrm>
            <a:off x="4104252" y="3182541"/>
            <a:ext cx="4678989" cy="36075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Automatic timestamp when user account is created (DEFAULT CURRENT_TIMESTAMP)</a:t>
            </a:r>
            <a:endParaRPr lang="en-US" sz="621" dirty="0"/>
          </a:p>
        </p:txBody>
      </p:sp>
      <p:sp>
        <p:nvSpPr>
          <p:cNvPr id="55" name="Shape 52"/>
          <p:cNvSpPr/>
          <p:nvPr/>
        </p:nvSpPr>
        <p:spPr>
          <a:xfrm>
            <a:off x="360759" y="3543300"/>
            <a:ext cx="8422481" cy="36075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6" name="Text 53"/>
          <p:cNvSpPr/>
          <p:nvPr/>
        </p:nvSpPr>
        <p:spPr>
          <a:xfrm>
            <a:off x="360759" y="3543300"/>
            <a:ext cx="1034811" cy="36075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updatedAt</a:t>
            </a:r>
            <a:endParaRPr lang="en-US" sz="584" dirty="0"/>
          </a:p>
        </p:txBody>
      </p:sp>
      <p:sp>
        <p:nvSpPr>
          <p:cNvPr id="57" name="Shape 54"/>
          <p:cNvSpPr/>
          <p:nvPr/>
        </p:nvSpPr>
        <p:spPr>
          <a:xfrm>
            <a:off x="1506299" y="3636169"/>
            <a:ext cx="602614" cy="173236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58" name="Text 55"/>
          <p:cNvSpPr/>
          <p:nvPr/>
        </p:nvSpPr>
        <p:spPr>
          <a:xfrm>
            <a:off x="1506299" y="3636169"/>
            <a:ext cx="602614" cy="173236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TIMESTAMP</a:t>
            </a:r>
            <a:endParaRPr lang="en-US" sz="584" dirty="0"/>
          </a:p>
        </p:txBody>
      </p:sp>
      <p:sp>
        <p:nvSpPr>
          <p:cNvPr id="59" name="Shape 56"/>
          <p:cNvSpPr/>
          <p:nvPr/>
        </p:nvSpPr>
        <p:spPr>
          <a:xfrm>
            <a:off x="2592149" y="3632597"/>
            <a:ext cx="480445" cy="16073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60" name="Text 57"/>
          <p:cNvSpPr/>
          <p:nvPr/>
        </p:nvSpPr>
        <p:spPr>
          <a:xfrm>
            <a:off x="2592149" y="3632597"/>
            <a:ext cx="480445" cy="160734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E65100"/>
                </a:solidFill>
              </a:rPr>
              <a:t>NOT NULL</a:t>
            </a:r>
            <a:endParaRPr lang="en-US" sz="534" dirty="0"/>
          </a:p>
        </p:txBody>
      </p:sp>
      <p:sp>
        <p:nvSpPr>
          <p:cNvPr id="61" name="Text 58"/>
          <p:cNvSpPr/>
          <p:nvPr/>
        </p:nvSpPr>
        <p:spPr>
          <a:xfrm>
            <a:off x="4104252" y="3543300"/>
            <a:ext cx="4678989" cy="360759"/>
          </a:xfrm>
          <a:prstGeom prst="rect">
            <a:avLst/>
          </a:prstGeom>
          <a:noFill/>
          <a:ln/>
        </p:spPr>
        <p:txBody>
          <a:bodyPr wrap="square" lIns="127508" tIns="102108" rIns="127508" bIns="102108" rtlCol="0" anchor="ctr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Automatic timestamp updated on any record modification (ON UPDATE CURRENT_TIMESTAMP)</a:t>
            </a:r>
            <a:endParaRPr lang="en-US" sz="621" dirty="0"/>
          </a:p>
        </p:txBody>
      </p:sp>
      <p:sp>
        <p:nvSpPr>
          <p:cNvPr id="62" name="Shape 59"/>
          <p:cNvSpPr/>
          <p:nvPr/>
        </p:nvSpPr>
        <p:spPr>
          <a:xfrm>
            <a:off x="357188" y="4193381"/>
            <a:ext cx="8429625" cy="92511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357188" y="4193381"/>
            <a:ext cx="8429625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64" name="Shape 61"/>
          <p:cNvSpPr/>
          <p:nvPr/>
        </p:nvSpPr>
        <p:spPr>
          <a:xfrm>
            <a:off x="357188" y="4336256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6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9" y="4414838"/>
            <a:ext cx="128588" cy="128588"/>
          </a:xfrm>
          <a:prstGeom prst="rect">
            <a:avLst/>
          </a:prstGeom>
        </p:spPr>
      </p:pic>
      <p:sp>
        <p:nvSpPr>
          <p:cNvPr id="66" name="Text 62"/>
          <p:cNvSpPr/>
          <p:nvPr/>
        </p:nvSpPr>
        <p:spPr>
          <a:xfrm>
            <a:off x="728663" y="4336256"/>
            <a:ext cx="180706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Indexes and Constraints</a:t>
            </a:r>
            <a:endParaRPr lang="en-US" sz="634" dirty="0"/>
          </a:p>
        </p:txBody>
      </p:sp>
      <p:sp>
        <p:nvSpPr>
          <p:cNvPr id="67" name="Text 63"/>
          <p:cNvSpPr/>
          <p:nvPr/>
        </p:nvSpPr>
        <p:spPr>
          <a:xfrm>
            <a:off x="871538" y="4509492"/>
            <a:ext cx="59898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PRIMARY KEY:</a:t>
            </a:r>
            <a:endParaRPr lang="en-US" sz="584" dirty="0"/>
          </a:p>
        </p:txBody>
      </p:sp>
      <p:sp>
        <p:nvSpPr>
          <p:cNvPr id="68" name="Text 64"/>
          <p:cNvSpPr/>
          <p:nvPr/>
        </p:nvSpPr>
        <p:spPr>
          <a:xfrm>
            <a:off x="1470524" y="4509492"/>
            <a:ext cx="38782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id (UUID)</a:t>
            </a:r>
            <a:endParaRPr lang="en-US" sz="621" dirty="0"/>
          </a:p>
        </p:txBody>
      </p:sp>
      <p:sp>
        <p:nvSpPr>
          <p:cNvPr id="69" name="Text 65"/>
          <p:cNvSpPr/>
          <p:nvPr/>
        </p:nvSpPr>
        <p:spPr>
          <a:xfrm>
            <a:off x="871538" y="4659511"/>
            <a:ext cx="66729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UNIQUE INDEX:</a:t>
            </a:r>
            <a:endParaRPr lang="en-US" sz="584" dirty="0"/>
          </a:p>
        </p:txBody>
      </p:sp>
      <p:sp>
        <p:nvSpPr>
          <p:cNvPr id="70" name="Text 66"/>
          <p:cNvSpPr/>
          <p:nvPr/>
        </p:nvSpPr>
        <p:spPr>
          <a:xfrm>
            <a:off x="1538836" y="4659511"/>
            <a:ext cx="24313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email</a:t>
            </a:r>
            <a:endParaRPr lang="en-US" sz="621" dirty="0"/>
          </a:p>
        </p:txBody>
      </p:sp>
      <p:sp>
        <p:nvSpPr>
          <p:cNvPr id="71" name="Text 67"/>
          <p:cNvSpPr/>
          <p:nvPr/>
        </p:nvSpPr>
        <p:spPr>
          <a:xfrm>
            <a:off x="871538" y="4809530"/>
            <a:ext cx="7833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AUTO TIMESTAMP:</a:t>
            </a:r>
            <a:endParaRPr lang="en-US" sz="584" dirty="0"/>
          </a:p>
        </p:txBody>
      </p:sp>
      <p:sp>
        <p:nvSpPr>
          <p:cNvPr id="72" name="Text 68"/>
          <p:cNvSpPr/>
          <p:nvPr/>
        </p:nvSpPr>
        <p:spPr>
          <a:xfrm>
            <a:off x="1654894" y="4809530"/>
            <a:ext cx="88083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createdAt, updatedAt</a:t>
            </a:r>
            <a:endParaRPr lang="en-US" sz="621" dirty="0"/>
          </a:p>
        </p:txBody>
      </p:sp>
      <p:sp>
        <p:nvSpPr>
          <p:cNvPr id="73" name="Text 69"/>
          <p:cNvSpPr/>
          <p:nvPr/>
        </p:nvSpPr>
        <p:spPr>
          <a:xfrm>
            <a:off x="871538" y="4959548"/>
            <a:ext cx="516499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COLLATION:</a:t>
            </a:r>
            <a:endParaRPr lang="en-US" sz="584" dirty="0"/>
          </a:p>
        </p:txBody>
      </p:sp>
      <p:sp>
        <p:nvSpPr>
          <p:cNvPr id="74" name="Text 70"/>
          <p:cNvSpPr/>
          <p:nvPr/>
        </p:nvSpPr>
        <p:spPr>
          <a:xfrm>
            <a:off x="1388036" y="4959548"/>
            <a:ext cx="82820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utf8mb4_unicode_ci</a:t>
            </a:r>
            <a:endParaRPr lang="en-US" sz="621" dirty="0"/>
          </a:p>
        </p:txBody>
      </p:sp>
      <p:sp>
        <p:nvSpPr>
          <p:cNvPr id="75" name="Shape 71"/>
          <p:cNvSpPr/>
          <p:nvPr/>
        </p:nvSpPr>
        <p:spPr>
          <a:xfrm>
            <a:off x="4679156" y="4336256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7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774" y="4414838"/>
            <a:ext cx="112514" cy="128588"/>
          </a:xfrm>
          <a:prstGeom prst="rect">
            <a:avLst/>
          </a:prstGeom>
        </p:spPr>
      </p:pic>
      <p:sp>
        <p:nvSpPr>
          <p:cNvPr id="77" name="Text 72"/>
          <p:cNvSpPr/>
          <p:nvPr/>
        </p:nvSpPr>
        <p:spPr>
          <a:xfrm>
            <a:off x="5050631" y="4336256"/>
            <a:ext cx="149360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Table Configuration</a:t>
            </a:r>
            <a:endParaRPr lang="en-US" sz="634" dirty="0"/>
          </a:p>
        </p:txBody>
      </p:sp>
      <p:sp>
        <p:nvSpPr>
          <p:cNvPr id="78" name="Text 73"/>
          <p:cNvSpPr/>
          <p:nvPr/>
        </p:nvSpPr>
        <p:spPr>
          <a:xfrm>
            <a:off x="5193506" y="4509492"/>
            <a:ext cx="52869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Table Name:</a:t>
            </a:r>
            <a:endParaRPr lang="en-US" sz="584" dirty="0"/>
          </a:p>
        </p:txBody>
      </p:sp>
      <p:sp>
        <p:nvSpPr>
          <p:cNvPr id="79" name="Text 74"/>
          <p:cNvSpPr/>
          <p:nvPr/>
        </p:nvSpPr>
        <p:spPr>
          <a:xfrm>
            <a:off x="5722200" y="4509492"/>
            <a:ext cx="24115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users</a:t>
            </a:r>
            <a:endParaRPr lang="en-US" sz="621" dirty="0"/>
          </a:p>
        </p:txBody>
      </p:sp>
      <p:sp>
        <p:nvSpPr>
          <p:cNvPr id="80" name="Text 75"/>
          <p:cNvSpPr/>
          <p:nvPr/>
        </p:nvSpPr>
        <p:spPr>
          <a:xfrm>
            <a:off x="5193506" y="4659511"/>
            <a:ext cx="31616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Engine:</a:t>
            </a:r>
            <a:endParaRPr lang="en-US" sz="584" dirty="0"/>
          </a:p>
        </p:txBody>
      </p:sp>
      <p:sp>
        <p:nvSpPr>
          <p:cNvPr id="81" name="Text 76"/>
          <p:cNvSpPr/>
          <p:nvPr/>
        </p:nvSpPr>
        <p:spPr>
          <a:xfrm>
            <a:off x="5509673" y="4659511"/>
            <a:ext cx="32749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InnoDB</a:t>
            </a:r>
            <a:endParaRPr lang="en-US" sz="621" dirty="0"/>
          </a:p>
        </p:txBody>
      </p:sp>
      <p:sp>
        <p:nvSpPr>
          <p:cNvPr id="82" name="Text 77"/>
          <p:cNvSpPr/>
          <p:nvPr/>
        </p:nvSpPr>
        <p:spPr>
          <a:xfrm>
            <a:off x="5193506" y="4809530"/>
            <a:ext cx="35654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Charset:</a:t>
            </a:r>
            <a:endParaRPr lang="en-US" sz="584" dirty="0"/>
          </a:p>
        </p:txBody>
      </p:sp>
      <p:sp>
        <p:nvSpPr>
          <p:cNvPr id="83" name="Text 78"/>
          <p:cNvSpPr/>
          <p:nvPr/>
        </p:nvSpPr>
        <p:spPr>
          <a:xfrm>
            <a:off x="5550052" y="4809530"/>
            <a:ext cx="36664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utf8mb4</a:t>
            </a:r>
            <a:endParaRPr lang="en-US" sz="621" dirty="0"/>
          </a:p>
        </p:txBody>
      </p:sp>
      <p:sp>
        <p:nvSpPr>
          <p:cNvPr id="84" name="Text 79"/>
          <p:cNvSpPr/>
          <p:nvPr/>
        </p:nvSpPr>
        <p:spPr>
          <a:xfrm>
            <a:off x="5193506" y="4959548"/>
            <a:ext cx="72062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555555"/>
                </a:solidFill>
              </a:rPr>
              <a:t>Connection Pool:</a:t>
            </a:r>
            <a:endParaRPr lang="en-US" sz="584" dirty="0"/>
          </a:p>
        </p:txBody>
      </p:sp>
      <p:sp>
        <p:nvSpPr>
          <p:cNvPr id="85" name="Text 80"/>
          <p:cNvSpPr/>
          <p:nvPr/>
        </p:nvSpPr>
        <p:spPr>
          <a:xfrm>
            <a:off x="5914132" y="4959548"/>
            <a:ext cx="63010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10 connections</a:t>
            </a:r>
            <a:endParaRPr lang="en-US" sz="62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4407750" cy="521494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A52"/>
                </a:solidFill>
              </a:rPr>
              <a:t>Technology Stack: Runtime &amp; Data</a:t>
            </a:r>
            <a:endParaRPr lang="en-US" sz="1808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1114425"/>
            <a:ext cx="128588" cy="1285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2925" y="1092994"/>
            <a:ext cx="128531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D7EA8"/>
                </a:solidFill>
              </a:rPr>
              <a:t>Runtime &amp; Framework</a:t>
            </a:r>
            <a:endParaRPr lang="en-US" sz="784" dirty="0"/>
          </a:p>
        </p:txBody>
      </p:sp>
      <p:sp>
        <p:nvSpPr>
          <p:cNvPr id="6" name="Shape 2"/>
          <p:cNvSpPr/>
          <p:nvPr/>
        </p:nvSpPr>
        <p:spPr>
          <a:xfrm>
            <a:off x="357188" y="1443038"/>
            <a:ext cx="4125516" cy="1060847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3"/>
          <p:cNvSpPr/>
          <p:nvPr/>
        </p:nvSpPr>
        <p:spPr>
          <a:xfrm>
            <a:off x="357188" y="1443038"/>
            <a:ext cx="35719" cy="1060847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8" name="Shape 4"/>
          <p:cNvSpPr/>
          <p:nvPr/>
        </p:nvSpPr>
        <p:spPr>
          <a:xfrm>
            <a:off x="471488" y="1557338"/>
            <a:ext cx="321469" cy="321469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463" y="1639491"/>
            <a:ext cx="137517" cy="1571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4394" y="1643063"/>
            <a:ext cx="37434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A52"/>
                </a:solidFill>
              </a:rPr>
              <a:t>Node.js</a:t>
            </a:r>
            <a:endParaRPr lang="en-US" sz="683" dirty="0"/>
          </a:p>
        </p:txBody>
      </p:sp>
      <p:sp>
        <p:nvSpPr>
          <p:cNvPr id="11" name="Text 6"/>
          <p:cNvSpPr/>
          <p:nvPr/>
        </p:nvSpPr>
        <p:spPr>
          <a:xfrm>
            <a:off x="471488" y="1950244"/>
            <a:ext cx="38969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JavaScript runtime for building scalable server-side applications</a:t>
            </a:r>
            <a:endParaRPr lang="en-US" sz="621" dirty="0"/>
          </a:p>
        </p:txBody>
      </p:sp>
      <p:sp>
        <p:nvSpPr>
          <p:cNvPr id="12" name="Text 7"/>
          <p:cNvSpPr/>
          <p:nvPr/>
        </p:nvSpPr>
        <p:spPr>
          <a:xfrm>
            <a:off x="471488" y="2207419"/>
            <a:ext cx="3896916" cy="182166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i="1" dirty="0">
                <a:solidFill>
                  <a:srgbClr val="666666"/>
                </a:solidFill>
              </a:rPr>
              <a:t>✓ Non-blocking I/O, event-driven architecture perfect for concurrent requests</a:t>
            </a:r>
            <a:endParaRPr lang="en-US" sz="568" dirty="0"/>
          </a:p>
        </p:txBody>
      </p:sp>
      <p:sp>
        <p:nvSpPr>
          <p:cNvPr id="13" name="Shape 8"/>
          <p:cNvSpPr/>
          <p:nvPr/>
        </p:nvSpPr>
        <p:spPr>
          <a:xfrm>
            <a:off x="357188" y="2611041"/>
            <a:ext cx="4125516" cy="1060847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9"/>
          <p:cNvSpPr/>
          <p:nvPr/>
        </p:nvSpPr>
        <p:spPr>
          <a:xfrm>
            <a:off x="357188" y="2611041"/>
            <a:ext cx="35719" cy="1060847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15" name="Shape 10"/>
          <p:cNvSpPr/>
          <p:nvPr/>
        </p:nvSpPr>
        <p:spPr>
          <a:xfrm>
            <a:off x="471488" y="2725341"/>
            <a:ext cx="321469" cy="321469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641" y="2807494"/>
            <a:ext cx="157163" cy="15716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4394" y="2811066"/>
            <a:ext cx="48778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A52"/>
                </a:solidFill>
              </a:rPr>
              <a:t>Express.js</a:t>
            </a:r>
            <a:endParaRPr lang="en-US" sz="683" dirty="0"/>
          </a:p>
        </p:txBody>
      </p:sp>
      <p:sp>
        <p:nvSpPr>
          <p:cNvPr id="18" name="Text 12"/>
          <p:cNvSpPr/>
          <p:nvPr/>
        </p:nvSpPr>
        <p:spPr>
          <a:xfrm>
            <a:off x="471488" y="3118247"/>
            <a:ext cx="38969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Lightweight web framework for routing and middleware</a:t>
            </a:r>
            <a:endParaRPr lang="en-US" sz="621" dirty="0"/>
          </a:p>
        </p:txBody>
      </p:sp>
      <p:sp>
        <p:nvSpPr>
          <p:cNvPr id="19" name="Text 13"/>
          <p:cNvSpPr/>
          <p:nvPr/>
        </p:nvSpPr>
        <p:spPr>
          <a:xfrm>
            <a:off x="471488" y="3375422"/>
            <a:ext cx="3896916" cy="182166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i="1" dirty="0">
                <a:solidFill>
                  <a:srgbClr val="666666"/>
                </a:solidFill>
              </a:rPr>
              <a:t>✓ Minimal overhead, flexible middleware chain, industry standard</a:t>
            </a:r>
            <a:endParaRPr lang="en-US" sz="568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297" y="1114425"/>
            <a:ext cx="112514" cy="1285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830961" y="1092994"/>
            <a:ext cx="85931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D7EA8"/>
                </a:solidFill>
              </a:rPr>
              <a:t>Data &amp; Storage</a:t>
            </a:r>
            <a:endParaRPr lang="en-US" sz="784" dirty="0"/>
          </a:p>
        </p:txBody>
      </p:sp>
      <p:sp>
        <p:nvSpPr>
          <p:cNvPr id="22" name="Shape 15"/>
          <p:cNvSpPr/>
          <p:nvPr/>
        </p:nvSpPr>
        <p:spPr>
          <a:xfrm>
            <a:off x="4661297" y="1443038"/>
            <a:ext cx="4125516" cy="1060847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3" name="Shape 16"/>
          <p:cNvSpPr/>
          <p:nvPr/>
        </p:nvSpPr>
        <p:spPr>
          <a:xfrm>
            <a:off x="4661297" y="1443038"/>
            <a:ext cx="35719" cy="1060847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24" name="Shape 17"/>
          <p:cNvSpPr/>
          <p:nvPr/>
        </p:nvSpPr>
        <p:spPr>
          <a:xfrm>
            <a:off x="4775597" y="1557338"/>
            <a:ext cx="321469" cy="321469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7573" y="1639491"/>
            <a:ext cx="137517" cy="15716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168503" y="1643063"/>
            <a:ext cx="3424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A52"/>
                </a:solidFill>
              </a:rPr>
              <a:t>MySQL</a:t>
            </a:r>
            <a:endParaRPr lang="en-US" sz="683" dirty="0"/>
          </a:p>
        </p:txBody>
      </p:sp>
      <p:sp>
        <p:nvSpPr>
          <p:cNvPr id="27" name="Text 19"/>
          <p:cNvSpPr/>
          <p:nvPr/>
        </p:nvSpPr>
        <p:spPr>
          <a:xfrm>
            <a:off x="4775597" y="1950244"/>
            <a:ext cx="38969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Relational database for persistent user data storage</a:t>
            </a:r>
            <a:endParaRPr lang="en-US" sz="621" dirty="0"/>
          </a:p>
        </p:txBody>
      </p:sp>
      <p:sp>
        <p:nvSpPr>
          <p:cNvPr id="28" name="Text 20"/>
          <p:cNvSpPr/>
          <p:nvPr/>
        </p:nvSpPr>
        <p:spPr>
          <a:xfrm>
            <a:off x="4775597" y="2207419"/>
            <a:ext cx="3896916" cy="182166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i="1" dirty="0">
                <a:solidFill>
                  <a:srgbClr val="666666"/>
                </a:solidFill>
              </a:rPr>
              <a:t>✓ ACID compliance, reliable transactions, proven stability</a:t>
            </a:r>
            <a:endParaRPr lang="en-US" sz="568" dirty="0"/>
          </a:p>
        </p:txBody>
      </p:sp>
      <p:sp>
        <p:nvSpPr>
          <p:cNvPr id="29" name="Shape 21"/>
          <p:cNvSpPr/>
          <p:nvPr/>
        </p:nvSpPr>
        <p:spPr>
          <a:xfrm>
            <a:off x="4661297" y="2611041"/>
            <a:ext cx="4125516" cy="1060847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0" name="Shape 22"/>
          <p:cNvSpPr/>
          <p:nvPr/>
        </p:nvSpPr>
        <p:spPr>
          <a:xfrm>
            <a:off x="4661297" y="2611041"/>
            <a:ext cx="35719" cy="1060847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31" name="Shape 23"/>
          <p:cNvSpPr/>
          <p:nvPr/>
        </p:nvSpPr>
        <p:spPr>
          <a:xfrm>
            <a:off x="4775597" y="2725341"/>
            <a:ext cx="321469" cy="321469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7395" y="2807494"/>
            <a:ext cx="117872" cy="157163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168503" y="2811066"/>
            <a:ext cx="97174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A52"/>
                </a:solidFill>
              </a:rPr>
              <a:t>Connection Pooling</a:t>
            </a:r>
            <a:endParaRPr lang="en-US" sz="683" dirty="0"/>
          </a:p>
        </p:txBody>
      </p:sp>
      <p:sp>
        <p:nvSpPr>
          <p:cNvPr id="34" name="Text 25"/>
          <p:cNvSpPr/>
          <p:nvPr/>
        </p:nvSpPr>
        <p:spPr>
          <a:xfrm>
            <a:off x="4775597" y="3118247"/>
            <a:ext cx="38969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Efficient database connection management</a:t>
            </a:r>
            <a:endParaRPr lang="en-US" sz="621" dirty="0"/>
          </a:p>
        </p:txBody>
      </p:sp>
      <p:sp>
        <p:nvSpPr>
          <p:cNvPr id="35" name="Text 26"/>
          <p:cNvSpPr/>
          <p:nvPr/>
        </p:nvSpPr>
        <p:spPr>
          <a:xfrm>
            <a:off x="4775597" y="3375422"/>
            <a:ext cx="3896916" cy="182166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i="1" dirty="0">
                <a:solidFill>
                  <a:srgbClr val="666666"/>
                </a:solidFill>
              </a:rPr>
              <a:t>✓ Reduces overhead, improves response times, resource optimization</a:t>
            </a:r>
            <a:endParaRPr lang="en-US" sz="568" dirty="0"/>
          </a:p>
        </p:txBody>
      </p:sp>
      <p:sp>
        <p:nvSpPr>
          <p:cNvPr id="36" name="Shape 27"/>
          <p:cNvSpPr/>
          <p:nvPr/>
        </p:nvSpPr>
        <p:spPr>
          <a:xfrm>
            <a:off x="357188" y="4214813"/>
            <a:ext cx="8429625" cy="5715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7" name="Shape 28"/>
          <p:cNvSpPr/>
          <p:nvPr/>
        </p:nvSpPr>
        <p:spPr>
          <a:xfrm>
            <a:off x="357188" y="4214813"/>
            <a:ext cx="28575" cy="571500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38" name="Shape 29"/>
          <p:cNvSpPr/>
          <p:nvPr/>
        </p:nvSpPr>
        <p:spPr>
          <a:xfrm>
            <a:off x="500063" y="4357688"/>
            <a:ext cx="285750" cy="285750"/>
          </a:xfrm>
          <a:prstGeom prst="ellipse">
            <a:avLst/>
          </a:prstGeom>
          <a:solidFill>
            <a:srgbClr val="0D7EA8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717" y="4436269"/>
            <a:ext cx="96441" cy="12858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871538" y="4430911"/>
            <a:ext cx="418272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Next: Security &amp; Utilities - bcryptjs, JWT, Helmet.js, CORS, Rate Limiting, and scalability benefits</a:t>
            </a:r>
            <a:endParaRPr lang="en-US" sz="634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4327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4752101" cy="521494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A52"/>
                </a:solidFill>
              </a:rPr>
              <a:t>Technology Stack: Security &amp; Utilities</a:t>
            </a:r>
            <a:endParaRPr lang="en-US" sz="1808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1114425"/>
            <a:ext cx="128588" cy="1285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2925" y="1092994"/>
            <a:ext cx="10603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D7EA8"/>
                </a:solidFill>
              </a:rPr>
              <a:t>Security &amp; Utilities</a:t>
            </a:r>
            <a:endParaRPr lang="en-US" sz="784" dirty="0"/>
          </a:p>
        </p:txBody>
      </p:sp>
      <p:sp>
        <p:nvSpPr>
          <p:cNvPr id="6" name="Shape 2"/>
          <p:cNvSpPr/>
          <p:nvPr/>
        </p:nvSpPr>
        <p:spPr>
          <a:xfrm>
            <a:off x="357188" y="1421606"/>
            <a:ext cx="4143375" cy="91010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3"/>
          <p:cNvSpPr/>
          <p:nvPr/>
        </p:nvSpPr>
        <p:spPr>
          <a:xfrm>
            <a:off x="357188" y="1421606"/>
            <a:ext cx="35719" cy="910103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8" name="Shape 4"/>
          <p:cNvSpPr/>
          <p:nvPr/>
        </p:nvSpPr>
        <p:spPr>
          <a:xfrm>
            <a:off x="457200" y="1521619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67" y="1593056"/>
            <a:ext cx="125016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4388" y="1594842"/>
            <a:ext cx="37510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bcryptjs</a:t>
            </a:r>
            <a:endParaRPr lang="en-US" sz="634" dirty="0"/>
          </a:p>
        </p:txBody>
      </p:sp>
      <p:sp>
        <p:nvSpPr>
          <p:cNvPr id="11" name="Text 6"/>
          <p:cNvSpPr/>
          <p:nvPr/>
        </p:nvSpPr>
        <p:spPr>
          <a:xfrm>
            <a:off x="457200" y="1864519"/>
            <a:ext cx="394335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Password hashing with adaptive salt rounds</a:t>
            </a:r>
            <a:endParaRPr lang="en-US" sz="568" dirty="0"/>
          </a:p>
        </p:txBody>
      </p:sp>
      <p:sp>
        <p:nvSpPr>
          <p:cNvPr id="12" name="Text 7"/>
          <p:cNvSpPr/>
          <p:nvPr/>
        </p:nvSpPr>
        <p:spPr>
          <a:xfrm>
            <a:off x="457200" y="2074534"/>
            <a:ext cx="3943350" cy="157163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i="1" dirty="0">
                <a:solidFill>
                  <a:srgbClr val="666666"/>
                </a:solidFill>
              </a:rPr>
              <a:t>✓ Resistant to brute force, industry standard, secure comparison</a:t>
            </a:r>
            <a:endParaRPr lang="en-US" sz="516" dirty="0"/>
          </a:p>
        </p:txBody>
      </p:sp>
      <p:sp>
        <p:nvSpPr>
          <p:cNvPr id="13" name="Shape 8"/>
          <p:cNvSpPr/>
          <p:nvPr/>
        </p:nvSpPr>
        <p:spPr>
          <a:xfrm>
            <a:off x="357188" y="2417434"/>
            <a:ext cx="4143375" cy="91010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Shape 9"/>
          <p:cNvSpPr/>
          <p:nvPr/>
        </p:nvSpPr>
        <p:spPr>
          <a:xfrm>
            <a:off x="357188" y="2417434"/>
            <a:ext cx="35719" cy="910103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15" name="Shape 10"/>
          <p:cNvSpPr/>
          <p:nvPr/>
        </p:nvSpPr>
        <p:spPr>
          <a:xfrm>
            <a:off x="457200" y="2517446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638" y="2588884"/>
            <a:ext cx="142875" cy="14287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14388" y="2590670"/>
            <a:ext cx="65742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jsonwebtoken</a:t>
            </a:r>
            <a:endParaRPr lang="en-US" sz="634" dirty="0"/>
          </a:p>
        </p:txBody>
      </p:sp>
      <p:sp>
        <p:nvSpPr>
          <p:cNvPr id="18" name="Text 12"/>
          <p:cNvSpPr/>
          <p:nvPr/>
        </p:nvSpPr>
        <p:spPr>
          <a:xfrm>
            <a:off x="457200" y="2860346"/>
            <a:ext cx="394335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JWT token generation and verification</a:t>
            </a:r>
            <a:endParaRPr lang="en-US" sz="568" dirty="0"/>
          </a:p>
        </p:txBody>
      </p:sp>
      <p:sp>
        <p:nvSpPr>
          <p:cNvPr id="19" name="Text 13"/>
          <p:cNvSpPr/>
          <p:nvPr/>
        </p:nvSpPr>
        <p:spPr>
          <a:xfrm>
            <a:off x="457200" y="3070361"/>
            <a:ext cx="3943350" cy="157163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i="1" dirty="0">
                <a:solidFill>
                  <a:srgbClr val="666666"/>
                </a:solidFill>
              </a:rPr>
              <a:t>✓ Stateless authentication, secure claims, standard format</a:t>
            </a:r>
            <a:endParaRPr lang="en-US" sz="516" dirty="0"/>
          </a:p>
        </p:txBody>
      </p:sp>
      <p:sp>
        <p:nvSpPr>
          <p:cNvPr id="20" name="Shape 14"/>
          <p:cNvSpPr/>
          <p:nvPr/>
        </p:nvSpPr>
        <p:spPr>
          <a:xfrm>
            <a:off x="357188" y="3413261"/>
            <a:ext cx="4143375" cy="91010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1" name="Shape 15"/>
          <p:cNvSpPr/>
          <p:nvPr/>
        </p:nvSpPr>
        <p:spPr>
          <a:xfrm>
            <a:off x="357188" y="3413261"/>
            <a:ext cx="35719" cy="910103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22" name="Shape 16"/>
          <p:cNvSpPr/>
          <p:nvPr/>
        </p:nvSpPr>
        <p:spPr>
          <a:xfrm>
            <a:off x="457200" y="3513274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638" y="3584711"/>
            <a:ext cx="142875" cy="14287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14388" y="3586497"/>
            <a:ext cx="44160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Helmet.js</a:t>
            </a:r>
            <a:endParaRPr lang="en-US" sz="634" dirty="0"/>
          </a:p>
        </p:txBody>
      </p:sp>
      <p:sp>
        <p:nvSpPr>
          <p:cNvPr id="25" name="Text 18"/>
          <p:cNvSpPr/>
          <p:nvPr/>
        </p:nvSpPr>
        <p:spPr>
          <a:xfrm>
            <a:off x="457200" y="3856174"/>
            <a:ext cx="394335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HTTP security headers middleware</a:t>
            </a:r>
            <a:endParaRPr lang="en-US" sz="568" dirty="0"/>
          </a:p>
        </p:txBody>
      </p:sp>
      <p:sp>
        <p:nvSpPr>
          <p:cNvPr id="26" name="Text 19"/>
          <p:cNvSpPr/>
          <p:nvPr/>
        </p:nvSpPr>
        <p:spPr>
          <a:xfrm>
            <a:off x="457200" y="4066189"/>
            <a:ext cx="3943350" cy="157163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i="1" dirty="0">
                <a:solidFill>
                  <a:srgbClr val="666666"/>
                </a:solidFill>
              </a:rPr>
              <a:t>✓ Protects against common vulnerabilities, XSS prevention</a:t>
            </a:r>
            <a:endParaRPr lang="en-US" sz="516" dirty="0"/>
          </a:p>
        </p:txBody>
      </p:sp>
      <p:sp>
        <p:nvSpPr>
          <p:cNvPr id="27" name="Shape 20"/>
          <p:cNvSpPr/>
          <p:nvPr/>
        </p:nvSpPr>
        <p:spPr>
          <a:xfrm>
            <a:off x="4643438" y="1421606"/>
            <a:ext cx="4143375" cy="91010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8" name="Shape 21"/>
          <p:cNvSpPr/>
          <p:nvPr/>
        </p:nvSpPr>
        <p:spPr>
          <a:xfrm>
            <a:off x="4643438" y="1421606"/>
            <a:ext cx="35719" cy="910103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29" name="Shape 22"/>
          <p:cNvSpPr/>
          <p:nvPr/>
        </p:nvSpPr>
        <p:spPr>
          <a:xfrm>
            <a:off x="4743450" y="1521619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888" y="1593056"/>
            <a:ext cx="142875" cy="142875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100638" y="1594842"/>
            <a:ext cx="8390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CORS &amp; Rate Limit</a:t>
            </a:r>
            <a:endParaRPr lang="en-US" sz="634" dirty="0"/>
          </a:p>
        </p:txBody>
      </p:sp>
      <p:sp>
        <p:nvSpPr>
          <p:cNvPr id="32" name="Text 24"/>
          <p:cNvSpPr/>
          <p:nvPr/>
        </p:nvSpPr>
        <p:spPr>
          <a:xfrm>
            <a:off x="4743450" y="1864519"/>
            <a:ext cx="3943350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Cross-origin support and request throttling</a:t>
            </a:r>
            <a:endParaRPr lang="en-US" sz="568" dirty="0"/>
          </a:p>
        </p:txBody>
      </p:sp>
      <p:sp>
        <p:nvSpPr>
          <p:cNvPr id="33" name="Text 25"/>
          <p:cNvSpPr/>
          <p:nvPr/>
        </p:nvSpPr>
        <p:spPr>
          <a:xfrm>
            <a:off x="4743450" y="2074534"/>
            <a:ext cx="3943350" cy="157163"/>
          </a:xfrm>
          <a:prstGeom prst="rect">
            <a:avLst/>
          </a:prstGeom>
          <a:noFill/>
          <a:ln/>
        </p:spPr>
        <p:txBody>
          <a:bodyPr wrap="none" lIns="0" tIns="51054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i="1" dirty="0">
                <a:solidFill>
                  <a:srgbClr val="666666"/>
                </a:solidFill>
              </a:rPr>
              <a:t>✓ Prevents abuse, controls traffic, enables mobile integration</a:t>
            </a:r>
            <a:endParaRPr lang="en-US" sz="516" dirty="0"/>
          </a:p>
        </p:txBody>
      </p:sp>
      <p:sp>
        <p:nvSpPr>
          <p:cNvPr id="34" name="Shape 26"/>
          <p:cNvSpPr/>
          <p:nvPr/>
        </p:nvSpPr>
        <p:spPr>
          <a:xfrm>
            <a:off x="4643438" y="2460296"/>
            <a:ext cx="4143375" cy="842963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35" name="Shape 27"/>
          <p:cNvSpPr/>
          <p:nvPr/>
        </p:nvSpPr>
        <p:spPr>
          <a:xfrm>
            <a:off x="4643438" y="2460296"/>
            <a:ext cx="35719" cy="842963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36" name="Text 28"/>
          <p:cNvSpPr/>
          <p:nvPr/>
        </p:nvSpPr>
        <p:spPr>
          <a:xfrm>
            <a:off x="4743450" y="2560309"/>
            <a:ext cx="39433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Key Benefits</a:t>
            </a:r>
            <a:endParaRPr lang="en-US" sz="584" dirty="0"/>
          </a:p>
        </p:txBody>
      </p:sp>
      <p:sp>
        <p:nvSpPr>
          <p:cNvPr id="37" name="Text 29"/>
          <p:cNvSpPr/>
          <p:nvPr/>
        </p:nvSpPr>
        <p:spPr>
          <a:xfrm>
            <a:off x="4857750" y="2731759"/>
            <a:ext cx="38290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Production-ready security</a:t>
            </a:r>
            <a:endParaRPr lang="en-US" sz="568" dirty="0"/>
          </a:p>
        </p:txBody>
      </p:sp>
      <p:sp>
        <p:nvSpPr>
          <p:cNvPr id="38" name="Text 30"/>
          <p:cNvSpPr/>
          <p:nvPr/>
        </p:nvSpPr>
        <p:spPr>
          <a:xfrm>
            <a:off x="4857750" y="2849631"/>
            <a:ext cx="38290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Industry best practices</a:t>
            </a:r>
            <a:endParaRPr lang="en-US" sz="568" dirty="0"/>
          </a:p>
        </p:txBody>
      </p:sp>
      <p:sp>
        <p:nvSpPr>
          <p:cNvPr id="39" name="Text 31"/>
          <p:cNvSpPr/>
          <p:nvPr/>
        </p:nvSpPr>
        <p:spPr>
          <a:xfrm>
            <a:off x="4857750" y="2967503"/>
            <a:ext cx="38290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Strong community support</a:t>
            </a:r>
            <a:endParaRPr lang="en-US" sz="568" dirty="0"/>
          </a:p>
        </p:txBody>
      </p:sp>
      <p:sp>
        <p:nvSpPr>
          <p:cNvPr id="40" name="Text 32"/>
          <p:cNvSpPr/>
          <p:nvPr/>
        </p:nvSpPr>
        <p:spPr>
          <a:xfrm>
            <a:off x="4857750" y="3085374"/>
            <a:ext cx="38290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Proven performance</a:t>
            </a:r>
            <a:endParaRPr lang="en-US" sz="568" dirty="0"/>
          </a:p>
        </p:txBody>
      </p:sp>
      <p:sp>
        <p:nvSpPr>
          <p:cNvPr id="41" name="Shape 33"/>
          <p:cNvSpPr/>
          <p:nvPr/>
        </p:nvSpPr>
        <p:spPr>
          <a:xfrm>
            <a:off x="357188" y="4501958"/>
            <a:ext cx="8429625" cy="57362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2" name="Shape 34"/>
          <p:cNvSpPr/>
          <p:nvPr/>
        </p:nvSpPr>
        <p:spPr>
          <a:xfrm>
            <a:off x="357188" y="4501958"/>
            <a:ext cx="8429625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43" name="Shape 35"/>
          <p:cNvSpPr/>
          <p:nvPr/>
        </p:nvSpPr>
        <p:spPr>
          <a:xfrm>
            <a:off x="357188" y="4680552"/>
            <a:ext cx="285750" cy="28575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769" y="4759133"/>
            <a:ext cx="128588" cy="12858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728663" y="4680552"/>
            <a:ext cx="37361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Why This Stack?</a:t>
            </a:r>
            <a:endParaRPr lang="en-US" sz="634" dirty="0"/>
          </a:p>
        </p:txBody>
      </p:sp>
      <p:sp>
        <p:nvSpPr>
          <p:cNvPr id="46" name="Text 37"/>
          <p:cNvSpPr/>
          <p:nvPr/>
        </p:nvSpPr>
        <p:spPr>
          <a:xfrm>
            <a:off x="728663" y="4841286"/>
            <a:ext cx="3736181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Proven technologies with strong community support, excellent performance characteristics, and comprehensive security features for production deployment</a:t>
            </a:r>
            <a:endParaRPr lang="en-US" sz="568" dirty="0"/>
          </a:p>
        </p:txBody>
      </p:sp>
      <p:sp>
        <p:nvSpPr>
          <p:cNvPr id="47" name="Shape 38"/>
          <p:cNvSpPr/>
          <p:nvPr/>
        </p:nvSpPr>
        <p:spPr>
          <a:xfrm>
            <a:off x="4679156" y="4680552"/>
            <a:ext cx="285750" cy="28575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7738" y="4759133"/>
            <a:ext cx="128588" cy="128588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5050631" y="4680552"/>
            <a:ext cx="37361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Scalability Ready</a:t>
            </a:r>
            <a:endParaRPr lang="en-US" sz="634" dirty="0"/>
          </a:p>
        </p:txBody>
      </p:sp>
      <p:sp>
        <p:nvSpPr>
          <p:cNvPr id="50" name="Text 40"/>
          <p:cNvSpPr/>
          <p:nvPr/>
        </p:nvSpPr>
        <p:spPr>
          <a:xfrm>
            <a:off x="5050631" y="4841286"/>
            <a:ext cx="3736181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Non-blocking architecture, connection pooling, and stateless design enable horizontal scaling and high-throughput authentication</a:t>
            </a:r>
            <a:endParaRPr lang="en-US" sz="568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01001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313" y="214313"/>
            <a:ext cx="5776420" cy="500063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A52"/>
                </a:solidFill>
              </a:rPr>
              <a:t>Local Development Setup: Windows &amp; macOS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214313" y="800100"/>
            <a:ext cx="4293394" cy="39290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2"/>
          <p:cNvSpPr/>
          <p:nvPr/>
        </p:nvSpPr>
        <p:spPr>
          <a:xfrm>
            <a:off x="214313" y="800100"/>
            <a:ext cx="35719" cy="392906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6" name="Shape 3"/>
          <p:cNvSpPr/>
          <p:nvPr/>
        </p:nvSpPr>
        <p:spPr>
          <a:xfrm>
            <a:off x="285750" y="871538"/>
            <a:ext cx="250031" cy="250031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09" y="932259"/>
            <a:ext cx="112514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7219" y="916186"/>
            <a:ext cx="48371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A52"/>
                </a:solidFill>
              </a:rPr>
              <a:t>Windows</a:t>
            </a:r>
            <a:endParaRPr lang="en-US" sz="734" dirty="0"/>
          </a:p>
        </p:txBody>
      </p:sp>
      <p:sp>
        <p:nvSpPr>
          <p:cNvPr id="9" name="Shape 5"/>
          <p:cNvSpPr/>
          <p:nvPr/>
        </p:nvSpPr>
        <p:spPr>
          <a:xfrm>
            <a:off x="214313" y="1250156"/>
            <a:ext cx="4293394" cy="573621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6"/>
          <p:cNvSpPr/>
          <p:nvPr/>
        </p:nvSpPr>
        <p:spPr>
          <a:xfrm>
            <a:off x="214313" y="1250156"/>
            <a:ext cx="21431" cy="573621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11" name="Text 7"/>
          <p:cNvSpPr/>
          <p:nvPr/>
        </p:nvSpPr>
        <p:spPr>
          <a:xfrm>
            <a:off x="285750" y="1321594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Step 1: Node.js</a:t>
            </a:r>
            <a:endParaRPr lang="en-US" sz="584" dirty="0"/>
          </a:p>
        </p:txBody>
      </p:sp>
      <p:sp>
        <p:nvSpPr>
          <p:cNvPr id="12" name="Text 8"/>
          <p:cNvSpPr/>
          <p:nvPr/>
        </p:nvSpPr>
        <p:spPr>
          <a:xfrm>
            <a:off x="285750" y="1478756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Download &amp; Install</a:t>
            </a:r>
            <a:endParaRPr lang="en-US" sz="584" dirty="0"/>
          </a:p>
        </p:txBody>
      </p:sp>
      <p:sp>
        <p:nvSpPr>
          <p:cNvPr id="13" name="Text 9"/>
          <p:cNvSpPr/>
          <p:nvPr/>
        </p:nvSpPr>
        <p:spPr>
          <a:xfrm>
            <a:off x="285750" y="1650206"/>
            <a:ext cx="4150519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Visit nodejs.org, download LTS version, run installer</a:t>
            </a:r>
            <a:endParaRPr lang="en-US" sz="568" dirty="0"/>
          </a:p>
        </p:txBody>
      </p:sp>
      <p:sp>
        <p:nvSpPr>
          <p:cNvPr id="14" name="Shape 10"/>
          <p:cNvSpPr/>
          <p:nvPr/>
        </p:nvSpPr>
        <p:spPr>
          <a:xfrm>
            <a:off x="214313" y="1880927"/>
            <a:ext cx="4293394" cy="573621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1"/>
          <p:cNvSpPr/>
          <p:nvPr/>
        </p:nvSpPr>
        <p:spPr>
          <a:xfrm>
            <a:off x="214313" y="1880927"/>
            <a:ext cx="21431" cy="573621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16" name="Text 12"/>
          <p:cNvSpPr/>
          <p:nvPr/>
        </p:nvSpPr>
        <p:spPr>
          <a:xfrm>
            <a:off x="285750" y="1952365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Step 2: MySQL</a:t>
            </a:r>
            <a:endParaRPr lang="en-US" sz="584" dirty="0"/>
          </a:p>
        </p:txBody>
      </p:sp>
      <p:sp>
        <p:nvSpPr>
          <p:cNvPr id="17" name="Text 13"/>
          <p:cNvSpPr/>
          <p:nvPr/>
        </p:nvSpPr>
        <p:spPr>
          <a:xfrm>
            <a:off x="285750" y="2109527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Install MySQL Server</a:t>
            </a:r>
            <a:endParaRPr lang="en-US" sz="584" dirty="0"/>
          </a:p>
        </p:txBody>
      </p:sp>
      <p:sp>
        <p:nvSpPr>
          <p:cNvPr id="18" name="Text 14"/>
          <p:cNvSpPr/>
          <p:nvPr/>
        </p:nvSpPr>
        <p:spPr>
          <a:xfrm>
            <a:off x="285750" y="2280977"/>
            <a:ext cx="4150519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Download MySQL Community Server, run MSI installer</a:t>
            </a:r>
            <a:endParaRPr lang="en-US" sz="568" dirty="0"/>
          </a:p>
        </p:txBody>
      </p:sp>
      <p:sp>
        <p:nvSpPr>
          <p:cNvPr id="19" name="Shape 15"/>
          <p:cNvSpPr/>
          <p:nvPr/>
        </p:nvSpPr>
        <p:spPr>
          <a:xfrm>
            <a:off x="214313" y="2511698"/>
            <a:ext cx="4293394" cy="63579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Shape 16"/>
          <p:cNvSpPr/>
          <p:nvPr/>
        </p:nvSpPr>
        <p:spPr>
          <a:xfrm>
            <a:off x="214313" y="2511698"/>
            <a:ext cx="21431" cy="635794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21" name="Text 17"/>
          <p:cNvSpPr/>
          <p:nvPr/>
        </p:nvSpPr>
        <p:spPr>
          <a:xfrm>
            <a:off x="285750" y="2583135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Step 3: Extract</a:t>
            </a:r>
            <a:endParaRPr lang="en-US" sz="584" dirty="0"/>
          </a:p>
        </p:txBody>
      </p:sp>
      <p:sp>
        <p:nvSpPr>
          <p:cNvPr id="22" name="Text 18"/>
          <p:cNvSpPr/>
          <p:nvPr/>
        </p:nvSpPr>
        <p:spPr>
          <a:xfrm>
            <a:off x="285750" y="2740298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Unzip Service</a:t>
            </a:r>
            <a:endParaRPr lang="en-US" sz="584" dirty="0"/>
          </a:p>
        </p:txBody>
      </p:sp>
      <p:sp>
        <p:nvSpPr>
          <p:cNvPr id="23" name="Shape 19"/>
          <p:cNvSpPr/>
          <p:nvPr/>
        </p:nvSpPr>
        <p:spPr>
          <a:xfrm>
            <a:off x="285750" y="2911748"/>
            <a:ext cx="4150519" cy="164306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24" name="Text 20"/>
          <p:cNvSpPr/>
          <p:nvPr/>
        </p:nvSpPr>
        <p:spPr>
          <a:xfrm>
            <a:off x="285750" y="2911748"/>
            <a:ext cx="4150519" cy="164306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FF00"/>
                </a:solidFill>
              </a:rPr>
              <a:t>unzip auth-service.zip</a:t>
            </a:r>
            <a:endParaRPr lang="en-US" sz="516" dirty="0"/>
          </a:p>
        </p:txBody>
      </p:sp>
      <p:sp>
        <p:nvSpPr>
          <p:cNvPr id="25" name="Shape 21"/>
          <p:cNvSpPr/>
          <p:nvPr/>
        </p:nvSpPr>
        <p:spPr>
          <a:xfrm>
            <a:off x="214313" y="3204642"/>
            <a:ext cx="4293394" cy="63579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6" name="Shape 22"/>
          <p:cNvSpPr/>
          <p:nvPr/>
        </p:nvSpPr>
        <p:spPr>
          <a:xfrm>
            <a:off x="214313" y="3204642"/>
            <a:ext cx="21431" cy="635794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27" name="Text 23"/>
          <p:cNvSpPr/>
          <p:nvPr/>
        </p:nvSpPr>
        <p:spPr>
          <a:xfrm>
            <a:off x="285750" y="3276079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Step 4: Install</a:t>
            </a:r>
            <a:endParaRPr lang="en-US" sz="584" dirty="0"/>
          </a:p>
        </p:txBody>
      </p:sp>
      <p:sp>
        <p:nvSpPr>
          <p:cNvPr id="28" name="Text 24"/>
          <p:cNvSpPr/>
          <p:nvPr/>
        </p:nvSpPr>
        <p:spPr>
          <a:xfrm>
            <a:off x="285750" y="3433242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Dependencies</a:t>
            </a:r>
            <a:endParaRPr lang="en-US" sz="584" dirty="0"/>
          </a:p>
        </p:txBody>
      </p:sp>
      <p:sp>
        <p:nvSpPr>
          <p:cNvPr id="29" name="Shape 25"/>
          <p:cNvSpPr/>
          <p:nvPr/>
        </p:nvSpPr>
        <p:spPr>
          <a:xfrm>
            <a:off x="285750" y="3604692"/>
            <a:ext cx="4150519" cy="164306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30" name="Text 26"/>
          <p:cNvSpPr/>
          <p:nvPr/>
        </p:nvSpPr>
        <p:spPr>
          <a:xfrm>
            <a:off x="285750" y="3604692"/>
            <a:ext cx="4150519" cy="164306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FF00"/>
                </a:solidFill>
              </a:rPr>
              <a:t>npm install</a:t>
            </a:r>
            <a:endParaRPr lang="en-US" sz="516" dirty="0"/>
          </a:p>
        </p:txBody>
      </p:sp>
      <p:sp>
        <p:nvSpPr>
          <p:cNvPr id="31" name="Shape 27"/>
          <p:cNvSpPr/>
          <p:nvPr/>
        </p:nvSpPr>
        <p:spPr>
          <a:xfrm>
            <a:off x="214313" y="3897585"/>
            <a:ext cx="4293394" cy="63579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2" name="Shape 28"/>
          <p:cNvSpPr/>
          <p:nvPr/>
        </p:nvSpPr>
        <p:spPr>
          <a:xfrm>
            <a:off x="214313" y="3897585"/>
            <a:ext cx="21431" cy="635794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33" name="Text 29"/>
          <p:cNvSpPr/>
          <p:nvPr/>
        </p:nvSpPr>
        <p:spPr>
          <a:xfrm>
            <a:off x="285750" y="3969023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Step 5: Configure</a:t>
            </a:r>
            <a:endParaRPr lang="en-US" sz="584" dirty="0"/>
          </a:p>
        </p:txBody>
      </p:sp>
      <p:sp>
        <p:nvSpPr>
          <p:cNvPr id="34" name="Text 30"/>
          <p:cNvSpPr/>
          <p:nvPr/>
        </p:nvSpPr>
        <p:spPr>
          <a:xfrm>
            <a:off x="285750" y="4126185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Environment</a:t>
            </a:r>
            <a:endParaRPr lang="en-US" sz="584" dirty="0"/>
          </a:p>
        </p:txBody>
      </p:sp>
      <p:sp>
        <p:nvSpPr>
          <p:cNvPr id="35" name="Shape 31"/>
          <p:cNvSpPr/>
          <p:nvPr/>
        </p:nvSpPr>
        <p:spPr>
          <a:xfrm>
            <a:off x="285750" y="4297635"/>
            <a:ext cx="4150519" cy="164306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36" name="Text 32"/>
          <p:cNvSpPr/>
          <p:nvPr/>
        </p:nvSpPr>
        <p:spPr>
          <a:xfrm>
            <a:off x="285750" y="4297635"/>
            <a:ext cx="4150519" cy="164306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FF00"/>
                </a:solidFill>
              </a:rPr>
              <a:t>copy example.env .env</a:t>
            </a:r>
            <a:endParaRPr lang="en-US" sz="516" dirty="0"/>
          </a:p>
        </p:txBody>
      </p:sp>
      <p:sp>
        <p:nvSpPr>
          <p:cNvPr id="37" name="Shape 33"/>
          <p:cNvSpPr/>
          <p:nvPr/>
        </p:nvSpPr>
        <p:spPr>
          <a:xfrm>
            <a:off x="214313" y="4590529"/>
            <a:ext cx="4293394" cy="63579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8" name="Shape 34"/>
          <p:cNvSpPr/>
          <p:nvPr/>
        </p:nvSpPr>
        <p:spPr>
          <a:xfrm>
            <a:off x="214313" y="4590529"/>
            <a:ext cx="21431" cy="635794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39" name="Text 35"/>
          <p:cNvSpPr/>
          <p:nvPr/>
        </p:nvSpPr>
        <p:spPr>
          <a:xfrm>
            <a:off x="285750" y="4661967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Step 6: Start</a:t>
            </a:r>
            <a:endParaRPr lang="en-US" sz="584" dirty="0"/>
          </a:p>
        </p:txBody>
      </p:sp>
      <p:sp>
        <p:nvSpPr>
          <p:cNvPr id="40" name="Text 36"/>
          <p:cNvSpPr/>
          <p:nvPr/>
        </p:nvSpPr>
        <p:spPr>
          <a:xfrm>
            <a:off x="285750" y="4819129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Run Service</a:t>
            </a:r>
            <a:endParaRPr lang="en-US" sz="584" dirty="0"/>
          </a:p>
        </p:txBody>
      </p:sp>
      <p:sp>
        <p:nvSpPr>
          <p:cNvPr id="41" name="Shape 37"/>
          <p:cNvSpPr/>
          <p:nvPr/>
        </p:nvSpPr>
        <p:spPr>
          <a:xfrm>
            <a:off x="285750" y="4990579"/>
            <a:ext cx="4150519" cy="164306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42" name="Text 38"/>
          <p:cNvSpPr/>
          <p:nvPr/>
        </p:nvSpPr>
        <p:spPr>
          <a:xfrm>
            <a:off x="285750" y="4990579"/>
            <a:ext cx="4150519" cy="164306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FF00"/>
                </a:solidFill>
              </a:rPr>
              <a:t>npm start</a:t>
            </a:r>
            <a:endParaRPr lang="en-US" sz="516" dirty="0"/>
          </a:p>
        </p:txBody>
      </p:sp>
      <p:sp>
        <p:nvSpPr>
          <p:cNvPr id="43" name="Shape 39"/>
          <p:cNvSpPr/>
          <p:nvPr/>
        </p:nvSpPr>
        <p:spPr>
          <a:xfrm>
            <a:off x="4636294" y="800100"/>
            <a:ext cx="4293394" cy="39290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4" name="Shape 40"/>
          <p:cNvSpPr/>
          <p:nvPr/>
        </p:nvSpPr>
        <p:spPr>
          <a:xfrm>
            <a:off x="4636294" y="800100"/>
            <a:ext cx="35719" cy="392906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45" name="Shape 41"/>
          <p:cNvSpPr/>
          <p:nvPr/>
        </p:nvSpPr>
        <p:spPr>
          <a:xfrm>
            <a:off x="4707731" y="871538"/>
            <a:ext cx="250031" cy="250031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4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527" y="932259"/>
            <a:ext cx="96441" cy="128588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5029200" y="916186"/>
            <a:ext cx="36938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A52"/>
                </a:solidFill>
              </a:rPr>
              <a:t>macOS</a:t>
            </a:r>
            <a:endParaRPr lang="en-US" sz="734" dirty="0"/>
          </a:p>
        </p:txBody>
      </p:sp>
      <p:sp>
        <p:nvSpPr>
          <p:cNvPr id="48" name="Shape 43"/>
          <p:cNvSpPr/>
          <p:nvPr/>
        </p:nvSpPr>
        <p:spPr>
          <a:xfrm>
            <a:off x="4636294" y="1250156"/>
            <a:ext cx="4293394" cy="573621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9" name="Shape 44"/>
          <p:cNvSpPr/>
          <p:nvPr/>
        </p:nvSpPr>
        <p:spPr>
          <a:xfrm>
            <a:off x="4636294" y="1250156"/>
            <a:ext cx="21431" cy="573621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50" name="Text 45"/>
          <p:cNvSpPr/>
          <p:nvPr/>
        </p:nvSpPr>
        <p:spPr>
          <a:xfrm>
            <a:off x="4707731" y="1321594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Step 1: Homebrew</a:t>
            </a:r>
            <a:endParaRPr lang="en-US" sz="584" dirty="0"/>
          </a:p>
        </p:txBody>
      </p:sp>
      <p:sp>
        <p:nvSpPr>
          <p:cNvPr id="51" name="Text 46"/>
          <p:cNvSpPr/>
          <p:nvPr/>
        </p:nvSpPr>
        <p:spPr>
          <a:xfrm>
            <a:off x="4707731" y="1478756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Install Package Manager</a:t>
            </a:r>
            <a:endParaRPr lang="en-US" sz="584" dirty="0"/>
          </a:p>
        </p:txBody>
      </p:sp>
      <p:sp>
        <p:nvSpPr>
          <p:cNvPr id="52" name="Text 47"/>
          <p:cNvSpPr/>
          <p:nvPr/>
        </p:nvSpPr>
        <p:spPr>
          <a:xfrm>
            <a:off x="4707731" y="1650206"/>
            <a:ext cx="4150519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/bin/bash -c "$(curl -fsSL ...)"</a:t>
            </a:r>
            <a:endParaRPr lang="en-US" sz="568" dirty="0"/>
          </a:p>
        </p:txBody>
      </p:sp>
      <p:sp>
        <p:nvSpPr>
          <p:cNvPr id="53" name="Shape 48"/>
          <p:cNvSpPr/>
          <p:nvPr/>
        </p:nvSpPr>
        <p:spPr>
          <a:xfrm>
            <a:off x="4636294" y="1880927"/>
            <a:ext cx="4293394" cy="63579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4" name="Shape 49"/>
          <p:cNvSpPr/>
          <p:nvPr/>
        </p:nvSpPr>
        <p:spPr>
          <a:xfrm>
            <a:off x="4636294" y="1880927"/>
            <a:ext cx="21431" cy="635794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55" name="Text 50"/>
          <p:cNvSpPr/>
          <p:nvPr/>
        </p:nvSpPr>
        <p:spPr>
          <a:xfrm>
            <a:off x="4707731" y="1952365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Step 2: Node.js</a:t>
            </a:r>
            <a:endParaRPr lang="en-US" sz="584" dirty="0"/>
          </a:p>
        </p:txBody>
      </p:sp>
      <p:sp>
        <p:nvSpPr>
          <p:cNvPr id="56" name="Text 51"/>
          <p:cNvSpPr/>
          <p:nvPr/>
        </p:nvSpPr>
        <p:spPr>
          <a:xfrm>
            <a:off x="4707731" y="2109527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Install via Homebrew</a:t>
            </a:r>
            <a:endParaRPr lang="en-US" sz="584" dirty="0"/>
          </a:p>
        </p:txBody>
      </p:sp>
      <p:sp>
        <p:nvSpPr>
          <p:cNvPr id="57" name="Shape 52"/>
          <p:cNvSpPr/>
          <p:nvPr/>
        </p:nvSpPr>
        <p:spPr>
          <a:xfrm>
            <a:off x="4707731" y="2280977"/>
            <a:ext cx="4150519" cy="164306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58" name="Text 53"/>
          <p:cNvSpPr/>
          <p:nvPr/>
        </p:nvSpPr>
        <p:spPr>
          <a:xfrm>
            <a:off x="4707731" y="2280977"/>
            <a:ext cx="4150519" cy="164306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FF00"/>
                </a:solidFill>
              </a:rPr>
              <a:t>brew install node</a:t>
            </a:r>
            <a:endParaRPr lang="en-US" sz="516" dirty="0"/>
          </a:p>
        </p:txBody>
      </p:sp>
      <p:sp>
        <p:nvSpPr>
          <p:cNvPr id="59" name="Shape 54"/>
          <p:cNvSpPr/>
          <p:nvPr/>
        </p:nvSpPr>
        <p:spPr>
          <a:xfrm>
            <a:off x="4636294" y="2573871"/>
            <a:ext cx="4293394" cy="63579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0" name="Shape 55"/>
          <p:cNvSpPr/>
          <p:nvPr/>
        </p:nvSpPr>
        <p:spPr>
          <a:xfrm>
            <a:off x="4636294" y="2573871"/>
            <a:ext cx="21431" cy="635794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61" name="Text 56"/>
          <p:cNvSpPr/>
          <p:nvPr/>
        </p:nvSpPr>
        <p:spPr>
          <a:xfrm>
            <a:off x="4707731" y="2645308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Step 3: MySQL</a:t>
            </a:r>
            <a:endParaRPr lang="en-US" sz="584" dirty="0"/>
          </a:p>
        </p:txBody>
      </p:sp>
      <p:sp>
        <p:nvSpPr>
          <p:cNvPr id="62" name="Text 57"/>
          <p:cNvSpPr/>
          <p:nvPr/>
        </p:nvSpPr>
        <p:spPr>
          <a:xfrm>
            <a:off x="4707731" y="2802471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Install via Homebrew</a:t>
            </a:r>
            <a:endParaRPr lang="en-US" sz="584" dirty="0"/>
          </a:p>
        </p:txBody>
      </p:sp>
      <p:sp>
        <p:nvSpPr>
          <p:cNvPr id="63" name="Shape 58"/>
          <p:cNvSpPr/>
          <p:nvPr/>
        </p:nvSpPr>
        <p:spPr>
          <a:xfrm>
            <a:off x="4707731" y="2973921"/>
            <a:ext cx="4150519" cy="164306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64" name="Text 59"/>
          <p:cNvSpPr/>
          <p:nvPr/>
        </p:nvSpPr>
        <p:spPr>
          <a:xfrm>
            <a:off x="4707731" y="2973921"/>
            <a:ext cx="4150519" cy="164306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FF00"/>
                </a:solidFill>
              </a:rPr>
              <a:t>brew install mysql</a:t>
            </a:r>
            <a:endParaRPr lang="en-US" sz="516" dirty="0"/>
          </a:p>
        </p:txBody>
      </p:sp>
      <p:sp>
        <p:nvSpPr>
          <p:cNvPr id="65" name="Shape 60"/>
          <p:cNvSpPr/>
          <p:nvPr/>
        </p:nvSpPr>
        <p:spPr>
          <a:xfrm>
            <a:off x="4636294" y="3266815"/>
            <a:ext cx="4293394" cy="63579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6" name="Shape 61"/>
          <p:cNvSpPr/>
          <p:nvPr/>
        </p:nvSpPr>
        <p:spPr>
          <a:xfrm>
            <a:off x="4636294" y="3266815"/>
            <a:ext cx="21431" cy="635794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67" name="Text 62"/>
          <p:cNvSpPr/>
          <p:nvPr/>
        </p:nvSpPr>
        <p:spPr>
          <a:xfrm>
            <a:off x="4707731" y="3338252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Step 4: Extract</a:t>
            </a:r>
            <a:endParaRPr lang="en-US" sz="584" dirty="0"/>
          </a:p>
        </p:txBody>
      </p:sp>
      <p:sp>
        <p:nvSpPr>
          <p:cNvPr id="68" name="Text 63"/>
          <p:cNvSpPr/>
          <p:nvPr/>
        </p:nvSpPr>
        <p:spPr>
          <a:xfrm>
            <a:off x="4707731" y="3495415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Unzip Service</a:t>
            </a:r>
            <a:endParaRPr lang="en-US" sz="584" dirty="0"/>
          </a:p>
        </p:txBody>
      </p:sp>
      <p:sp>
        <p:nvSpPr>
          <p:cNvPr id="69" name="Shape 64"/>
          <p:cNvSpPr/>
          <p:nvPr/>
        </p:nvSpPr>
        <p:spPr>
          <a:xfrm>
            <a:off x="4707731" y="3666865"/>
            <a:ext cx="4150519" cy="164306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70" name="Text 65"/>
          <p:cNvSpPr/>
          <p:nvPr/>
        </p:nvSpPr>
        <p:spPr>
          <a:xfrm>
            <a:off x="4707731" y="3666865"/>
            <a:ext cx="4150519" cy="164306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FF00"/>
                </a:solidFill>
              </a:rPr>
              <a:t>unzip auth-service.zip</a:t>
            </a:r>
            <a:endParaRPr lang="en-US" sz="516" dirty="0"/>
          </a:p>
        </p:txBody>
      </p:sp>
      <p:sp>
        <p:nvSpPr>
          <p:cNvPr id="71" name="Shape 66"/>
          <p:cNvSpPr/>
          <p:nvPr/>
        </p:nvSpPr>
        <p:spPr>
          <a:xfrm>
            <a:off x="4636294" y="3959758"/>
            <a:ext cx="4293394" cy="63579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2" name="Shape 67"/>
          <p:cNvSpPr/>
          <p:nvPr/>
        </p:nvSpPr>
        <p:spPr>
          <a:xfrm>
            <a:off x="4636294" y="3959758"/>
            <a:ext cx="21431" cy="635794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73" name="Text 68"/>
          <p:cNvSpPr/>
          <p:nvPr/>
        </p:nvSpPr>
        <p:spPr>
          <a:xfrm>
            <a:off x="4707731" y="4031196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Step 5: Install</a:t>
            </a:r>
            <a:endParaRPr lang="en-US" sz="584" dirty="0"/>
          </a:p>
        </p:txBody>
      </p:sp>
      <p:sp>
        <p:nvSpPr>
          <p:cNvPr id="74" name="Text 69"/>
          <p:cNvSpPr/>
          <p:nvPr/>
        </p:nvSpPr>
        <p:spPr>
          <a:xfrm>
            <a:off x="4707731" y="4188358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Dependencies</a:t>
            </a:r>
            <a:endParaRPr lang="en-US" sz="584" dirty="0"/>
          </a:p>
        </p:txBody>
      </p:sp>
      <p:sp>
        <p:nvSpPr>
          <p:cNvPr id="75" name="Shape 70"/>
          <p:cNvSpPr/>
          <p:nvPr/>
        </p:nvSpPr>
        <p:spPr>
          <a:xfrm>
            <a:off x="4707731" y="4359808"/>
            <a:ext cx="4150519" cy="164306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76" name="Text 71"/>
          <p:cNvSpPr/>
          <p:nvPr/>
        </p:nvSpPr>
        <p:spPr>
          <a:xfrm>
            <a:off x="4707731" y="4359808"/>
            <a:ext cx="4150519" cy="164306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FF00"/>
                </a:solidFill>
              </a:rPr>
              <a:t>npm install</a:t>
            </a:r>
            <a:endParaRPr lang="en-US" sz="516" dirty="0"/>
          </a:p>
        </p:txBody>
      </p:sp>
      <p:sp>
        <p:nvSpPr>
          <p:cNvPr id="77" name="Shape 72"/>
          <p:cNvSpPr/>
          <p:nvPr/>
        </p:nvSpPr>
        <p:spPr>
          <a:xfrm>
            <a:off x="4636294" y="4652702"/>
            <a:ext cx="4293394" cy="635794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8" name="Shape 73"/>
          <p:cNvSpPr/>
          <p:nvPr/>
        </p:nvSpPr>
        <p:spPr>
          <a:xfrm>
            <a:off x="4636294" y="4652702"/>
            <a:ext cx="21431" cy="635794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79" name="Text 74"/>
          <p:cNvSpPr/>
          <p:nvPr/>
        </p:nvSpPr>
        <p:spPr>
          <a:xfrm>
            <a:off x="4707731" y="4724140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Step 6: Start</a:t>
            </a:r>
            <a:endParaRPr lang="en-US" sz="584" dirty="0"/>
          </a:p>
        </p:txBody>
      </p:sp>
      <p:sp>
        <p:nvSpPr>
          <p:cNvPr id="80" name="Text 75"/>
          <p:cNvSpPr/>
          <p:nvPr/>
        </p:nvSpPr>
        <p:spPr>
          <a:xfrm>
            <a:off x="4707731" y="4881302"/>
            <a:ext cx="415051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Run Service</a:t>
            </a:r>
            <a:endParaRPr lang="en-US" sz="584" dirty="0"/>
          </a:p>
        </p:txBody>
      </p:sp>
      <p:sp>
        <p:nvSpPr>
          <p:cNvPr id="81" name="Shape 76"/>
          <p:cNvSpPr/>
          <p:nvPr/>
        </p:nvSpPr>
        <p:spPr>
          <a:xfrm>
            <a:off x="4707731" y="5052752"/>
            <a:ext cx="4150519" cy="164306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82" name="Text 77"/>
          <p:cNvSpPr/>
          <p:nvPr/>
        </p:nvSpPr>
        <p:spPr>
          <a:xfrm>
            <a:off x="4707731" y="5052752"/>
            <a:ext cx="4150519" cy="164306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FF00"/>
                </a:solidFill>
              </a:rPr>
              <a:t>npm start</a:t>
            </a:r>
            <a:endParaRPr lang="en-US" sz="516" dirty="0"/>
          </a:p>
        </p:txBody>
      </p:sp>
      <p:sp>
        <p:nvSpPr>
          <p:cNvPr id="83" name="Shape 78"/>
          <p:cNvSpPr/>
          <p:nvPr/>
        </p:nvSpPr>
        <p:spPr>
          <a:xfrm>
            <a:off x="214313" y="5374221"/>
            <a:ext cx="8715375" cy="421481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84" name="Shape 79"/>
          <p:cNvSpPr/>
          <p:nvPr/>
        </p:nvSpPr>
        <p:spPr>
          <a:xfrm>
            <a:off x="214313" y="5374221"/>
            <a:ext cx="28575" cy="421481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85" name="Shape 80"/>
          <p:cNvSpPr/>
          <p:nvPr/>
        </p:nvSpPr>
        <p:spPr>
          <a:xfrm>
            <a:off x="300038" y="5459946"/>
            <a:ext cx="250031" cy="250031"/>
          </a:xfrm>
          <a:prstGeom prst="ellipse">
            <a:avLst/>
          </a:prstGeom>
          <a:solidFill>
            <a:srgbClr val="0D7EA8"/>
          </a:solidFill>
          <a:ln/>
        </p:spPr>
      </p:sp>
      <p:pic>
        <p:nvPicPr>
          <p:cNvPr id="8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91" y="5527811"/>
            <a:ext cx="85725" cy="114300"/>
          </a:xfrm>
          <a:prstGeom prst="rect">
            <a:avLst/>
          </a:prstGeom>
        </p:spPr>
      </p:pic>
      <p:sp>
        <p:nvSpPr>
          <p:cNvPr id="87" name="Text 81"/>
          <p:cNvSpPr/>
          <p:nvPr/>
        </p:nvSpPr>
        <p:spPr>
          <a:xfrm>
            <a:off x="635794" y="5520668"/>
            <a:ext cx="317963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Next: Linux installation steps, database configuration, and service verification</a:t>
            </a:r>
            <a:endParaRPr lang="en-US" sz="584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507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313" y="214313"/>
            <a:ext cx="5932270" cy="521494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A52"/>
                </a:solidFill>
              </a:rPr>
              <a:t>Local Development Setup: Linux &amp; Verification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214313" y="842963"/>
            <a:ext cx="4286250" cy="392906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Shape 2"/>
          <p:cNvSpPr/>
          <p:nvPr/>
        </p:nvSpPr>
        <p:spPr>
          <a:xfrm>
            <a:off x="214313" y="842963"/>
            <a:ext cx="35719" cy="392906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6" name="Shape 3"/>
          <p:cNvSpPr/>
          <p:nvPr/>
        </p:nvSpPr>
        <p:spPr>
          <a:xfrm>
            <a:off x="285750" y="914400"/>
            <a:ext cx="250031" cy="250031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509" y="975122"/>
            <a:ext cx="112514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07219" y="959048"/>
            <a:ext cx="94640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A3A52"/>
                </a:solidFill>
              </a:rPr>
              <a:t>Linux Installation</a:t>
            </a:r>
            <a:endParaRPr lang="en-US" sz="734" dirty="0"/>
          </a:p>
        </p:txBody>
      </p:sp>
      <p:sp>
        <p:nvSpPr>
          <p:cNvPr id="9" name="Shape 5"/>
          <p:cNvSpPr/>
          <p:nvPr/>
        </p:nvSpPr>
        <p:spPr>
          <a:xfrm>
            <a:off x="214313" y="1293019"/>
            <a:ext cx="4286250" cy="64293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6"/>
          <p:cNvSpPr/>
          <p:nvPr/>
        </p:nvSpPr>
        <p:spPr>
          <a:xfrm>
            <a:off x="214313" y="1293019"/>
            <a:ext cx="21431" cy="642938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11" name="Text 7"/>
          <p:cNvSpPr/>
          <p:nvPr/>
        </p:nvSpPr>
        <p:spPr>
          <a:xfrm>
            <a:off x="285750" y="1364456"/>
            <a:ext cx="41433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Step 1: Update</a:t>
            </a:r>
            <a:endParaRPr lang="en-US" sz="584" dirty="0"/>
          </a:p>
        </p:txBody>
      </p:sp>
      <p:sp>
        <p:nvSpPr>
          <p:cNvPr id="12" name="Text 8"/>
          <p:cNvSpPr/>
          <p:nvPr/>
        </p:nvSpPr>
        <p:spPr>
          <a:xfrm>
            <a:off x="285750" y="1521619"/>
            <a:ext cx="41433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System Packages</a:t>
            </a:r>
            <a:endParaRPr lang="en-US" sz="584" dirty="0"/>
          </a:p>
        </p:txBody>
      </p:sp>
      <p:sp>
        <p:nvSpPr>
          <p:cNvPr id="13" name="Shape 9"/>
          <p:cNvSpPr/>
          <p:nvPr/>
        </p:nvSpPr>
        <p:spPr>
          <a:xfrm>
            <a:off x="285750" y="1700213"/>
            <a:ext cx="4143375" cy="164306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14" name="Text 10"/>
          <p:cNvSpPr/>
          <p:nvPr/>
        </p:nvSpPr>
        <p:spPr>
          <a:xfrm>
            <a:off x="285750" y="1700213"/>
            <a:ext cx="4143375" cy="164306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FF00"/>
                </a:solidFill>
              </a:rPr>
              <a:t>sudo apt update</a:t>
            </a:r>
            <a:endParaRPr lang="en-US" sz="516" dirty="0"/>
          </a:p>
        </p:txBody>
      </p:sp>
      <p:sp>
        <p:nvSpPr>
          <p:cNvPr id="15" name="Shape 11"/>
          <p:cNvSpPr/>
          <p:nvPr/>
        </p:nvSpPr>
        <p:spPr>
          <a:xfrm>
            <a:off x="214313" y="1993106"/>
            <a:ext cx="4286250" cy="64293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6" name="Shape 12"/>
          <p:cNvSpPr/>
          <p:nvPr/>
        </p:nvSpPr>
        <p:spPr>
          <a:xfrm>
            <a:off x="214313" y="1993106"/>
            <a:ext cx="21431" cy="642938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17" name="Text 13"/>
          <p:cNvSpPr/>
          <p:nvPr/>
        </p:nvSpPr>
        <p:spPr>
          <a:xfrm>
            <a:off x="285750" y="2064544"/>
            <a:ext cx="41433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Step 2: Node.js</a:t>
            </a:r>
            <a:endParaRPr lang="en-US" sz="584" dirty="0"/>
          </a:p>
        </p:txBody>
      </p:sp>
      <p:sp>
        <p:nvSpPr>
          <p:cNvPr id="18" name="Text 14"/>
          <p:cNvSpPr/>
          <p:nvPr/>
        </p:nvSpPr>
        <p:spPr>
          <a:xfrm>
            <a:off x="285750" y="2221706"/>
            <a:ext cx="41433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Install Node</a:t>
            </a:r>
            <a:endParaRPr lang="en-US" sz="584" dirty="0"/>
          </a:p>
        </p:txBody>
      </p:sp>
      <p:sp>
        <p:nvSpPr>
          <p:cNvPr id="19" name="Shape 15"/>
          <p:cNvSpPr/>
          <p:nvPr/>
        </p:nvSpPr>
        <p:spPr>
          <a:xfrm>
            <a:off x="285750" y="2400300"/>
            <a:ext cx="4143375" cy="164306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20" name="Text 16"/>
          <p:cNvSpPr/>
          <p:nvPr/>
        </p:nvSpPr>
        <p:spPr>
          <a:xfrm>
            <a:off x="285750" y="2400300"/>
            <a:ext cx="4143375" cy="164306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FF00"/>
                </a:solidFill>
              </a:rPr>
              <a:t>sudo apt install nodejs npm</a:t>
            </a:r>
            <a:endParaRPr lang="en-US" sz="516" dirty="0"/>
          </a:p>
        </p:txBody>
      </p:sp>
      <p:sp>
        <p:nvSpPr>
          <p:cNvPr id="21" name="Shape 17"/>
          <p:cNvSpPr/>
          <p:nvPr/>
        </p:nvSpPr>
        <p:spPr>
          <a:xfrm>
            <a:off x="214313" y="2693194"/>
            <a:ext cx="4286250" cy="64293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Shape 18"/>
          <p:cNvSpPr/>
          <p:nvPr/>
        </p:nvSpPr>
        <p:spPr>
          <a:xfrm>
            <a:off x="214313" y="2693194"/>
            <a:ext cx="21431" cy="642938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23" name="Text 19"/>
          <p:cNvSpPr/>
          <p:nvPr/>
        </p:nvSpPr>
        <p:spPr>
          <a:xfrm>
            <a:off x="285750" y="2764631"/>
            <a:ext cx="41433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Step 3: MySQL</a:t>
            </a:r>
            <a:endParaRPr lang="en-US" sz="584" dirty="0"/>
          </a:p>
        </p:txBody>
      </p:sp>
      <p:sp>
        <p:nvSpPr>
          <p:cNvPr id="24" name="Text 20"/>
          <p:cNvSpPr/>
          <p:nvPr/>
        </p:nvSpPr>
        <p:spPr>
          <a:xfrm>
            <a:off x="285750" y="2921794"/>
            <a:ext cx="41433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Install MySQL</a:t>
            </a:r>
            <a:endParaRPr lang="en-US" sz="584" dirty="0"/>
          </a:p>
        </p:txBody>
      </p:sp>
      <p:sp>
        <p:nvSpPr>
          <p:cNvPr id="25" name="Shape 21"/>
          <p:cNvSpPr/>
          <p:nvPr/>
        </p:nvSpPr>
        <p:spPr>
          <a:xfrm>
            <a:off x="285750" y="3100388"/>
            <a:ext cx="4143375" cy="164306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26" name="Text 22"/>
          <p:cNvSpPr/>
          <p:nvPr/>
        </p:nvSpPr>
        <p:spPr>
          <a:xfrm>
            <a:off x="285750" y="3100388"/>
            <a:ext cx="4143375" cy="164306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FF00"/>
                </a:solidFill>
              </a:rPr>
              <a:t>sudo apt install mysql-server</a:t>
            </a:r>
            <a:endParaRPr lang="en-US" sz="516" dirty="0"/>
          </a:p>
        </p:txBody>
      </p:sp>
      <p:sp>
        <p:nvSpPr>
          <p:cNvPr id="27" name="Shape 23"/>
          <p:cNvSpPr/>
          <p:nvPr/>
        </p:nvSpPr>
        <p:spPr>
          <a:xfrm>
            <a:off x="214313" y="3393281"/>
            <a:ext cx="4286250" cy="64293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8" name="Shape 24"/>
          <p:cNvSpPr/>
          <p:nvPr/>
        </p:nvSpPr>
        <p:spPr>
          <a:xfrm>
            <a:off x="214313" y="3393281"/>
            <a:ext cx="21431" cy="642938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29" name="Text 25"/>
          <p:cNvSpPr/>
          <p:nvPr/>
        </p:nvSpPr>
        <p:spPr>
          <a:xfrm>
            <a:off x="285750" y="3464719"/>
            <a:ext cx="41433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Step 4: Extract</a:t>
            </a:r>
            <a:endParaRPr lang="en-US" sz="584" dirty="0"/>
          </a:p>
        </p:txBody>
      </p:sp>
      <p:sp>
        <p:nvSpPr>
          <p:cNvPr id="30" name="Text 26"/>
          <p:cNvSpPr/>
          <p:nvPr/>
        </p:nvSpPr>
        <p:spPr>
          <a:xfrm>
            <a:off x="285750" y="3621881"/>
            <a:ext cx="41433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Unzip Service</a:t>
            </a:r>
            <a:endParaRPr lang="en-US" sz="584" dirty="0"/>
          </a:p>
        </p:txBody>
      </p:sp>
      <p:sp>
        <p:nvSpPr>
          <p:cNvPr id="31" name="Shape 27"/>
          <p:cNvSpPr/>
          <p:nvPr/>
        </p:nvSpPr>
        <p:spPr>
          <a:xfrm>
            <a:off x="285750" y="3800475"/>
            <a:ext cx="4143375" cy="164306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32" name="Text 28"/>
          <p:cNvSpPr/>
          <p:nvPr/>
        </p:nvSpPr>
        <p:spPr>
          <a:xfrm>
            <a:off x="285750" y="3800475"/>
            <a:ext cx="4143375" cy="164306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FF00"/>
                </a:solidFill>
              </a:rPr>
              <a:t>unzip auth-service.zip</a:t>
            </a:r>
            <a:endParaRPr lang="en-US" sz="516" dirty="0"/>
          </a:p>
        </p:txBody>
      </p:sp>
      <p:sp>
        <p:nvSpPr>
          <p:cNvPr id="33" name="Shape 29"/>
          <p:cNvSpPr/>
          <p:nvPr/>
        </p:nvSpPr>
        <p:spPr>
          <a:xfrm>
            <a:off x="214313" y="4093369"/>
            <a:ext cx="4286250" cy="64293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4" name="Shape 30"/>
          <p:cNvSpPr/>
          <p:nvPr/>
        </p:nvSpPr>
        <p:spPr>
          <a:xfrm>
            <a:off x="214313" y="4093369"/>
            <a:ext cx="21431" cy="642938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35" name="Text 31"/>
          <p:cNvSpPr/>
          <p:nvPr/>
        </p:nvSpPr>
        <p:spPr>
          <a:xfrm>
            <a:off x="285750" y="4164806"/>
            <a:ext cx="41433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Step 5: Install</a:t>
            </a:r>
            <a:endParaRPr lang="en-US" sz="584" dirty="0"/>
          </a:p>
        </p:txBody>
      </p:sp>
      <p:sp>
        <p:nvSpPr>
          <p:cNvPr id="36" name="Text 32"/>
          <p:cNvSpPr/>
          <p:nvPr/>
        </p:nvSpPr>
        <p:spPr>
          <a:xfrm>
            <a:off x="285750" y="4321969"/>
            <a:ext cx="41433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Dependencies</a:t>
            </a:r>
            <a:endParaRPr lang="en-US" sz="584" dirty="0"/>
          </a:p>
        </p:txBody>
      </p:sp>
      <p:sp>
        <p:nvSpPr>
          <p:cNvPr id="37" name="Shape 33"/>
          <p:cNvSpPr/>
          <p:nvPr/>
        </p:nvSpPr>
        <p:spPr>
          <a:xfrm>
            <a:off x="285750" y="4500563"/>
            <a:ext cx="4143375" cy="164306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38" name="Text 34"/>
          <p:cNvSpPr/>
          <p:nvPr/>
        </p:nvSpPr>
        <p:spPr>
          <a:xfrm>
            <a:off x="285750" y="4500563"/>
            <a:ext cx="4143375" cy="164306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FF00"/>
                </a:solidFill>
              </a:rPr>
              <a:t>npm install</a:t>
            </a:r>
            <a:endParaRPr lang="en-US" sz="516" dirty="0"/>
          </a:p>
        </p:txBody>
      </p:sp>
      <p:sp>
        <p:nvSpPr>
          <p:cNvPr id="39" name="Shape 35"/>
          <p:cNvSpPr/>
          <p:nvPr/>
        </p:nvSpPr>
        <p:spPr>
          <a:xfrm>
            <a:off x="214313" y="4793456"/>
            <a:ext cx="4286250" cy="64293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0" name="Shape 36"/>
          <p:cNvSpPr/>
          <p:nvPr/>
        </p:nvSpPr>
        <p:spPr>
          <a:xfrm>
            <a:off x="214313" y="4793456"/>
            <a:ext cx="21431" cy="642938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41" name="Text 37"/>
          <p:cNvSpPr/>
          <p:nvPr/>
        </p:nvSpPr>
        <p:spPr>
          <a:xfrm>
            <a:off x="285750" y="4864894"/>
            <a:ext cx="41433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Step 6: Start</a:t>
            </a:r>
            <a:endParaRPr lang="en-US" sz="584" dirty="0"/>
          </a:p>
        </p:txBody>
      </p:sp>
      <p:sp>
        <p:nvSpPr>
          <p:cNvPr id="42" name="Text 38"/>
          <p:cNvSpPr/>
          <p:nvPr/>
        </p:nvSpPr>
        <p:spPr>
          <a:xfrm>
            <a:off x="285750" y="5022056"/>
            <a:ext cx="41433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Run Service</a:t>
            </a:r>
            <a:endParaRPr lang="en-US" sz="584" dirty="0"/>
          </a:p>
        </p:txBody>
      </p:sp>
      <p:sp>
        <p:nvSpPr>
          <p:cNvPr id="43" name="Shape 39"/>
          <p:cNvSpPr/>
          <p:nvPr/>
        </p:nvSpPr>
        <p:spPr>
          <a:xfrm>
            <a:off x="285750" y="5200650"/>
            <a:ext cx="4143375" cy="164306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44" name="Text 40"/>
          <p:cNvSpPr/>
          <p:nvPr/>
        </p:nvSpPr>
        <p:spPr>
          <a:xfrm>
            <a:off x="285750" y="5200650"/>
            <a:ext cx="4143375" cy="164306"/>
          </a:xfrm>
          <a:prstGeom prst="rect">
            <a:avLst/>
          </a:prstGeom>
          <a:noFill/>
          <a:ln/>
        </p:spPr>
        <p:txBody>
          <a:bodyPr wrap="square" lIns="42545" tIns="42545" rIns="42545" bIns="42545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00FF00"/>
                </a:solidFill>
              </a:rPr>
              <a:t>npm start</a:t>
            </a:r>
            <a:endParaRPr lang="en-US" sz="516" dirty="0"/>
          </a:p>
        </p:txBody>
      </p:sp>
      <p:sp>
        <p:nvSpPr>
          <p:cNvPr id="45" name="Shape 41"/>
          <p:cNvSpPr/>
          <p:nvPr/>
        </p:nvSpPr>
        <p:spPr>
          <a:xfrm>
            <a:off x="4643438" y="842963"/>
            <a:ext cx="4286250" cy="9144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46" name="Shape 42"/>
          <p:cNvSpPr/>
          <p:nvPr/>
        </p:nvSpPr>
        <p:spPr>
          <a:xfrm>
            <a:off x="4643438" y="842963"/>
            <a:ext cx="21431" cy="91440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7" name="Text 43"/>
          <p:cNvSpPr/>
          <p:nvPr/>
        </p:nvSpPr>
        <p:spPr>
          <a:xfrm>
            <a:off x="4714875" y="914400"/>
            <a:ext cx="41433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Database Configuration</a:t>
            </a:r>
            <a:endParaRPr lang="en-US" sz="584" dirty="0"/>
          </a:p>
        </p:txBody>
      </p:sp>
      <p:sp>
        <p:nvSpPr>
          <p:cNvPr id="48" name="Text 44"/>
          <p:cNvSpPr/>
          <p:nvPr/>
        </p:nvSpPr>
        <p:spPr>
          <a:xfrm>
            <a:off x="4714875" y="1085850"/>
            <a:ext cx="4143375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Create MySQL user and database</a:t>
            </a:r>
            <a:endParaRPr lang="en-US" sz="568" dirty="0"/>
          </a:p>
        </p:txBody>
      </p:sp>
      <p:sp>
        <p:nvSpPr>
          <p:cNvPr id="49" name="Text 45"/>
          <p:cNvSpPr/>
          <p:nvPr/>
        </p:nvSpPr>
        <p:spPr>
          <a:xfrm>
            <a:off x="4714875" y="1246584"/>
            <a:ext cx="4143375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Update .env with DB credentials</a:t>
            </a:r>
            <a:endParaRPr lang="en-US" sz="568" dirty="0"/>
          </a:p>
        </p:txBody>
      </p:sp>
      <p:sp>
        <p:nvSpPr>
          <p:cNvPr id="50" name="Text 46"/>
          <p:cNvSpPr/>
          <p:nvPr/>
        </p:nvSpPr>
        <p:spPr>
          <a:xfrm>
            <a:off x="4714875" y="1407319"/>
            <a:ext cx="4143375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Set DB_HOST, DB_USER, DB_PASSWORD</a:t>
            </a:r>
            <a:endParaRPr lang="en-US" sz="568" dirty="0"/>
          </a:p>
        </p:txBody>
      </p:sp>
      <p:sp>
        <p:nvSpPr>
          <p:cNvPr id="51" name="Text 47"/>
          <p:cNvSpPr/>
          <p:nvPr/>
        </p:nvSpPr>
        <p:spPr>
          <a:xfrm>
            <a:off x="4714875" y="1568053"/>
            <a:ext cx="4143375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Set DB_NAME and DB_PORT</a:t>
            </a:r>
            <a:endParaRPr lang="en-US" sz="568" dirty="0"/>
          </a:p>
        </p:txBody>
      </p:sp>
      <p:sp>
        <p:nvSpPr>
          <p:cNvPr id="52" name="Shape 48"/>
          <p:cNvSpPr/>
          <p:nvPr/>
        </p:nvSpPr>
        <p:spPr>
          <a:xfrm>
            <a:off x="4643438" y="1814513"/>
            <a:ext cx="4286250" cy="1075134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53" name="Shape 49"/>
          <p:cNvSpPr/>
          <p:nvPr/>
        </p:nvSpPr>
        <p:spPr>
          <a:xfrm>
            <a:off x="4643438" y="1814513"/>
            <a:ext cx="21431" cy="1075134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54" name="Text 50"/>
          <p:cNvSpPr/>
          <p:nvPr/>
        </p:nvSpPr>
        <p:spPr>
          <a:xfrm>
            <a:off x="4714875" y="1085850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39C12"/>
                </a:solidFill>
              </a:rPr>
              <a:t>→</a:t>
            </a:r>
            <a:endParaRPr lang="en-US" sz="534" dirty="0"/>
          </a:p>
        </p:txBody>
      </p:sp>
      <p:sp>
        <p:nvSpPr>
          <p:cNvPr id="55" name="Text 51"/>
          <p:cNvSpPr/>
          <p:nvPr/>
        </p:nvSpPr>
        <p:spPr>
          <a:xfrm>
            <a:off x="4714875" y="1246584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39C12"/>
                </a:solidFill>
              </a:rPr>
              <a:t>→</a:t>
            </a:r>
            <a:endParaRPr lang="en-US" sz="534" dirty="0"/>
          </a:p>
        </p:txBody>
      </p:sp>
      <p:sp>
        <p:nvSpPr>
          <p:cNvPr id="56" name="Text 52"/>
          <p:cNvSpPr/>
          <p:nvPr/>
        </p:nvSpPr>
        <p:spPr>
          <a:xfrm>
            <a:off x="4714875" y="1407319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39C12"/>
                </a:solidFill>
              </a:rPr>
              <a:t>→</a:t>
            </a:r>
            <a:endParaRPr lang="en-US" sz="534" dirty="0"/>
          </a:p>
        </p:txBody>
      </p:sp>
      <p:sp>
        <p:nvSpPr>
          <p:cNvPr id="57" name="Text 53"/>
          <p:cNvSpPr/>
          <p:nvPr/>
        </p:nvSpPr>
        <p:spPr>
          <a:xfrm>
            <a:off x="4714875" y="1568053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39C12"/>
                </a:solidFill>
              </a:rPr>
              <a:t>→</a:t>
            </a:r>
            <a:endParaRPr lang="en-US" sz="534" dirty="0"/>
          </a:p>
        </p:txBody>
      </p:sp>
      <p:sp>
        <p:nvSpPr>
          <p:cNvPr id="58" name="Text 54"/>
          <p:cNvSpPr/>
          <p:nvPr/>
        </p:nvSpPr>
        <p:spPr>
          <a:xfrm>
            <a:off x="4714875" y="1885950"/>
            <a:ext cx="41433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Environment Variables (.env)</a:t>
            </a:r>
            <a:endParaRPr lang="en-US" sz="584" dirty="0"/>
          </a:p>
        </p:txBody>
      </p:sp>
      <p:sp>
        <p:nvSpPr>
          <p:cNvPr id="59" name="Text 55"/>
          <p:cNvSpPr/>
          <p:nvPr/>
        </p:nvSpPr>
        <p:spPr>
          <a:xfrm>
            <a:off x="4714875" y="2057400"/>
            <a:ext cx="4143375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PORT=3000</a:t>
            </a:r>
            <a:endParaRPr lang="en-US" sz="568" dirty="0"/>
          </a:p>
        </p:txBody>
      </p:sp>
      <p:sp>
        <p:nvSpPr>
          <p:cNvPr id="60" name="Text 56"/>
          <p:cNvSpPr/>
          <p:nvPr/>
        </p:nvSpPr>
        <p:spPr>
          <a:xfrm>
            <a:off x="4714875" y="2218134"/>
            <a:ext cx="4143375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NODE_ENV=development</a:t>
            </a:r>
            <a:endParaRPr lang="en-US" sz="568" dirty="0"/>
          </a:p>
        </p:txBody>
      </p:sp>
      <p:sp>
        <p:nvSpPr>
          <p:cNvPr id="61" name="Text 57"/>
          <p:cNvSpPr/>
          <p:nvPr/>
        </p:nvSpPr>
        <p:spPr>
          <a:xfrm>
            <a:off x="4714875" y="2378869"/>
            <a:ext cx="4143375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JWT_SECRET=your_secret_key</a:t>
            </a:r>
            <a:endParaRPr lang="en-US" sz="568" dirty="0"/>
          </a:p>
        </p:txBody>
      </p:sp>
      <p:sp>
        <p:nvSpPr>
          <p:cNvPr id="62" name="Text 58"/>
          <p:cNvSpPr/>
          <p:nvPr/>
        </p:nvSpPr>
        <p:spPr>
          <a:xfrm>
            <a:off x="4714875" y="2539603"/>
            <a:ext cx="4143375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JWT_EXPIRE=15m</a:t>
            </a:r>
            <a:endParaRPr lang="en-US" sz="568" dirty="0"/>
          </a:p>
        </p:txBody>
      </p:sp>
      <p:sp>
        <p:nvSpPr>
          <p:cNvPr id="63" name="Text 59"/>
          <p:cNvSpPr/>
          <p:nvPr/>
        </p:nvSpPr>
        <p:spPr>
          <a:xfrm>
            <a:off x="4714875" y="2700338"/>
            <a:ext cx="4143375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REFRESH_TOKEN_EXPIRE=7d</a:t>
            </a:r>
            <a:endParaRPr lang="en-US" sz="568" dirty="0"/>
          </a:p>
        </p:txBody>
      </p:sp>
      <p:sp>
        <p:nvSpPr>
          <p:cNvPr id="64" name="Shape 60"/>
          <p:cNvSpPr/>
          <p:nvPr/>
        </p:nvSpPr>
        <p:spPr>
          <a:xfrm>
            <a:off x="4643438" y="2946797"/>
            <a:ext cx="4286250" cy="9144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5" name="Shape 61"/>
          <p:cNvSpPr/>
          <p:nvPr/>
        </p:nvSpPr>
        <p:spPr>
          <a:xfrm>
            <a:off x="4643438" y="2946797"/>
            <a:ext cx="21431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6" name="Text 62"/>
          <p:cNvSpPr/>
          <p:nvPr/>
        </p:nvSpPr>
        <p:spPr>
          <a:xfrm>
            <a:off x="4714875" y="2057400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39C12"/>
                </a:solidFill>
              </a:rPr>
              <a:t>→</a:t>
            </a:r>
            <a:endParaRPr lang="en-US" sz="534" dirty="0"/>
          </a:p>
        </p:txBody>
      </p:sp>
      <p:sp>
        <p:nvSpPr>
          <p:cNvPr id="67" name="Text 63"/>
          <p:cNvSpPr/>
          <p:nvPr/>
        </p:nvSpPr>
        <p:spPr>
          <a:xfrm>
            <a:off x="4714875" y="2218134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39C12"/>
                </a:solidFill>
              </a:rPr>
              <a:t>→</a:t>
            </a:r>
            <a:endParaRPr lang="en-US" sz="534" dirty="0"/>
          </a:p>
        </p:txBody>
      </p:sp>
      <p:sp>
        <p:nvSpPr>
          <p:cNvPr id="68" name="Text 64"/>
          <p:cNvSpPr/>
          <p:nvPr/>
        </p:nvSpPr>
        <p:spPr>
          <a:xfrm>
            <a:off x="4714875" y="2378869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39C12"/>
                </a:solidFill>
              </a:rPr>
              <a:t>→</a:t>
            </a:r>
            <a:endParaRPr lang="en-US" sz="534" dirty="0"/>
          </a:p>
        </p:txBody>
      </p:sp>
      <p:sp>
        <p:nvSpPr>
          <p:cNvPr id="69" name="Text 65"/>
          <p:cNvSpPr/>
          <p:nvPr/>
        </p:nvSpPr>
        <p:spPr>
          <a:xfrm>
            <a:off x="4714875" y="2539603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39C12"/>
                </a:solidFill>
              </a:rPr>
              <a:t>→</a:t>
            </a:r>
            <a:endParaRPr lang="en-US" sz="534" dirty="0"/>
          </a:p>
        </p:txBody>
      </p:sp>
      <p:sp>
        <p:nvSpPr>
          <p:cNvPr id="70" name="Text 66"/>
          <p:cNvSpPr/>
          <p:nvPr/>
        </p:nvSpPr>
        <p:spPr>
          <a:xfrm>
            <a:off x="4714875" y="2700338"/>
            <a:ext cx="7858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39C12"/>
                </a:solidFill>
              </a:rPr>
              <a:t>→</a:t>
            </a:r>
            <a:endParaRPr lang="en-US" sz="534" dirty="0"/>
          </a:p>
        </p:txBody>
      </p:sp>
      <p:pic>
        <p:nvPicPr>
          <p:cNvPr id="7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3032522"/>
            <a:ext cx="100013" cy="100013"/>
          </a:xfrm>
          <a:prstGeom prst="rect">
            <a:avLst/>
          </a:prstGeom>
        </p:spPr>
      </p:pic>
      <p:sp>
        <p:nvSpPr>
          <p:cNvPr id="72" name="Text 67"/>
          <p:cNvSpPr/>
          <p:nvPr/>
        </p:nvSpPr>
        <p:spPr>
          <a:xfrm>
            <a:off x="4857750" y="3018234"/>
            <a:ext cx="75190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2E7D32"/>
                </a:solidFill>
              </a:rPr>
              <a:t>Verification Steps</a:t>
            </a:r>
            <a:endParaRPr lang="en-US" sz="584" dirty="0"/>
          </a:p>
        </p:txBody>
      </p:sp>
      <p:sp>
        <p:nvSpPr>
          <p:cNvPr id="73" name="Text 68"/>
          <p:cNvSpPr/>
          <p:nvPr/>
        </p:nvSpPr>
        <p:spPr>
          <a:xfrm>
            <a:off x="4714875" y="3189684"/>
            <a:ext cx="4143375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1B5E20"/>
                </a:solidFill>
              </a:rPr>
              <a:t>Service starts without errors</a:t>
            </a:r>
            <a:endParaRPr lang="en-US" sz="568" dirty="0"/>
          </a:p>
        </p:txBody>
      </p:sp>
      <p:sp>
        <p:nvSpPr>
          <p:cNvPr id="74" name="Text 69"/>
          <p:cNvSpPr/>
          <p:nvPr/>
        </p:nvSpPr>
        <p:spPr>
          <a:xfrm>
            <a:off x="4714875" y="3350419"/>
            <a:ext cx="4143375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1B5E20"/>
                </a:solidFill>
              </a:rPr>
              <a:t>Database connection successful</a:t>
            </a:r>
            <a:endParaRPr lang="en-US" sz="568" dirty="0"/>
          </a:p>
        </p:txBody>
      </p:sp>
      <p:sp>
        <p:nvSpPr>
          <p:cNvPr id="75" name="Text 70"/>
          <p:cNvSpPr/>
          <p:nvPr/>
        </p:nvSpPr>
        <p:spPr>
          <a:xfrm>
            <a:off x="4714875" y="3511153"/>
            <a:ext cx="4143375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1B5E20"/>
                </a:solidFill>
              </a:rPr>
              <a:t>Health endpoint responds</a:t>
            </a:r>
            <a:endParaRPr lang="en-US" sz="568" dirty="0"/>
          </a:p>
        </p:txBody>
      </p:sp>
      <p:sp>
        <p:nvSpPr>
          <p:cNvPr id="76" name="Text 71"/>
          <p:cNvSpPr/>
          <p:nvPr/>
        </p:nvSpPr>
        <p:spPr>
          <a:xfrm>
            <a:off x="4714875" y="3671888"/>
            <a:ext cx="4143375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1B5E20"/>
                </a:solidFill>
              </a:rPr>
              <a:t>No port conflicts on 3000</a:t>
            </a:r>
            <a:endParaRPr lang="en-US" sz="568" dirty="0"/>
          </a:p>
        </p:txBody>
      </p:sp>
      <p:sp>
        <p:nvSpPr>
          <p:cNvPr id="77" name="Shape 72"/>
          <p:cNvSpPr/>
          <p:nvPr/>
        </p:nvSpPr>
        <p:spPr>
          <a:xfrm>
            <a:off x="4643438" y="3918347"/>
            <a:ext cx="4286250" cy="612911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78" name="Shape 73"/>
          <p:cNvSpPr/>
          <p:nvPr/>
        </p:nvSpPr>
        <p:spPr>
          <a:xfrm>
            <a:off x="4643438" y="3918347"/>
            <a:ext cx="21431" cy="612911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79" name="Text 74"/>
          <p:cNvSpPr/>
          <p:nvPr/>
        </p:nvSpPr>
        <p:spPr>
          <a:xfrm>
            <a:off x="4714875" y="3189684"/>
            <a:ext cx="5678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4CAF50"/>
                </a:solidFill>
              </a:rPr>
              <a:t>✓</a:t>
            </a:r>
            <a:endParaRPr lang="en-US" sz="534" dirty="0"/>
          </a:p>
        </p:txBody>
      </p:sp>
      <p:sp>
        <p:nvSpPr>
          <p:cNvPr id="80" name="Text 75"/>
          <p:cNvSpPr/>
          <p:nvPr/>
        </p:nvSpPr>
        <p:spPr>
          <a:xfrm>
            <a:off x="4714875" y="3350419"/>
            <a:ext cx="5678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4CAF50"/>
                </a:solidFill>
              </a:rPr>
              <a:t>✓</a:t>
            </a:r>
            <a:endParaRPr lang="en-US" sz="534" dirty="0"/>
          </a:p>
        </p:txBody>
      </p:sp>
      <p:sp>
        <p:nvSpPr>
          <p:cNvPr id="81" name="Text 76"/>
          <p:cNvSpPr/>
          <p:nvPr/>
        </p:nvSpPr>
        <p:spPr>
          <a:xfrm>
            <a:off x="4714875" y="3511153"/>
            <a:ext cx="5678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4CAF50"/>
                </a:solidFill>
              </a:rPr>
              <a:t>✓</a:t>
            </a:r>
            <a:endParaRPr lang="en-US" sz="534" dirty="0"/>
          </a:p>
        </p:txBody>
      </p:sp>
      <p:sp>
        <p:nvSpPr>
          <p:cNvPr id="82" name="Text 77"/>
          <p:cNvSpPr/>
          <p:nvPr/>
        </p:nvSpPr>
        <p:spPr>
          <a:xfrm>
            <a:off x="4714875" y="3671888"/>
            <a:ext cx="5678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4CAF50"/>
                </a:solidFill>
              </a:rPr>
              <a:t>✓</a:t>
            </a:r>
            <a:endParaRPr lang="en-US" sz="534" dirty="0"/>
          </a:p>
        </p:txBody>
      </p:sp>
      <p:sp>
        <p:nvSpPr>
          <p:cNvPr id="83" name="Text 78"/>
          <p:cNvSpPr/>
          <p:nvPr/>
        </p:nvSpPr>
        <p:spPr>
          <a:xfrm>
            <a:off x="4714875" y="3989784"/>
            <a:ext cx="414337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D7EA8"/>
                </a:solidFill>
              </a:rPr>
              <a:t>Health Check Endpoint</a:t>
            </a:r>
            <a:endParaRPr lang="en-US" sz="534" dirty="0"/>
          </a:p>
        </p:txBody>
      </p:sp>
      <p:sp>
        <p:nvSpPr>
          <p:cNvPr id="84" name="Shape 79"/>
          <p:cNvSpPr/>
          <p:nvPr/>
        </p:nvSpPr>
        <p:spPr>
          <a:xfrm>
            <a:off x="4714875" y="4136231"/>
            <a:ext cx="4143375" cy="164306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85" name="Text 80"/>
          <p:cNvSpPr/>
          <p:nvPr/>
        </p:nvSpPr>
        <p:spPr>
          <a:xfrm>
            <a:off x="4714875" y="4136231"/>
            <a:ext cx="4143375" cy="164306"/>
          </a:xfrm>
          <a:prstGeom prst="rect">
            <a:avLst/>
          </a:prstGeom>
          <a:noFill/>
          <a:ln/>
        </p:spPr>
        <p:txBody>
          <a:bodyPr wrap="square" lIns="34036" tIns="34036" rIns="34036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00FF00"/>
                </a:solidFill>
              </a:rPr>
              <a:t>GET http://localhost:3000/health</a:t>
            </a:r>
            <a:endParaRPr lang="en-US" sz="516" dirty="0"/>
          </a:p>
        </p:txBody>
      </p:sp>
      <p:sp>
        <p:nvSpPr>
          <p:cNvPr id="86" name="Text 81"/>
          <p:cNvSpPr/>
          <p:nvPr/>
        </p:nvSpPr>
        <p:spPr>
          <a:xfrm>
            <a:off x="4714875" y="4357688"/>
            <a:ext cx="4143375" cy="1021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Returns service status and timestamp to confirm successful startup</a:t>
            </a:r>
            <a:endParaRPr lang="en-US" sz="568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314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2642239" cy="521494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A52"/>
                </a:solidFill>
              </a:rPr>
              <a:t>Postman API Testing</a:t>
            </a:r>
            <a:endParaRPr lang="en-US" sz="1808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1117997"/>
            <a:ext cx="160734" cy="1428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9359" y="1092994"/>
            <a:ext cx="12822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D7EA8"/>
                </a:solidFill>
              </a:rPr>
              <a:t>Collection Structure</a:t>
            </a:r>
            <a:endParaRPr lang="en-US" sz="885" dirty="0"/>
          </a:p>
        </p:txBody>
      </p:sp>
      <p:sp>
        <p:nvSpPr>
          <p:cNvPr id="6" name="Shape 2"/>
          <p:cNvSpPr/>
          <p:nvPr/>
        </p:nvSpPr>
        <p:spPr>
          <a:xfrm>
            <a:off x="357188" y="1500188"/>
            <a:ext cx="4071938" cy="2099481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3"/>
          <p:cNvSpPr/>
          <p:nvPr/>
        </p:nvSpPr>
        <p:spPr>
          <a:xfrm>
            <a:off x="357188" y="1500188"/>
            <a:ext cx="35719" cy="2099481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8" name="Text 4"/>
          <p:cNvSpPr/>
          <p:nvPr/>
        </p:nvSpPr>
        <p:spPr>
          <a:xfrm>
            <a:off x="464344" y="1653778"/>
            <a:ext cx="83584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0D7EA8"/>
                </a:solidFill>
              </a:rPr>
              <a:t>📦 Auth Service API</a:t>
            </a:r>
            <a:endParaRPr lang="en-US" sz="584" dirty="0"/>
          </a:p>
        </p:txBody>
      </p:sp>
      <p:sp>
        <p:nvSpPr>
          <p:cNvPr id="9" name="Text 5"/>
          <p:cNvSpPr/>
          <p:nvPr/>
        </p:nvSpPr>
        <p:spPr>
          <a:xfrm>
            <a:off x="464344" y="1836641"/>
            <a:ext cx="84165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0D7EA8"/>
                </a:solidFill>
              </a:rPr>
              <a:t>├─ Authentication</a:t>
            </a:r>
            <a:endParaRPr lang="en-US" sz="584" dirty="0"/>
          </a:p>
        </p:txBody>
      </p:sp>
      <p:sp>
        <p:nvSpPr>
          <p:cNvPr id="10" name="Shape 6"/>
          <p:cNvSpPr/>
          <p:nvPr/>
        </p:nvSpPr>
        <p:spPr>
          <a:xfrm>
            <a:off x="607219" y="2003431"/>
            <a:ext cx="268198" cy="157163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7"/>
          <p:cNvSpPr/>
          <p:nvPr/>
        </p:nvSpPr>
        <p:spPr>
          <a:xfrm>
            <a:off x="607219" y="2003431"/>
            <a:ext cx="268198" cy="15716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POST</a:t>
            </a:r>
            <a:endParaRPr lang="en-US" sz="485" dirty="0"/>
          </a:p>
        </p:txBody>
      </p:sp>
      <p:sp>
        <p:nvSpPr>
          <p:cNvPr id="12" name="Text 8"/>
          <p:cNvSpPr/>
          <p:nvPr/>
        </p:nvSpPr>
        <p:spPr>
          <a:xfrm>
            <a:off x="918279" y="2019505"/>
            <a:ext cx="758075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21" dirty="0">
                <a:solidFill>
                  <a:srgbClr val="F39C12"/>
                </a:solidFill>
              </a:rPr>
              <a:t>├─ Register User</a:t>
            </a:r>
            <a:endParaRPr lang="en-US" sz="621" dirty="0"/>
          </a:p>
        </p:txBody>
      </p:sp>
      <p:sp>
        <p:nvSpPr>
          <p:cNvPr id="13" name="Shape 9"/>
          <p:cNvSpPr/>
          <p:nvPr/>
        </p:nvSpPr>
        <p:spPr>
          <a:xfrm>
            <a:off x="607219" y="2190955"/>
            <a:ext cx="268198" cy="157163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0"/>
          <p:cNvSpPr/>
          <p:nvPr/>
        </p:nvSpPr>
        <p:spPr>
          <a:xfrm>
            <a:off x="607219" y="2190955"/>
            <a:ext cx="268198" cy="15716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POST</a:t>
            </a:r>
            <a:endParaRPr lang="en-US" sz="485" dirty="0"/>
          </a:p>
        </p:txBody>
      </p:sp>
      <p:sp>
        <p:nvSpPr>
          <p:cNvPr id="15" name="Text 11"/>
          <p:cNvSpPr/>
          <p:nvPr/>
        </p:nvSpPr>
        <p:spPr>
          <a:xfrm>
            <a:off x="918279" y="2207028"/>
            <a:ext cx="65041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21" dirty="0">
                <a:solidFill>
                  <a:srgbClr val="F39C12"/>
                </a:solidFill>
              </a:rPr>
              <a:t>├─ Login User</a:t>
            </a:r>
            <a:endParaRPr lang="en-US" sz="621" dirty="0"/>
          </a:p>
        </p:txBody>
      </p:sp>
      <p:sp>
        <p:nvSpPr>
          <p:cNvPr id="16" name="Shape 12"/>
          <p:cNvSpPr/>
          <p:nvPr/>
        </p:nvSpPr>
        <p:spPr>
          <a:xfrm>
            <a:off x="607219" y="2378478"/>
            <a:ext cx="268198" cy="157163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3"/>
          <p:cNvSpPr/>
          <p:nvPr/>
        </p:nvSpPr>
        <p:spPr>
          <a:xfrm>
            <a:off x="607219" y="2378478"/>
            <a:ext cx="268198" cy="15716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POST</a:t>
            </a:r>
            <a:endParaRPr lang="en-US" sz="485" dirty="0"/>
          </a:p>
        </p:txBody>
      </p:sp>
      <p:sp>
        <p:nvSpPr>
          <p:cNvPr id="18" name="Text 14"/>
          <p:cNvSpPr/>
          <p:nvPr/>
        </p:nvSpPr>
        <p:spPr>
          <a:xfrm>
            <a:off x="918279" y="2394552"/>
            <a:ext cx="78620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21" dirty="0">
                <a:solidFill>
                  <a:srgbClr val="F39C12"/>
                </a:solidFill>
              </a:rPr>
              <a:t>├─ Refresh Token</a:t>
            </a:r>
            <a:endParaRPr lang="en-US" sz="621" dirty="0"/>
          </a:p>
        </p:txBody>
      </p:sp>
      <p:sp>
        <p:nvSpPr>
          <p:cNvPr id="19" name="Shape 15"/>
          <p:cNvSpPr/>
          <p:nvPr/>
        </p:nvSpPr>
        <p:spPr>
          <a:xfrm>
            <a:off x="607219" y="2566002"/>
            <a:ext cx="268198" cy="157163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6"/>
          <p:cNvSpPr/>
          <p:nvPr/>
        </p:nvSpPr>
        <p:spPr>
          <a:xfrm>
            <a:off x="607219" y="2566002"/>
            <a:ext cx="268198" cy="15716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POST</a:t>
            </a:r>
            <a:endParaRPr lang="en-US" sz="485" dirty="0"/>
          </a:p>
        </p:txBody>
      </p:sp>
      <p:sp>
        <p:nvSpPr>
          <p:cNvPr id="21" name="Text 17"/>
          <p:cNvSpPr/>
          <p:nvPr/>
        </p:nvSpPr>
        <p:spPr>
          <a:xfrm>
            <a:off x="918279" y="2582075"/>
            <a:ext cx="501346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21" dirty="0">
                <a:solidFill>
                  <a:srgbClr val="F39C12"/>
                </a:solidFill>
              </a:rPr>
              <a:t>└─ Logout</a:t>
            </a:r>
            <a:endParaRPr lang="en-US" sz="621" dirty="0"/>
          </a:p>
        </p:txBody>
      </p:sp>
      <p:sp>
        <p:nvSpPr>
          <p:cNvPr id="22" name="Text 18"/>
          <p:cNvSpPr/>
          <p:nvPr/>
        </p:nvSpPr>
        <p:spPr>
          <a:xfrm>
            <a:off x="464344" y="2769598"/>
            <a:ext cx="43334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0D7EA8"/>
                </a:solidFill>
              </a:rPr>
              <a:t>├─ Users</a:t>
            </a:r>
            <a:endParaRPr lang="en-US" sz="584" dirty="0"/>
          </a:p>
        </p:txBody>
      </p:sp>
      <p:sp>
        <p:nvSpPr>
          <p:cNvPr id="23" name="Shape 19"/>
          <p:cNvSpPr/>
          <p:nvPr/>
        </p:nvSpPr>
        <p:spPr>
          <a:xfrm>
            <a:off x="607219" y="2936388"/>
            <a:ext cx="218833" cy="157163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24" name="Text 20"/>
          <p:cNvSpPr/>
          <p:nvPr/>
        </p:nvSpPr>
        <p:spPr>
          <a:xfrm>
            <a:off x="607219" y="2936388"/>
            <a:ext cx="218833" cy="15716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GET</a:t>
            </a:r>
            <a:endParaRPr lang="en-US" sz="485" dirty="0"/>
          </a:p>
        </p:txBody>
      </p:sp>
      <p:sp>
        <p:nvSpPr>
          <p:cNvPr id="25" name="Text 21"/>
          <p:cNvSpPr/>
          <p:nvPr/>
        </p:nvSpPr>
        <p:spPr>
          <a:xfrm>
            <a:off x="868914" y="2952462"/>
            <a:ext cx="898327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21" dirty="0">
                <a:solidFill>
                  <a:srgbClr val="0D7EA8"/>
                </a:solidFill>
              </a:rPr>
              <a:t>└─ Get Current User</a:t>
            </a:r>
            <a:endParaRPr lang="en-US" sz="621" dirty="0"/>
          </a:p>
        </p:txBody>
      </p:sp>
      <p:sp>
        <p:nvSpPr>
          <p:cNvPr id="26" name="Text 22"/>
          <p:cNvSpPr/>
          <p:nvPr/>
        </p:nvSpPr>
        <p:spPr>
          <a:xfrm>
            <a:off x="464344" y="3139985"/>
            <a:ext cx="4814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584" b="1" dirty="0">
                <a:solidFill>
                  <a:srgbClr val="0D7EA8"/>
                </a:solidFill>
              </a:rPr>
              <a:t>└─ Health</a:t>
            </a:r>
            <a:endParaRPr lang="en-US" sz="584" dirty="0"/>
          </a:p>
        </p:txBody>
      </p:sp>
      <p:sp>
        <p:nvSpPr>
          <p:cNvPr id="27" name="Shape 23"/>
          <p:cNvSpPr/>
          <p:nvPr/>
        </p:nvSpPr>
        <p:spPr>
          <a:xfrm>
            <a:off x="607219" y="3306775"/>
            <a:ext cx="218833" cy="157163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28" name="Text 24"/>
          <p:cNvSpPr/>
          <p:nvPr/>
        </p:nvSpPr>
        <p:spPr>
          <a:xfrm>
            <a:off x="607219" y="3306775"/>
            <a:ext cx="218833" cy="157163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485" b="1" dirty="0">
                <a:solidFill>
                  <a:srgbClr val="FFFFFF"/>
                </a:solidFill>
              </a:rPr>
              <a:t>GET</a:t>
            </a:r>
            <a:endParaRPr lang="en-US" sz="485" dirty="0"/>
          </a:p>
        </p:txBody>
      </p:sp>
      <p:sp>
        <p:nvSpPr>
          <p:cNvPr id="29" name="Text 25"/>
          <p:cNvSpPr/>
          <p:nvPr/>
        </p:nvSpPr>
        <p:spPr>
          <a:xfrm>
            <a:off x="868914" y="3322848"/>
            <a:ext cx="746773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21" dirty="0">
                <a:solidFill>
                  <a:srgbClr val="0D7EA8"/>
                </a:solidFill>
              </a:rPr>
              <a:t>└─ Health Check</a:t>
            </a:r>
            <a:endParaRPr lang="en-US" sz="621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117997"/>
            <a:ext cx="125016" cy="142875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911328" y="1092994"/>
            <a:ext cx="105995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D7EA8"/>
                </a:solidFill>
              </a:rPr>
              <a:t>Testing Features</a:t>
            </a:r>
            <a:endParaRPr lang="en-US" sz="885" dirty="0"/>
          </a:p>
        </p:txBody>
      </p:sp>
      <p:sp>
        <p:nvSpPr>
          <p:cNvPr id="32" name="Shape 27"/>
          <p:cNvSpPr/>
          <p:nvPr/>
        </p:nvSpPr>
        <p:spPr>
          <a:xfrm>
            <a:off x="4714875" y="1478756"/>
            <a:ext cx="4071938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3" name="Shape 28"/>
          <p:cNvSpPr/>
          <p:nvPr/>
        </p:nvSpPr>
        <p:spPr>
          <a:xfrm>
            <a:off x="4714875" y="1478756"/>
            <a:ext cx="35719" cy="457200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34" name="Shape 29"/>
          <p:cNvSpPr/>
          <p:nvPr/>
        </p:nvSpPr>
        <p:spPr>
          <a:xfrm>
            <a:off x="4800600" y="1564481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181" y="1643063"/>
            <a:ext cx="128588" cy="12858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172075" y="1564481"/>
            <a:ext cx="30849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Automated Test Scripts</a:t>
            </a:r>
            <a:endParaRPr lang="en-US" sz="634" dirty="0"/>
          </a:p>
        </p:txBody>
      </p:sp>
      <p:sp>
        <p:nvSpPr>
          <p:cNvPr id="37" name="Text 31"/>
          <p:cNvSpPr/>
          <p:nvPr/>
        </p:nvSpPr>
        <p:spPr>
          <a:xfrm>
            <a:off x="5172075" y="1732359"/>
            <a:ext cx="3084956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Each request includes pre-request and test scripts for validation and data extraction</a:t>
            </a:r>
            <a:endParaRPr lang="en-US" sz="568" dirty="0"/>
          </a:p>
        </p:txBody>
      </p:sp>
      <p:sp>
        <p:nvSpPr>
          <p:cNvPr id="38" name="Shape 32"/>
          <p:cNvSpPr/>
          <p:nvPr/>
        </p:nvSpPr>
        <p:spPr>
          <a:xfrm>
            <a:off x="4714875" y="2021681"/>
            <a:ext cx="4071938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9" name="Shape 33"/>
          <p:cNvSpPr/>
          <p:nvPr/>
        </p:nvSpPr>
        <p:spPr>
          <a:xfrm>
            <a:off x="4714875" y="2021681"/>
            <a:ext cx="35719" cy="457200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40" name="Shape 34"/>
          <p:cNvSpPr/>
          <p:nvPr/>
        </p:nvSpPr>
        <p:spPr>
          <a:xfrm>
            <a:off x="4800600" y="2107406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9181" y="2185988"/>
            <a:ext cx="128588" cy="12858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172075" y="2107406"/>
            <a:ext cx="29157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Environment Variables</a:t>
            </a:r>
            <a:endParaRPr lang="en-US" sz="634" dirty="0"/>
          </a:p>
        </p:txBody>
      </p:sp>
      <p:sp>
        <p:nvSpPr>
          <p:cNvPr id="43" name="Text 36"/>
          <p:cNvSpPr/>
          <p:nvPr/>
        </p:nvSpPr>
        <p:spPr>
          <a:xfrm>
            <a:off x="5172075" y="2275284"/>
            <a:ext cx="2915766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Pre-configured variables: baseUrl, accessToken, refreshToken, userId, testEmail</a:t>
            </a:r>
            <a:endParaRPr lang="en-US" sz="568" dirty="0"/>
          </a:p>
        </p:txBody>
      </p:sp>
      <p:sp>
        <p:nvSpPr>
          <p:cNvPr id="44" name="Shape 37"/>
          <p:cNvSpPr/>
          <p:nvPr/>
        </p:nvSpPr>
        <p:spPr>
          <a:xfrm>
            <a:off x="4714875" y="2564606"/>
            <a:ext cx="4071938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5" name="Shape 38"/>
          <p:cNvSpPr/>
          <p:nvPr/>
        </p:nvSpPr>
        <p:spPr>
          <a:xfrm>
            <a:off x="4714875" y="2564606"/>
            <a:ext cx="35719" cy="457200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46" name="Shape 39"/>
          <p:cNvSpPr/>
          <p:nvPr/>
        </p:nvSpPr>
        <p:spPr>
          <a:xfrm>
            <a:off x="4800600" y="2650331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9181" y="2728913"/>
            <a:ext cx="128588" cy="128588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5172075" y="2650331"/>
            <a:ext cx="279019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Token Auto-Extraction</a:t>
            </a:r>
            <a:endParaRPr lang="en-US" sz="634" dirty="0"/>
          </a:p>
        </p:txBody>
      </p:sp>
      <p:sp>
        <p:nvSpPr>
          <p:cNvPr id="49" name="Text 41"/>
          <p:cNvSpPr/>
          <p:nvPr/>
        </p:nvSpPr>
        <p:spPr>
          <a:xfrm>
            <a:off x="5172075" y="2818209"/>
            <a:ext cx="2790192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Tokens automatically saved to environment after login and refresh requests</a:t>
            </a:r>
            <a:endParaRPr lang="en-US" sz="568" dirty="0"/>
          </a:p>
        </p:txBody>
      </p:sp>
      <p:sp>
        <p:nvSpPr>
          <p:cNvPr id="50" name="Shape 42"/>
          <p:cNvSpPr/>
          <p:nvPr/>
        </p:nvSpPr>
        <p:spPr>
          <a:xfrm>
            <a:off x="4714875" y="3107531"/>
            <a:ext cx="4071938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1" name="Shape 43"/>
          <p:cNvSpPr/>
          <p:nvPr/>
        </p:nvSpPr>
        <p:spPr>
          <a:xfrm>
            <a:off x="4714875" y="3107531"/>
            <a:ext cx="35719" cy="457200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52" name="Shape 44"/>
          <p:cNvSpPr/>
          <p:nvPr/>
        </p:nvSpPr>
        <p:spPr>
          <a:xfrm>
            <a:off x="4800600" y="3193256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9181" y="3271838"/>
            <a:ext cx="128588" cy="128588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5172075" y="3193256"/>
            <a:ext cx="265432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Collection Runner</a:t>
            </a:r>
            <a:endParaRPr lang="en-US" sz="634" dirty="0"/>
          </a:p>
        </p:txBody>
      </p:sp>
      <p:sp>
        <p:nvSpPr>
          <p:cNvPr id="55" name="Text 46"/>
          <p:cNvSpPr/>
          <p:nvPr/>
        </p:nvSpPr>
        <p:spPr>
          <a:xfrm>
            <a:off x="5172075" y="3361134"/>
            <a:ext cx="2654322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Execute all requests sequentially with detailed test results and reporting</a:t>
            </a:r>
            <a:endParaRPr lang="en-US" sz="568" dirty="0"/>
          </a:p>
        </p:txBody>
      </p:sp>
      <p:sp>
        <p:nvSpPr>
          <p:cNvPr id="56" name="Shape 47"/>
          <p:cNvSpPr/>
          <p:nvPr/>
        </p:nvSpPr>
        <p:spPr>
          <a:xfrm>
            <a:off x="4714875" y="3650456"/>
            <a:ext cx="4071938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7" name="Shape 48"/>
          <p:cNvSpPr/>
          <p:nvPr/>
        </p:nvSpPr>
        <p:spPr>
          <a:xfrm>
            <a:off x="4714875" y="3650456"/>
            <a:ext cx="35719" cy="457200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58" name="Shape 49"/>
          <p:cNvSpPr/>
          <p:nvPr/>
        </p:nvSpPr>
        <p:spPr>
          <a:xfrm>
            <a:off x="4800600" y="3736181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5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9181" y="3814763"/>
            <a:ext cx="128588" cy="128588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5172075" y="3736181"/>
            <a:ext cx="270792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Test Assertions</a:t>
            </a:r>
            <a:endParaRPr lang="en-US" sz="634" dirty="0"/>
          </a:p>
        </p:txBody>
      </p:sp>
      <p:sp>
        <p:nvSpPr>
          <p:cNvPr id="61" name="Text 51"/>
          <p:cNvSpPr/>
          <p:nvPr/>
        </p:nvSpPr>
        <p:spPr>
          <a:xfrm>
            <a:off x="5172075" y="3904059"/>
            <a:ext cx="2707928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Validate response status, structure, content, and data types automatically</a:t>
            </a:r>
            <a:endParaRPr lang="en-US" sz="568" dirty="0"/>
          </a:p>
        </p:txBody>
      </p:sp>
      <p:sp>
        <p:nvSpPr>
          <p:cNvPr id="62" name="Shape 52"/>
          <p:cNvSpPr/>
          <p:nvPr/>
        </p:nvSpPr>
        <p:spPr>
          <a:xfrm>
            <a:off x="4714875" y="4193381"/>
            <a:ext cx="4071938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3" name="Shape 53"/>
          <p:cNvSpPr/>
          <p:nvPr/>
        </p:nvSpPr>
        <p:spPr>
          <a:xfrm>
            <a:off x="4714875" y="4193381"/>
            <a:ext cx="35719" cy="457200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64" name="Shape 54"/>
          <p:cNvSpPr/>
          <p:nvPr/>
        </p:nvSpPr>
        <p:spPr>
          <a:xfrm>
            <a:off x="4800600" y="4279106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6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9181" y="4357688"/>
            <a:ext cx="128588" cy="128588"/>
          </a:xfrm>
          <a:prstGeom prst="rect">
            <a:avLst/>
          </a:prstGeom>
        </p:spPr>
      </p:pic>
      <p:sp>
        <p:nvSpPr>
          <p:cNvPr id="66" name="Text 55"/>
          <p:cNvSpPr/>
          <p:nvPr/>
        </p:nvSpPr>
        <p:spPr>
          <a:xfrm>
            <a:off x="5172075" y="4279106"/>
            <a:ext cx="22904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Easy Import</a:t>
            </a:r>
            <a:endParaRPr lang="en-US" sz="634" dirty="0"/>
          </a:p>
        </p:txBody>
      </p:sp>
      <p:sp>
        <p:nvSpPr>
          <p:cNvPr id="67" name="Text 56"/>
          <p:cNvSpPr/>
          <p:nvPr/>
        </p:nvSpPr>
        <p:spPr>
          <a:xfrm>
            <a:off x="5172075" y="4446984"/>
            <a:ext cx="2290409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Import JSON collection file directly into Postman with one click</a:t>
            </a:r>
            <a:endParaRPr lang="en-US" sz="568" dirty="0"/>
          </a:p>
        </p:txBody>
      </p:sp>
      <p:sp>
        <p:nvSpPr>
          <p:cNvPr id="68" name="Shape 57"/>
          <p:cNvSpPr/>
          <p:nvPr/>
        </p:nvSpPr>
        <p:spPr>
          <a:xfrm>
            <a:off x="357188" y="4864894"/>
            <a:ext cx="8429625" cy="6093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9" name="Shape 58"/>
          <p:cNvSpPr/>
          <p:nvPr/>
        </p:nvSpPr>
        <p:spPr>
          <a:xfrm>
            <a:off x="357188" y="4864894"/>
            <a:ext cx="8429625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70" name="Shape 59"/>
          <p:cNvSpPr/>
          <p:nvPr/>
        </p:nvSpPr>
        <p:spPr>
          <a:xfrm>
            <a:off x="357188" y="5079206"/>
            <a:ext cx="285750" cy="28575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5769" y="5157788"/>
            <a:ext cx="128588" cy="128588"/>
          </a:xfrm>
          <a:prstGeom prst="rect">
            <a:avLst/>
          </a:prstGeom>
        </p:spPr>
      </p:pic>
      <p:sp>
        <p:nvSpPr>
          <p:cNvPr id="72" name="Text 60"/>
          <p:cNvSpPr/>
          <p:nvPr/>
        </p:nvSpPr>
        <p:spPr>
          <a:xfrm>
            <a:off x="728663" y="5079206"/>
            <a:ext cx="37361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Testing Workflow</a:t>
            </a:r>
            <a:endParaRPr lang="en-US" sz="634" dirty="0"/>
          </a:p>
        </p:txBody>
      </p:sp>
      <p:sp>
        <p:nvSpPr>
          <p:cNvPr id="73" name="Text 61"/>
          <p:cNvSpPr/>
          <p:nvPr/>
        </p:nvSpPr>
        <p:spPr>
          <a:xfrm>
            <a:off x="728663" y="5239941"/>
            <a:ext cx="3736181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Import collection → Select environment → Run individual tests or collection → Review results and logs</a:t>
            </a:r>
            <a:endParaRPr lang="en-US" sz="568" dirty="0"/>
          </a:p>
        </p:txBody>
      </p:sp>
      <p:sp>
        <p:nvSpPr>
          <p:cNvPr id="74" name="Shape 62"/>
          <p:cNvSpPr/>
          <p:nvPr/>
        </p:nvSpPr>
        <p:spPr>
          <a:xfrm>
            <a:off x="4679156" y="5079206"/>
            <a:ext cx="285750" cy="28575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7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7738" y="5157788"/>
            <a:ext cx="128588" cy="128588"/>
          </a:xfrm>
          <a:prstGeom prst="rect">
            <a:avLst/>
          </a:prstGeom>
        </p:spPr>
      </p:pic>
      <p:sp>
        <p:nvSpPr>
          <p:cNvPr id="76" name="Text 63"/>
          <p:cNvSpPr/>
          <p:nvPr/>
        </p:nvSpPr>
        <p:spPr>
          <a:xfrm>
            <a:off x="5050631" y="5079206"/>
            <a:ext cx="348241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Quick Start</a:t>
            </a:r>
            <a:endParaRPr lang="en-US" sz="634" dirty="0"/>
          </a:p>
        </p:txBody>
      </p:sp>
      <p:sp>
        <p:nvSpPr>
          <p:cNvPr id="77" name="Text 64"/>
          <p:cNvSpPr/>
          <p:nvPr/>
        </p:nvSpPr>
        <p:spPr>
          <a:xfrm>
            <a:off x="5050631" y="5239941"/>
            <a:ext cx="3482411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Complete API testing setup in 2 minutes. All endpoints tested and documented with examples.</a:t>
            </a:r>
            <a:endParaRPr lang="en-US" sz="56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649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4375324" cy="521494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A52"/>
                </a:solidFill>
              </a:rPr>
              <a:t>Security Features: Core Protection</a:t>
            </a:r>
            <a:endParaRPr lang="en-US" sz="1808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1114425"/>
            <a:ext cx="128588" cy="1285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2925" y="1092994"/>
            <a:ext cx="8638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D7EA8"/>
                </a:solidFill>
              </a:rPr>
              <a:t>Authentication</a:t>
            </a:r>
            <a:endParaRPr lang="en-US" sz="784" dirty="0"/>
          </a:p>
        </p:txBody>
      </p:sp>
      <p:sp>
        <p:nvSpPr>
          <p:cNvPr id="6" name="Shape 2"/>
          <p:cNvSpPr/>
          <p:nvPr/>
        </p:nvSpPr>
        <p:spPr>
          <a:xfrm>
            <a:off x="357188" y="1443038"/>
            <a:ext cx="4125516" cy="146446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3"/>
          <p:cNvSpPr/>
          <p:nvPr/>
        </p:nvSpPr>
        <p:spPr>
          <a:xfrm>
            <a:off x="357188" y="1443038"/>
            <a:ext cx="35719" cy="1464469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8" name="Shape 4"/>
          <p:cNvSpPr/>
          <p:nvPr/>
        </p:nvSpPr>
        <p:spPr>
          <a:xfrm>
            <a:off x="471488" y="1557338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105" y="1635919"/>
            <a:ext cx="112514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8675" y="1625203"/>
            <a:ext cx="91473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A52"/>
                </a:solidFill>
              </a:rPr>
              <a:t>Password Hashing</a:t>
            </a:r>
            <a:endParaRPr lang="en-US" sz="683" dirty="0"/>
          </a:p>
        </p:txBody>
      </p:sp>
      <p:sp>
        <p:nvSpPr>
          <p:cNvPr id="11" name="Text 6"/>
          <p:cNvSpPr/>
          <p:nvPr/>
        </p:nvSpPr>
        <p:spPr>
          <a:xfrm>
            <a:off x="471488" y="1914525"/>
            <a:ext cx="38969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Bcryptjs with 12 salt rounds for secure password storage</a:t>
            </a:r>
            <a:endParaRPr lang="en-US" sz="621" dirty="0"/>
          </a:p>
        </p:txBody>
      </p:sp>
      <p:sp>
        <p:nvSpPr>
          <p:cNvPr id="12" name="Text 7"/>
          <p:cNvSpPr/>
          <p:nvPr/>
        </p:nvSpPr>
        <p:spPr>
          <a:xfrm>
            <a:off x="471488" y="2235994"/>
            <a:ext cx="389691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60-character hash output</a:t>
            </a:r>
            <a:endParaRPr lang="en-US" sz="568" dirty="0"/>
          </a:p>
        </p:txBody>
      </p:sp>
      <p:sp>
        <p:nvSpPr>
          <p:cNvPr id="13" name="Text 8"/>
          <p:cNvSpPr/>
          <p:nvPr/>
        </p:nvSpPr>
        <p:spPr>
          <a:xfrm>
            <a:off x="471488" y="2382441"/>
            <a:ext cx="389691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Resistant to brute force attacks</a:t>
            </a:r>
            <a:endParaRPr lang="en-US" sz="568" dirty="0"/>
          </a:p>
        </p:txBody>
      </p:sp>
      <p:sp>
        <p:nvSpPr>
          <p:cNvPr id="14" name="Text 9"/>
          <p:cNvSpPr/>
          <p:nvPr/>
        </p:nvSpPr>
        <p:spPr>
          <a:xfrm>
            <a:off x="471488" y="2528888"/>
            <a:ext cx="389691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No plaintext storage</a:t>
            </a:r>
            <a:endParaRPr lang="en-US" sz="568" dirty="0"/>
          </a:p>
        </p:txBody>
      </p:sp>
      <p:sp>
        <p:nvSpPr>
          <p:cNvPr id="15" name="Text 10"/>
          <p:cNvSpPr/>
          <p:nvPr/>
        </p:nvSpPr>
        <p:spPr>
          <a:xfrm>
            <a:off x="471488" y="2675334"/>
            <a:ext cx="389691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Secure comparison prevents timing attacks</a:t>
            </a:r>
            <a:endParaRPr lang="en-US" sz="568" dirty="0"/>
          </a:p>
        </p:txBody>
      </p:sp>
      <p:sp>
        <p:nvSpPr>
          <p:cNvPr id="16" name="Shape 11"/>
          <p:cNvSpPr/>
          <p:nvPr/>
        </p:nvSpPr>
        <p:spPr>
          <a:xfrm>
            <a:off x="357188" y="3014663"/>
            <a:ext cx="4125516" cy="146446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Shape 12"/>
          <p:cNvSpPr/>
          <p:nvPr/>
        </p:nvSpPr>
        <p:spPr>
          <a:xfrm>
            <a:off x="357188" y="3014663"/>
            <a:ext cx="35719" cy="1464469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18" name="Text 13"/>
          <p:cNvSpPr/>
          <p:nvPr/>
        </p:nvSpPr>
        <p:spPr>
          <a:xfrm>
            <a:off x="471488" y="2235994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D7EA8"/>
                </a:solidFill>
              </a:rPr>
              <a:t>•</a:t>
            </a:r>
            <a:endParaRPr lang="en-US" sz="534" dirty="0"/>
          </a:p>
        </p:txBody>
      </p:sp>
      <p:sp>
        <p:nvSpPr>
          <p:cNvPr id="19" name="Text 14"/>
          <p:cNvSpPr/>
          <p:nvPr/>
        </p:nvSpPr>
        <p:spPr>
          <a:xfrm>
            <a:off x="471488" y="2382441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D7EA8"/>
                </a:solidFill>
              </a:rPr>
              <a:t>•</a:t>
            </a:r>
            <a:endParaRPr lang="en-US" sz="534" dirty="0"/>
          </a:p>
        </p:txBody>
      </p:sp>
      <p:sp>
        <p:nvSpPr>
          <p:cNvPr id="20" name="Text 15"/>
          <p:cNvSpPr/>
          <p:nvPr/>
        </p:nvSpPr>
        <p:spPr>
          <a:xfrm>
            <a:off x="471488" y="2528888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D7EA8"/>
                </a:solidFill>
              </a:rPr>
              <a:t>•</a:t>
            </a:r>
            <a:endParaRPr lang="en-US" sz="534" dirty="0"/>
          </a:p>
        </p:txBody>
      </p:sp>
      <p:sp>
        <p:nvSpPr>
          <p:cNvPr id="21" name="Text 16"/>
          <p:cNvSpPr/>
          <p:nvPr/>
        </p:nvSpPr>
        <p:spPr>
          <a:xfrm>
            <a:off x="471488" y="2675334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D7EA8"/>
                </a:solidFill>
              </a:rPr>
              <a:t>•</a:t>
            </a:r>
            <a:endParaRPr lang="en-US" sz="534" dirty="0"/>
          </a:p>
        </p:txBody>
      </p:sp>
      <p:sp>
        <p:nvSpPr>
          <p:cNvPr id="22" name="Shape 17"/>
          <p:cNvSpPr/>
          <p:nvPr/>
        </p:nvSpPr>
        <p:spPr>
          <a:xfrm>
            <a:off x="471488" y="3128963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9" y="3207544"/>
            <a:ext cx="128588" cy="128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8675" y="3196828"/>
            <a:ext cx="96962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A52"/>
                </a:solidFill>
              </a:rPr>
              <a:t>JWT Authentication</a:t>
            </a:r>
            <a:endParaRPr lang="en-US" sz="683" dirty="0"/>
          </a:p>
        </p:txBody>
      </p:sp>
      <p:sp>
        <p:nvSpPr>
          <p:cNvPr id="25" name="Text 19"/>
          <p:cNvSpPr/>
          <p:nvPr/>
        </p:nvSpPr>
        <p:spPr>
          <a:xfrm>
            <a:off x="471488" y="3486150"/>
            <a:ext cx="38969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HS256 signed tokens with configurable expiration</a:t>
            </a:r>
            <a:endParaRPr lang="en-US" sz="621" dirty="0"/>
          </a:p>
        </p:txBody>
      </p:sp>
      <p:sp>
        <p:nvSpPr>
          <p:cNvPr id="26" name="Text 20"/>
          <p:cNvSpPr/>
          <p:nvPr/>
        </p:nvSpPr>
        <p:spPr>
          <a:xfrm>
            <a:off x="471488" y="3807619"/>
            <a:ext cx="389691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Access token: 15 minutes</a:t>
            </a:r>
            <a:endParaRPr lang="en-US" sz="568" dirty="0"/>
          </a:p>
        </p:txBody>
      </p:sp>
      <p:sp>
        <p:nvSpPr>
          <p:cNvPr id="27" name="Text 21"/>
          <p:cNvSpPr/>
          <p:nvPr/>
        </p:nvSpPr>
        <p:spPr>
          <a:xfrm>
            <a:off x="471488" y="3954066"/>
            <a:ext cx="389691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Refresh token: 7 days</a:t>
            </a:r>
            <a:endParaRPr lang="en-US" sz="568" dirty="0"/>
          </a:p>
        </p:txBody>
      </p:sp>
      <p:sp>
        <p:nvSpPr>
          <p:cNvPr id="28" name="Text 22"/>
          <p:cNvSpPr/>
          <p:nvPr/>
        </p:nvSpPr>
        <p:spPr>
          <a:xfrm>
            <a:off x="471488" y="4100513"/>
            <a:ext cx="389691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Stateless authentication</a:t>
            </a:r>
            <a:endParaRPr lang="en-US" sz="568" dirty="0"/>
          </a:p>
        </p:txBody>
      </p:sp>
      <p:sp>
        <p:nvSpPr>
          <p:cNvPr id="29" name="Text 23"/>
          <p:cNvSpPr/>
          <p:nvPr/>
        </p:nvSpPr>
        <p:spPr>
          <a:xfrm>
            <a:off x="471488" y="4246959"/>
            <a:ext cx="389691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Secure token verification</a:t>
            </a:r>
            <a:endParaRPr lang="en-US" sz="568" dirty="0"/>
          </a:p>
        </p:txBody>
      </p:sp>
      <p:sp>
        <p:nvSpPr>
          <p:cNvPr id="30" name="Text 24"/>
          <p:cNvSpPr/>
          <p:nvPr/>
        </p:nvSpPr>
        <p:spPr>
          <a:xfrm>
            <a:off x="471488" y="3807619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D7EA8"/>
                </a:solidFill>
              </a:rPr>
              <a:t>•</a:t>
            </a:r>
            <a:endParaRPr lang="en-US" sz="534" dirty="0"/>
          </a:p>
        </p:txBody>
      </p:sp>
      <p:sp>
        <p:nvSpPr>
          <p:cNvPr id="31" name="Text 25"/>
          <p:cNvSpPr/>
          <p:nvPr/>
        </p:nvSpPr>
        <p:spPr>
          <a:xfrm>
            <a:off x="471488" y="3954066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D7EA8"/>
                </a:solidFill>
              </a:rPr>
              <a:t>•</a:t>
            </a:r>
            <a:endParaRPr lang="en-US" sz="534" dirty="0"/>
          </a:p>
        </p:txBody>
      </p:sp>
      <p:sp>
        <p:nvSpPr>
          <p:cNvPr id="32" name="Text 26"/>
          <p:cNvSpPr/>
          <p:nvPr/>
        </p:nvSpPr>
        <p:spPr>
          <a:xfrm>
            <a:off x="471488" y="4100513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D7EA8"/>
                </a:solidFill>
              </a:rPr>
              <a:t>•</a:t>
            </a:r>
            <a:endParaRPr lang="en-US" sz="534" dirty="0"/>
          </a:p>
        </p:txBody>
      </p:sp>
      <p:sp>
        <p:nvSpPr>
          <p:cNvPr id="33" name="Text 27"/>
          <p:cNvSpPr/>
          <p:nvPr/>
        </p:nvSpPr>
        <p:spPr>
          <a:xfrm>
            <a:off x="471488" y="4246959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D7EA8"/>
                </a:solidFill>
              </a:rPr>
              <a:t>•</a:t>
            </a:r>
            <a:endParaRPr lang="en-US" sz="534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297" y="1114425"/>
            <a:ext cx="144661" cy="1285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863108" y="1092994"/>
            <a:ext cx="90036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D7EA8"/>
                </a:solidFill>
              </a:rPr>
              <a:t>Data Protection</a:t>
            </a:r>
            <a:endParaRPr lang="en-US" sz="784" dirty="0"/>
          </a:p>
        </p:txBody>
      </p:sp>
      <p:sp>
        <p:nvSpPr>
          <p:cNvPr id="36" name="Shape 29"/>
          <p:cNvSpPr/>
          <p:nvPr/>
        </p:nvSpPr>
        <p:spPr>
          <a:xfrm>
            <a:off x="4661297" y="1443038"/>
            <a:ext cx="4125516" cy="1464469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37" name="Shape 30"/>
          <p:cNvSpPr/>
          <p:nvPr/>
        </p:nvSpPr>
        <p:spPr>
          <a:xfrm>
            <a:off x="4661297" y="1443038"/>
            <a:ext cx="35719" cy="1464469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8" name="Shape 31"/>
          <p:cNvSpPr/>
          <p:nvPr/>
        </p:nvSpPr>
        <p:spPr>
          <a:xfrm>
            <a:off x="4775597" y="1557338"/>
            <a:ext cx="285750" cy="28575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141" y="1635919"/>
            <a:ext cx="144661" cy="12858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132784" y="1625203"/>
            <a:ext cx="67360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A52"/>
                </a:solidFill>
              </a:rPr>
              <a:t>Rate Limiting</a:t>
            </a:r>
            <a:endParaRPr lang="en-US" sz="683" dirty="0"/>
          </a:p>
        </p:txBody>
      </p:sp>
      <p:sp>
        <p:nvSpPr>
          <p:cNvPr id="41" name="Text 33"/>
          <p:cNvSpPr/>
          <p:nvPr/>
        </p:nvSpPr>
        <p:spPr>
          <a:xfrm>
            <a:off x="4775597" y="1914525"/>
            <a:ext cx="38969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Prevent brute force and DDoS attacks</a:t>
            </a:r>
            <a:endParaRPr lang="en-US" sz="621" dirty="0"/>
          </a:p>
        </p:txBody>
      </p:sp>
      <p:sp>
        <p:nvSpPr>
          <p:cNvPr id="42" name="Text 34"/>
          <p:cNvSpPr/>
          <p:nvPr/>
        </p:nvSpPr>
        <p:spPr>
          <a:xfrm>
            <a:off x="4775597" y="2235994"/>
            <a:ext cx="389691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100 requests per 15 minutes</a:t>
            </a:r>
            <a:endParaRPr lang="en-US" sz="568" dirty="0"/>
          </a:p>
        </p:txBody>
      </p:sp>
      <p:sp>
        <p:nvSpPr>
          <p:cNvPr id="43" name="Text 35"/>
          <p:cNvSpPr/>
          <p:nvPr/>
        </p:nvSpPr>
        <p:spPr>
          <a:xfrm>
            <a:off x="4775597" y="2382441"/>
            <a:ext cx="389691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Per IP address tracking</a:t>
            </a:r>
            <a:endParaRPr lang="en-US" sz="568" dirty="0"/>
          </a:p>
        </p:txBody>
      </p:sp>
      <p:sp>
        <p:nvSpPr>
          <p:cNvPr id="44" name="Text 36"/>
          <p:cNvSpPr/>
          <p:nvPr/>
        </p:nvSpPr>
        <p:spPr>
          <a:xfrm>
            <a:off x="4775597" y="2528888"/>
            <a:ext cx="389691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429 Too Many Requests response</a:t>
            </a:r>
            <a:endParaRPr lang="en-US" sz="568" dirty="0"/>
          </a:p>
        </p:txBody>
      </p:sp>
      <p:sp>
        <p:nvSpPr>
          <p:cNvPr id="45" name="Text 37"/>
          <p:cNvSpPr/>
          <p:nvPr/>
        </p:nvSpPr>
        <p:spPr>
          <a:xfrm>
            <a:off x="4775597" y="2675334"/>
            <a:ext cx="389691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Configurable thresholds</a:t>
            </a:r>
            <a:endParaRPr lang="en-US" sz="568" dirty="0"/>
          </a:p>
        </p:txBody>
      </p:sp>
      <p:sp>
        <p:nvSpPr>
          <p:cNvPr id="46" name="Shape 38"/>
          <p:cNvSpPr/>
          <p:nvPr/>
        </p:nvSpPr>
        <p:spPr>
          <a:xfrm>
            <a:off x="4661297" y="3014663"/>
            <a:ext cx="4125516" cy="146446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7" name="Shape 39"/>
          <p:cNvSpPr/>
          <p:nvPr/>
        </p:nvSpPr>
        <p:spPr>
          <a:xfrm>
            <a:off x="4661297" y="3014663"/>
            <a:ext cx="35719" cy="1464469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48" name="Text 40"/>
          <p:cNvSpPr/>
          <p:nvPr/>
        </p:nvSpPr>
        <p:spPr>
          <a:xfrm>
            <a:off x="4775597" y="2235994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39C12"/>
                </a:solidFill>
              </a:rPr>
              <a:t>•</a:t>
            </a:r>
            <a:endParaRPr lang="en-US" sz="534" dirty="0"/>
          </a:p>
        </p:txBody>
      </p:sp>
      <p:sp>
        <p:nvSpPr>
          <p:cNvPr id="49" name="Text 41"/>
          <p:cNvSpPr/>
          <p:nvPr/>
        </p:nvSpPr>
        <p:spPr>
          <a:xfrm>
            <a:off x="4775597" y="2382441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39C12"/>
                </a:solidFill>
              </a:rPr>
              <a:t>•</a:t>
            </a:r>
            <a:endParaRPr lang="en-US" sz="534" dirty="0"/>
          </a:p>
        </p:txBody>
      </p:sp>
      <p:sp>
        <p:nvSpPr>
          <p:cNvPr id="50" name="Text 42"/>
          <p:cNvSpPr/>
          <p:nvPr/>
        </p:nvSpPr>
        <p:spPr>
          <a:xfrm>
            <a:off x="4775597" y="2528888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39C12"/>
                </a:solidFill>
              </a:rPr>
              <a:t>•</a:t>
            </a:r>
            <a:endParaRPr lang="en-US" sz="534" dirty="0"/>
          </a:p>
        </p:txBody>
      </p:sp>
      <p:sp>
        <p:nvSpPr>
          <p:cNvPr id="51" name="Text 43"/>
          <p:cNvSpPr/>
          <p:nvPr/>
        </p:nvSpPr>
        <p:spPr>
          <a:xfrm>
            <a:off x="4775597" y="2675334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39C12"/>
                </a:solidFill>
              </a:rPr>
              <a:t>•</a:t>
            </a:r>
            <a:endParaRPr lang="en-US" sz="534" dirty="0"/>
          </a:p>
        </p:txBody>
      </p:sp>
      <p:sp>
        <p:nvSpPr>
          <p:cNvPr id="52" name="Shape 44"/>
          <p:cNvSpPr/>
          <p:nvPr/>
        </p:nvSpPr>
        <p:spPr>
          <a:xfrm>
            <a:off x="4775597" y="3128963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4178" y="3207544"/>
            <a:ext cx="128588" cy="128588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5132784" y="3196828"/>
            <a:ext cx="8127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A52"/>
                </a:solidFill>
              </a:rPr>
              <a:t>Input Validation</a:t>
            </a:r>
            <a:endParaRPr lang="en-US" sz="683" dirty="0"/>
          </a:p>
        </p:txBody>
      </p:sp>
      <p:sp>
        <p:nvSpPr>
          <p:cNvPr id="55" name="Text 46"/>
          <p:cNvSpPr/>
          <p:nvPr/>
        </p:nvSpPr>
        <p:spPr>
          <a:xfrm>
            <a:off x="4775597" y="3486150"/>
            <a:ext cx="38969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Comprehensive validation and sanitization</a:t>
            </a:r>
            <a:endParaRPr lang="en-US" sz="621" dirty="0"/>
          </a:p>
        </p:txBody>
      </p:sp>
      <p:sp>
        <p:nvSpPr>
          <p:cNvPr id="56" name="Text 47"/>
          <p:cNvSpPr/>
          <p:nvPr/>
        </p:nvSpPr>
        <p:spPr>
          <a:xfrm>
            <a:off x="4775597" y="3807619"/>
            <a:ext cx="389691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Email format validation</a:t>
            </a:r>
            <a:endParaRPr lang="en-US" sz="568" dirty="0"/>
          </a:p>
        </p:txBody>
      </p:sp>
      <p:sp>
        <p:nvSpPr>
          <p:cNvPr id="57" name="Text 48"/>
          <p:cNvSpPr/>
          <p:nvPr/>
        </p:nvSpPr>
        <p:spPr>
          <a:xfrm>
            <a:off x="4775597" y="3954066"/>
            <a:ext cx="389691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Password complexity requirements</a:t>
            </a:r>
            <a:endParaRPr lang="en-US" sz="568" dirty="0"/>
          </a:p>
        </p:txBody>
      </p:sp>
      <p:sp>
        <p:nvSpPr>
          <p:cNvPr id="58" name="Text 49"/>
          <p:cNvSpPr/>
          <p:nvPr/>
        </p:nvSpPr>
        <p:spPr>
          <a:xfrm>
            <a:off x="4775597" y="4100513"/>
            <a:ext cx="389691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SQL injection prevention</a:t>
            </a:r>
            <a:endParaRPr lang="en-US" sz="568" dirty="0"/>
          </a:p>
        </p:txBody>
      </p:sp>
      <p:sp>
        <p:nvSpPr>
          <p:cNvPr id="59" name="Text 50"/>
          <p:cNvSpPr/>
          <p:nvPr/>
        </p:nvSpPr>
        <p:spPr>
          <a:xfrm>
            <a:off x="4775597" y="4246959"/>
            <a:ext cx="389691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XSS attack prevention</a:t>
            </a:r>
            <a:endParaRPr lang="en-US" sz="568" dirty="0"/>
          </a:p>
        </p:txBody>
      </p:sp>
      <p:sp>
        <p:nvSpPr>
          <p:cNvPr id="60" name="Shape 51"/>
          <p:cNvSpPr/>
          <p:nvPr/>
        </p:nvSpPr>
        <p:spPr>
          <a:xfrm>
            <a:off x="357188" y="4693444"/>
            <a:ext cx="8429625" cy="5143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1" name="Shape 52"/>
          <p:cNvSpPr/>
          <p:nvPr/>
        </p:nvSpPr>
        <p:spPr>
          <a:xfrm>
            <a:off x="357188" y="4693444"/>
            <a:ext cx="8429625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62" name="Text 53"/>
          <p:cNvSpPr/>
          <p:nvPr/>
        </p:nvSpPr>
        <p:spPr>
          <a:xfrm>
            <a:off x="4775597" y="3807619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D7EA8"/>
                </a:solidFill>
              </a:rPr>
              <a:t>•</a:t>
            </a:r>
            <a:endParaRPr lang="en-US" sz="534" dirty="0"/>
          </a:p>
        </p:txBody>
      </p:sp>
      <p:sp>
        <p:nvSpPr>
          <p:cNvPr id="63" name="Text 54"/>
          <p:cNvSpPr/>
          <p:nvPr/>
        </p:nvSpPr>
        <p:spPr>
          <a:xfrm>
            <a:off x="4775597" y="3954066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D7EA8"/>
                </a:solidFill>
              </a:rPr>
              <a:t>•</a:t>
            </a:r>
            <a:endParaRPr lang="en-US" sz="534" dirty="0"/>
          </a:p>
        </p:txBody>
      </p:sp>
      <p:sp>
        <p:nvSpPr>
          <p:cNvPr id="64" name="Text 55"/>
          <p:cNvSpPr/>
          <p:nvPr/>
        </p:nvSpPr>
        <p:spPr>
          <a:xfrm>
            <a:off x="4775597" y="4100513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D7EA8"/>
                </a:solidFill>
              </a:rPr>
              <a:t>•</a:t>
            </a:r>
            <a:endParaRPr lang="en-US" sz="534" dirty="0"/>
          </a:p>
        </p:txBody>
      </p:sp>
      <p:sp>
        <p:nvSpPr>
          <p:cNvPr id="65" name="Text 56"/>
          <p:cNvSpPr/>
          <p:nvPr/>
        </p:nvSpPr>
        <p:spPr>
          <a:xfrm>
            <a:off x="4775597" y="4246959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D7EA8"/>
                </a:solidFill>
              </a:rPr>
              <a:t>•</a:t>
            </a:r>
            <a:endParaRPr lang="en-US" sz="534" dirty="0"/>
          </a:p>
        </p:txBody>
      </p:sp>
      <p:sp>
        <p:nvSpPr>
          <p:cNvPr id="66" name="Shape 57"/>
          <p:cNvSpPr/>
          <p:nvPr/>
        </p:nvSpPr>
        <p:spPr>
          <a:xfrm>
            <a:off x="357188" y="4907756"/>
            <a:ext cx="285750" cy="285750"/>
          </a:xfrm>
          <a:prstGeom prst="ellipse">
            <a:avLst/>
          </a:prstGeom>
          <a:solidFill>
            <a:srgbClr val="0D7EA8"/>
          </a:solidFill>
          <a:ln/>
        </p:spPr>
      </p:sp>
      <p:pic>
        <p:nvPicPr>
          <p:cNvPr id="6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805" y="4986338"/>
            <a:ext cx="112514" cy="128588"/>
          </a:xfrm>
          <a:prstGeom prst="rect">
            <a:avLst/>
          </a:prstGeom>
        </p:spPr>
      </p:pic>
      <p:sp>
        <p:nvSpPr>
          <p:cNvPr id="68" name="Text 58"/>
          <p:cNvSpPr/>
          <p:nvPr/>
        </p:nvSpPr>
        <p:spPr>
          <a:xfrm>
            <a:off x="728663" y="4986338"/>
            <a:ext cx="41890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Next: Infrastructure Security, CORS, Helmet Headers, Database Security, and Production Best Practices</a:t>
            </a:r>
            <a:endParaRPr lang="en-US" sz="584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65997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57188" y="357188"/>
            <a:ext cx="6042859" cy="521494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A52"/>
                </a:solidFill>
              </a:rPr>
              <a:t>Security Features: Infrastructure &amp; Compliance</a:t>
            </a:r>
            <a:endParaRPr lang="en-US" sz="1808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1114425"/>
            <a:ext cx="128588" cy="1285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2925" y="1092994"/>
            <a:ext cx="131193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D7EA8"/>
                </a:solidFill>
              </a:rPr>
              <a:t>Infrastructure Security</a:t>
            </a:r>
            <a:endParaRPr lang="en-US" sz="784" dirty="0"/>
          </a:p>
        </p:txBody>
      </p:sp>
      <p:sp>
        <p:nvSpPr>
          <p:cNvPr id="6" name="Shape 2"/>
          <p:cNvSpPr/>
          <p:nvPr/>
        </p:nvSpPr>
        <p:spPr>
          <a:xfrm>
            <a:off x="357188" y="1443038"/>
            <a:ext cx="4107656" cy="146446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Shape 3"/>
          <p:cNvSpPr/>
          <p:nvPr/>
        </p:nvSpPr>
        <p:spPr>
          <a:xfrm>
            <a:off x="357188" y="1443038"/>
            <a:ext cx="35719" cy="1464469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8" name="Shape 4"/>
          <p:cNvSpPr/>
          <p:nvPr/>
        </p:nvSpPr>
        <p:spPr>
          <a:xfrm>
            <a:off x="471488" y="1557338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069" y="1635919"/>
            <a:ext cx="128588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8675" y="1625203"/>
            <a:ext cx="98332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A52"/>
                </a:solidFill>
              </a:rPr>
              <a:t>CORS Configuration</a:t>
            </a:r>
            <a:endParaRPr lang="en-US" sz="683" dirty="0"/>
          </a:p>
        </p:txBody>
      </p:sp>
      <p:sp>
        <p:nvSpPr>
          <p:cNvPr id="11" name="Text 6"/>
          <p:cNvSpPr/>
          <p:nvPr/>
        </p:nvSpPr>
        <p:spPr>
          <a:xfrm>
            <a:off x="471488" y="1914525"/>
            <a:ext cx="38790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Cross-Origin Resource Sharing for mobile apps</a:t>
            </a:r>
            <a:endParaRPr lang="en-US" sz="621" dirty="0"/>
          </a:p>
        </p:txBody>
      </p:sp>
      <p:sp>
        <p:nvSpPr>
          <p:cNvPr id="12" name="Text 7"/>
          <p:cNvSpPr/>
          <p:nvPr/>
        </p:nvSpPr>
        <p:spPr>
          <a:xfrm>
            <a:off x="471488" y="2235994"/>
            <a:ext cx="387905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Whitelist allowed origins</a:t>
            </a:r>
            <a:endParaRPr lang="en-US" sz="568" dirty="0"/>
          </a:p>
        </p:txBody>
      </p:sp>
      <p:sp>
        <p:nvSpPr>
          <p:cNvPr id="13" name="Text 8"/>
          <p:cNvSpPr/>
          <p:nvPr/>
        </p:nvSpPr>
        <p:spPr>
          <a:xfrm>
            <a:off x="471488" y="2382441"/>
            <a:ext cx="387905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Restrict HTTP methods</a:t>
            </a:r>
            <a:endParaRPr lang="en-US" sz="568" dirty="0"/>
          </a:p>
        </p:txBody>
      </p:sp>
      <p:sp>
        <p:nvSpPr>
          <p:cNvPr id="14" name="Text 9"/>
          <p:cNvSpPr/>
          <p:nvPr/>
        </p:nvSpPr>
        <p:spPr>
          <a:xfrm>
            <a:off x="471488" y="2528888"/>
            <a:ext cx="387905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Control credential sharing</a:t>
            </a:r>
            <a:endParaRPr lang="en-US" sz="568" dirty="0"/>
          </a:p>
        </p:txBody>
      </p:sp>
      <p:sp>
        <p:nvSpPr>
          <p:cNvPr id="15" name="Text 10"/>
          <p:cNvSpPr/>
          <p:nvPr/>
        </p:nvSpPr>
        <p:spPr>
          <a:xfrm>
            <a:off x="471488" y="2675334"/>
            <a:ext cx="387905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Preflight request handling</a:t>
            </a:r>
            <a:endParaRPr lang="en-US" sz="568" dirty="0"/>
          </a:p>
        </p:txBody>
      </p:sp>
      <p:sp>
        <p:nvSpPr>
          <p:cNvPr id="16" name="Shape 11"/>
          <p:cNvSpPr/>
          <p:nvPr/>
        </p:nvSpPr>
        <p:spPr>
          <a:xfrm>
            <a:off x="357188" y="3014663"/>
            <a:ext cx="4107656" cy="146446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Shape 12"/>
          <p:cNvSpPr/>
          <p:nvPr/>
        </p:nvSpPr>
        <p:spPr>
          <a:xfrm>
            <a:off x="357188" y="3014663"/>
            <a:ext cx="35719" cy="1464469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18" name="Text 13"/>
          <p:cNvSpPr/>
          <p:nvPr/>
        </p:nvSpPr>
        <p:spPr>
          <a:xfrm>
            <a:off x="471488" y="2235994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D7EA8"/>
                </a:solidFill>
              </a:rPr>
              <a:t>•</a:t>
            </a:r>
            <a:endParaRPr lang="en-US" sz="534" dirty="0"/>
          </a:p>
        </p:txBody>
      </p:sp>
      <p:sp>
        <p:nvSpPr>
          <p:cNvPr id="19" name="Text 14"/>
          <p:cNvSpPr/>
          <p:nvPr/>
        </p:nvSpPr>
        <p:spPr>
          <a:xfrm>
            <a:off x="471488" y="2382441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D7EA8"/>
                </a:solidFill>
              </a:rPr>
              <a:t>•</a:t>
            </a:r>
            <a:endParaRPr lang="en-US" sz="534" dirty="0"/>
          </a:p>
        </p:txBody>
      </p:sp>
      <p:sp>
        <p:nvSpPr>
          <p:cNvPr id="20" name="Text 15"/>
          <p:cNvSpPr/>
          <p:nvPr/>
        </p:nvSpPr>
        <p:spPr>
          <a:xfrm>
            <a:off x="471488" y="2528888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D7EA8"/>
                </a:solidFill>
              </a:rPr>
              <a:t>•</a:t>
            </a:r>
            <a:endParaRPr lang="en-US" sz="534" dirty="0"/>
          </a:p>
        </p:txBody>
      </p:sp>
      <p:sp>
        <p:nvSpPr>
          <p:cNvPr id="21" name="Text 16"/>
          <p:cNvSpPr/>
          <p:nvPr/>
        </p:nvSpPr>
        <p:spPr>
          <a:xfrm>
            <a:off x="471488" y="2675334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D7EA8"/>
                </a:solidFill>
              </a:rPr>
              <a:t>•</a:t>
            </a:r>
            <a:endParaRPr lang="en-US" sz="534" dirty="0"/>
          </a:p>
        </p:txBody>
      </p:sp>
      <p:sp>
        <p:nvSpPr>
          <p:cNvPr id="22" name="Shape 17"/>
          <p:cNvSpPr/>
          <p:nvPr/>
        </p:nvSpPr>
        <p:spPr>
          <a:xfrm>
            <a:off x="471488" y="3128963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032" y="3207544"/>
            <a:ext cx="144661" cy="128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8675" y="3196828"/>
            <a:ext cx="123997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A52"/>
                </a:solidFill>
              </a:rPr>
              <a:t>Helmet Security Headers</a:t>
            </a:r>
            <a:endParaRPr lang="en-US" sz="683" dirty="0"/>
          </a:p>
        </p:txBody>
      </p:sp>
      <p:sp>
        <p:nvSpPr>
          <p:cNvPr id="25" name="Text 19"/>
          <p:cNvSpPr/>
          <p:nvPr/>
        </p:nvSpPr>
        <p:spPr>
          <a:xfrm>
            <a:off x="471488" y="3486150"/>
            <a:ext cx="38790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HTTP security headers for browser protection</a:t>
            </a:r>
            <a:endParaRPr lang="en-US" sz="621" dirty="0"/>
          </a:p>
        </p:txBody>
      </p:sp>
      <p:sp>
        <p:nvSpPr>
          <p:cNvPr id="26" name="Text 20"/>
          <p:cNvSpPr/>
          <p:nvPr/>
        </p:nvSpPr>
        <p:spPr>
          <a:xfrm>
            <a:off x="471488" y="3807619"/>
            <a:ext cx="387905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Content Security Policy (CSP)</a:t>
            </a:r>
            <a:endParaRPr lang="en-US" sz="568" dirty="0"/>
          </a:p>
        </p:txBody>
      </p:sp>
      <p:sp>
        <p:nvSpPr>
          <p:cNvPr id="27" name="Text 21"/>
          <p:cNvSpPr/>
          <p:nvPr/>
        </p:nvSpPr>
        <p:spPr>
          <a:xfrm>
            <a:off x="471488" y="3954066"/>
            <a:ext cx="387905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X-Frame-Options (clickjacking)</a:t>
            </a:r>
            <a:endParaRPr lang="en-US" sz="568" dirty="0"/>
          </a:p>
        </p:txBody>
      </p:sp>
      <p:sp>
        <p:nvSpPr>
          <p:cNvPr id="28" name="Text 22"/>
          <p:cNvSpPr/>
          <p:nvPr/>
        </p:nvSpPr>
        <p:spPr>
          <a:xfrm>
            <a:off x="471488" y="4100513"/>
            <a:ext cx="387905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X-Content-Type-Options</a:t>
            </a:r>
            <a:endParaRPr lang="en-US" sz="568" dirty="0"/>
          </a:p>
        </p:txBody>
      </p:sp>
      <p:sp>
        <p:nvSpPr>
          <p:cNvPr id="29" name="Text 23"/>
          <p:cNvSpPr/>
          <p:nvPr/>
        </p:nvSpPr>
        <p:spPr>
          <a:xfrm>
            <a:off x="471488" y="4246959"/>
            <a:ext cx="387905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Strict-Transport-Security (HSTS)</a:t>
            </a:r>
            <a:endParaRPr lang="en-US" sz="568" dirty="0"/>
          </a:p>
        </p:txBody>
      </p:sp>
      <p:sp>
        <p:nvSpPr>
          <p:cNvPr id="30" name="Text 24"/>
          <p:cNvSpPr/>
          <p:nvPr/>
        </p:nvSpPr>
        <p:spPr>
          <a:xfrm>
            <a:off x="471488" y="3807619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D7EA8"/>
                </a:solidFill>
              </a:rPr>
              <a:t>•</a:t>
            </a:r>
            <a:endParaRPr lang="en-US" sz="534" dirty="0"/>
          </a:p>
        </p:txBody>
      </p:sp>
      <p:sp>
        <p:nvSpPr>
          <p:cNvPr id="31" name="Text 25"/>
          <p:cNvSpPr/>
          <p:nvPr/>
        </p:nvSpPr>
        <p:spPr>
          <a:xfrm>
            <a:off x="471488" y="3954066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D7EA8"/>
                </a:solidFill>
              </a:rPr>
              <a:t>•</a:t>
            </a:r>
            <a:endParaRPr lang="en-US" sz="534" dirty="0"/>
          </a:p>
        </p:txBody>
      </p:sp>
      <p:sp>
        <p:nvSpPr>
          <p:cNvPr id="32" name="Text 26"/>
          <p:cNvSpPr/>
          <p:nvPr/>
        </p:nvSpPr>
        <p:spPr>
          <a:xfrm>
            <a:off x="471488" y="4100513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D7EA8"/>
                </a:solidFill>
              </a:rPr>
              <a:t>•</a:t>
            </a:r>
            <a:endParaRPr lang="en-US" sz="534" dirty="0"/>
          </a:p>
        </p:txBody>
      </p:sp>
      <p:sp>
        <p:nvSpPr>
          <p:cNvPr id="33" name="Text 27"/>
          <p:cNvSpPr/>
          <p:nvPr/>
        </p:nvSpPr>
        <p:spPr>
          <a:xfrm>
            <a:off x="471488" y="4246959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0D7EA8"/>
                </a:solidFill>
              </a:rPr>
              <a:t>•</a:t>
            </a:r>
            <a:endParaRPr lang="en-US" sz="534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9156" y="1114425"/>
            <a:ext cx="112514" cy="12858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848820" y="1092994"/>
            <a:ext cx="11147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D7EA8"/>
                </a:solidFill>
              </a:rPr>
              <a:t>Data &amp; Deployment</a:t>
            </a:r>
            <a:endParaRPr lang="en-US" sz="784" dirty="0"/>
          </a:p>
        </p:txBody>
      </p:sp>
      <p:sp>
        <p:nvSpPr>
          <p:cNvPr id="36" name="Shape 29"/>
          <p:cNvSpPr/>
          <p:nvPr/>
        </p:nvSpPr>
        <p:spPr>
          <a:xfrm>
            <a:off x="4679156" y="1443038"/>
            <a:ext cx="4107656" cy="1464469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7" name="Shape 30"/>
          <p:cNvSpPr/>
          <p:nvPr/>
        </p:nvSpPr>
        <p:spPr>
          <a:xfrm>
            <a:off x="4679156" y="1443038"/>
            <a:ext cx="35719" cy="1464469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8" name="Shape 31"/>
          <p:cNvSpPr/>
          <p:nvPr/>
        </p:nvSpPr>
        <p:spPr>
          <a:xfrm>
            <a:off x="4793456" y="1557338"/>
            <a:ext cx="285750" cy="28575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0074" y="1635919"/>
            <a:ext cx="112514" cy="12858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150644" y="1625203"/>
            <a:ext cx="90432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A52"/>
                </a:solidFill>
              </a:rPr>
              <a:t>Database Security</a:t>
            </a:r>
            <a:endParaRPr lang="en-US" sz="683" dirty="0"/>
          </a:p>
        </p:txBody>
      </p:sp>
      <p:sp>
        <p:nvSpPr>
          <p:cNvPr id="41" name="Text 33"/>
          <p:cNvSpPr/>
          <p:nvPr/>
        </p:nvSpPr>
        <p:spPr>
          <a:xfrm>
            <a:off x="4793456" y="1914525"/>
            <a:ext cx="38790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Secure database operations and access control</a:t>
            </a:r>
            <a:endParaRPr lang="en-US" sz="621" dirty="0"/>
          </a:p>
        </p:txBody>
      </p:sp>
      <p:sp>
        <p:nvSpPr>
          <p:cNvPr id="42" name="Text 34"/>
          <p:cNvSpPr/>
          <p:nvPr/>
        </p:nvSpPr>
        <p:spPr>
          <a:xfrm>
            <a:off x="4793456" y="2235994"/>
            <a:ext cx="387905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Parameterized queries</a:t>
            </a:r>
            <a:endParaRPr lang="en-US" sz="568" dirty="0"/>
          </a:p>
        </p:txBody>
      </p:sp>
      <p:sp>
        <p:nvSpPr>
          <p:cNvPr id="43" name="Text 35"/>
          <p:cNvSpPr/>
          <p:nvPr/>
        </p:nvSpPr>
        <p:spPr>
          <a:xfrm>
            <a:off x="4793456" y="2382441"/>
            <a:ext cx="387905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Connection pooling</a:t>
            </a:r>
            <a:endParaRPr lang="en-US" sz="568" dirty="0"/>
          </a:p>
        </p:txBody>
      </p:sp>
      <p:sp>
        <p:nvSpPr>
          <p:cNvPr id="44" name="Text 36"/>
          <p:cNvSpPr/>
          <p:nvPr/>
        </p:nvSpPr>
        <p:spPr>
          <a:xfrm>
            <a:off x="4793456" y="2528888"/>
            <a:ext cx="387905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Least privilege access</a:t>
            </a:r>
            <a:endParaRPr lang="en-US" sz="568" dirty="0"/>
          </a:p>
        </p:txBody>
      </p:sp>
      <p:sp>
        <p:nvSpPr>
          <p:cNvPr id="45" name="Text 37"/>
          <p:cNvSpPr/>
          <p:nvPr/>
        </p:nvSpPr>
        <p:spPr>
          <a:xfrm>
            <a:off x="4793456" y="2675334"/>
            <a:ext cx="387905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Encrypted connections</a:t>
            </a:r>
            <a:endParaRPr lang="en-US" sz="568" dirty="0"/>
          </a:p>
        </p:txBody>
      </p:sp>
      <p:sp>
        <p:nvSpPr>
          <p:cNvPr id="46" name="Shape 38"/>
          <p:cNvSpPr/>
          <p:nvPr/>
        </p:nvSpPr>
        <p:spPr>
          <a:xfrm>
            <a:off x="4679156" y="3014663"/>
            <a:ext cx="4107656" cy="1464469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47" name="Shape 39"/>
          <p:cNvSpPr/>
          <p:nvPr/>
        </p:nvSpPr>
        <p:spPr>
          <a:xfrm>
            <a:off x="4679156" y="3014663"/>
            <a:ext cx="35719" cy="1464469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8" name="Text 40"/>
          <p:cNvSpPr/>
          <p:nvPr/>
        </p:nvSpPr>
        <p:spPr>
          <a:xfrm>
            <a:off x="4793456" y="2235994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4CAF50"/>
                </a:solidFill>
              </a:rPr>
              <a:t>•</a:t>
            </a:r>
            <a:endParaRPr lang="en-US" sz="534" dirty="0"/>
          </a:p>
        </p:txBody>
      </p:sp>
      <p:sp>
        <p:nvSpPr>
          <p:cNvPr id="49" name="Text 41"/>
          <p:cNvSpPr/>
          <p:nvPr/>
        </p:nvSpPr>
        <p:spPr>
          <a:xfrm>
            <a:off x="4793456" y="2382441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4CAF50"/>
                </a:solidFill>
              </a:rPr>
              <a:t>•</a:t>
            </a:r>
            <a:endParaRPr lang="en-US" sz="534" dirty="0"/>
          </a:p>
        </p:txBody>
      </p:sp>
      <p:sp>
        <p:nvSpPr>
          <p:cNvPr id="50" name="Text 42"/>
          <p:cNvSpPr/>
          <p:nvPr/>
        </p:nvSpPr>
        <p:spPr>
          <a:xfrm>
            <a:off x="4793456" y="2528888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4CAF50"/>
                </a:solidFill>
              </a:rPr>
              <a:t>•</a:t>
            </a:r>
            <a:endParaRPr lang="en-US" sz="534" dirty="0"/>
          </a:p>
        </p:txBody>
      </p:sp>
      <p:sp>
        <p:nvSpPr>
          <p:cNvPr id="51" name="Text 43"/>
          <p:cNvSpPr/>
          <p:nvPr/>
        </p:nvSpPr>
        <p:spPr>
          <a:xfrm>
            <a:off x="4793456" y="2675334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4CAF50"/>
                </a:solidFill>
              </a:rPr>
              <a:t>•</a:t>
            </a:r>
            <a:endParaRPr lang="en-US" sz="534" dirty="0"/>
          </a:p>
        </p:txBody>
      </p:sp>
      <p:sp>
        <p:nvSpPr>
          <p:cNvPr id="52" name="Shape 44"/>
          <p:cNvSpPr/>
          <p:nvPr/>
        </p:nvSpPr>
        <p:spPr>
          <a:xfrm>
            <a:off x="4793456" y="3128963"/>
            <a:ext cx="285750" cy="285750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5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2038" y="3207544"/>
            <a:ext cx="128588" cy="128588"/>
          </a:xfrm>
          <a:prstGeom prst="rect">
            <a:avLst/>
          </a:prstGeom>
        </p:spPr>
      </p:pic>
      <p:sp>
        <p:nvSpPr>
          <p:cNvPr id="54" name="Text 45"/>
          <p:cNvSpPr/>
          <p:nvPr/>
        </p:nvSpPr>
        <p:spPr>
          <a:xfrm>
            <a:off x="5150644" y="3196828"/>
            <a:ext cx="118625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A3A52"/>
                </a:solidFill>
              </a:rPr>
              <a:t>Production Deployment</a:t>
            </a:r>
            <a:endParaRPr lang="en-US" sz="683" dirty="0"/>
          </a:p>
        </p:txBody>
      </p:sp>
      <p:sp>
        <p:nvSpPr>
          <p:cNvPr id="55" name="Text 46"/>
          <p:cNvSpPr/>
          <p:nvPr/>
        </p:nvSpPr>
        <p:spPr>
          <a:xfrm>
            <a:off x="4793456" y="3486150"/>
            <a:ext cx="387905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621" dirty="0">
                <a:solidFill>
                  <a:srgbClr val="555555"/>
                </a:solidFill>
              </a:rPr>
              <a:t>Best practices for production environments</a:t>
            </a:r>
            <a:endParaRPr lang="en-US" sz="621" dirty="0"/>
          </a:p>
        </p:txBody>
      </p:sp>
      <p:sp>
        <p:nvSpPr>
          <p:cNvPr id="56" name="Text 47"/>
          <p:cNvSpPr/>
          <p:nvPr/>
        </p:nvSpPr>
        <p:spPr>
          <a:xfrm>
            <a:off x="4793456" y="3807619"/>
            <a:ext cx="387905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Use HTTPS/TLS encryption</a:t>
            </a:r>
            <a:endParaRPr lang="en-US" sz="568" dirty="0"/>
          </a:p>
        </p:txBody>
      </p:sp>
      <p:sp>
        <p:nvSpPr>
          <p:cNvPr id="57" name="Text 48"/>
          <p:cNvSpPr/>
          <p:nvPr/>
        </p:nvSpPr>
        <p:spPr>
          <a:xfrm>
            <a:off x="4793456" y="3954066"/>
            <a:ext cx="387905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Environment variable secrets</a:t>
            </a:r>
            <a:endParaRPr lang="en-US" sz="568" dirty="0"/>
          </a:p>
        </p:txBody>
      </p:sp>
      <p:sp>
        <p:nvSpPr>
          <p:cNvPr id="58" name="Text 49"/>
          <p:cNvSpPr/>
          <p:nvPr/>
        </p:nvSpPr>
        <p:spPr>
          <a:xfrm>
            <a:off x="4793456" y="4100513"/>
            <a:ext cx="387905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Monitoring and logging</a:t>
            </a:r>
            <a:endParaRPr lang="en-US" sz="568" dirty="0"/>
          </a:p>
        </p:txBody>
      </p:sp>
      <p:sp>
        <p:nvSpPr>
          <p:cNvPr id="59" name="Text 50"/>
          <p:cNvSpPr/>
          <p:nvPr/>
        </p:nvSpPr>
        <p:spPr>
          <a:xfrm>
            <a:off x="4793456" y="4246959"/>
            <a:ext cx="3879056" cy="117872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666666"/>
                </a:solidFill>
              </a:rPr>
              <a:t>Regular security updates</a:t>
            </a:r>
            <a:endParaRPr lang="en-US" sz="568" dirty="0"/>
          </a:p>
        </p:txBody>
      </p:sp>
      <p:sp>
        <p:nvSpPr>
          <p:cNvPr id="60" name="Shape 51"/>
          <p:cNvSpPr/>
          <p:nvPr/>
        </p:nvSpPr>
        <p:spPr>
          <a:xfrm>
            <a:off x="357188" y="4693444"/>
            <a:ext cx="8429625" cy="60934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1" name="Shape 52"/>
          <p:cNvSpPr/>
          <p:nvPr/>
        </p:nvSpPr>
        <p:spPr>
          <a:xfrm>
            <a:off x="357188" y="4693444"/>
            <a:ext cx="8429625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62" name="Text 53"/>
          <p:cNvSpPr/>
          <p:nvPr/>
        </p:nvSpPr>
        <p:spPr>
          <a:xfrm>
            <a:off x="4793456" y="3807619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39C12"/>
                </a:solidFill>
              </a:rPr>
              <a:t>•</a:t>
            </a:r>
            <a:endParaRPr lang="en-US" sz="534" dirty="0"/>
          </a:p>
        </p:txBody>
      </p:sp>
      <p:sp>
        <p:nvSpPr>
          <p:cNvPr id="63" name="Text 54"/>
          <p:cNvSpPr/>
          <p:nvPr/>
        </p:nvSpPr>
        <p:spPr>
          <a:xfrm>
            <a:off x="4793456" y="3954066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39C12"/>
                </a:solidFill>
              </a:rPr>
              <a:t>•</a:t>
            </a:r>
            <a:endParaRPr lang="en-US" sz="534" dirty="0"/>
          </a:p>
        </p:txBody>
      </p:sp>
      <p:sp>
        <p:nvSpPr>
          <p:cNvPr id="64" name="Text 55"/>
          <p:cNvSpPr/>
          <p:nvPr/>
        </p:nvSpPr>
        <p:spPr>
          <a:xfrm>
            <a:off x="4793456" y="4100513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39C12"/>
                </a:solidFill>
              </a:rPr>
              <a:t>•</a:t>
            </a:r>
            <a:endParaRPr lang="en-US" sz="534" dirty="0"/>
          </a:p>
        </p:txBody>
      </p:sp>
      <p:sp>
        <p:nvSpPr>
          <p:cNvPr id="65" name="Text 56"/>
          <p:cNvSpPr/>
          <p:nvPr/>
        </p:nvSpPr>
        <p:spPr>
          <a:xfrm>
            <a:off x="4793456" y="4246959"/>
            <a:ext cx="29552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39C12"/>
                </a:solidFill>
              </a:rPr>
              <a:t>•</a:t>
            </a:r>
            <a:endParaRPr lang="en-US" sz="534" dirty="0"/>
          </a:p>
        </p:txBody>
      </p:sp>
      <p:sp>
        <p:nvSpPr>
          <p:cNvPr id="66" name="Shape 57"/>
          <p:cNvSpPr/>
          <p:nvPr/>
        </p:nvSpPr>
        <p:spPr>
          <a:xfrm>
            <a:off x="357188" y="4907756"/>
            <a:ext cx="321469" cy="321469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6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484" y="4997053"/>
            <a:ext cx="142875" cy="142875"/>
          </a:xfrm>
          <a:prstGeom prst="rect">
            <a:avLst/>
          </a:prstGeom>
        </p:spPr>
      </p:pic>
      <p:sp>
        <p:nvSpPr>
          <p:cNvPr id="68" name="Text 58"/>
          <p:cNvSpPr/>
          <p:nvPr/>
        </p:nvSpPr>
        <p:spPr>
          <a:xfrm>
            <a:off x="764381" y="4907756"/>
            <a:ext cx="37004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PCI-DSS Compliance</a:t>
            </a:r>
            <a:endParaRPr lang="en-US" sz="634" dirty="0"/>
          </a:p>
        </p:txBody>
      </p:sp>
      <p:sp>
        <p:nvSpPr>
          <p:cNvPr id="69" name="Text 59"/>
          <p:cNvSpPr/>
          <p:nvPr/>
        </p:nvSpPr>
        <p:spPr>
          <a:xfrm>
            <a:off x="764381" y="5068491"/>
            <a:ext cx="3700463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Follows Payment Card Industry Data Security Standard guidelines for secure handling of authentication and user data</a:t>
            </a:r>
            <a:endParaRPr lang="en-US" sz="568" dirty="0"/>
          </a:p>
        </p:txBody>
      </p:sp>
      <p:sp>
        <p:nvSpPr>
          <p:cNvPr id="70" name="Shape 60"/>
          <p:cNvSpPr/>
          <p:nvPr/>
        </p:nvSpPr>
        <p:spPr>
          <a:xfrm>
            <a:off x="4679156" y="4907756"/>
            <a:ext cx="321469" cy="321469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7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68453" y="4997053"/>
            <a:ext cx="142875" cy="142875"/>
          </a:xfrm>
          <a:prstGeom prst="rect">
            <a:avLst/>
          </a:prstGeom>
        </p:spPr>
      </p:pic>
      <p:sp>
        <p:nvSpPr>
          <p:cNvPr id="72" name="Text 61"/>
          <p:cNvSpPr/>
          <p:nvPr/>
        </p:nvSpPr>
        <p:spPr>
          <a:xfrm>
            <a:off x="5086350" y="4907756"/>
            <a:ext cx="37004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Regular Audits</a:t>
            </a:r>
            <a:endParaRPr lang="en-US" sz="634" dirty="0"/>
          </a:p>
        </p:txBody>
      </p:sp>
      <p:sp>
        <p:nvSpPr>
          <p:cNvPr id="73" name="Text 62"/>
          <p:cNvSpPr/>
          <p:nvPr/>
        </p:nvSpPr>
        <p:spPr>
          <a:xfrm>
            <a:off x="5086350" y="5068491"/>
            <a:ext cx="3700463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Conduct periodic security audits, penetration testing, and dependency vulnerability scanning to maintain security posture</a:t>
            </a:r>
            <a:endParaRPr lang="en-US" sz="568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534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0025" y="200025"/>
            <a:ext cx="4561284" cy="500063"/>
          </a:xfrm>
          <a:prstGeom prst="rect">
            <a:avLst/>
          </a:prstGeom>
          <a:noFill/>
          <a:ln/>
        </p:spPr>
        <p:txBody>
          <a:bodyPr wrap="none" lIns="0" tIns="0" rIns="0" bIns="1021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A52"/>
                </a:solidFill>
              </a:rPr>
              <a:t>Error Handling and Response Codes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203597" y="789384"/>
            <a:ext cx="8736806" cy="239316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5" name="Text 2"/>
          <p:cNvSpPr/>
          <p:nvPr/>
        </p:nvSpPr>
        <p:spPr>
          <a:xfrm>
            <a:off x="203597" y="789384"/>
            <a:ext cx="1154776" cy="23931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Status Code</a:t>
            </a:r>
            <a:endParaRPr lang="en-US" sz="534" dirty="0"/>
          </a:p>
        </p:txBody>
      </p:sp>
      <p:sp>
        <p:nvSpPr>
          <p:cNvPr id="6" name="Text 3"/>
          <p:cNvSpPr/>
          <p:nvPr/>
        </p:nvSpPr>
        <p:spPr>
          <a:xfrm>
            <a:off x="1358373" y="789384"/>
            <a:ext cx="1561300" cy="23931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Meaning</a:t>
            </a:r>
            <a:endParaRPr lang="en-US" sz="534" dirty="0"/>
          </a:p>
        </p:txBody>
      </p:sp>
      <p:sp>
        <p:nvSpPr>
          <p:cNvPr id="7" name="Text 4"/>
          <p:cNvSpPr/>
          <p:nvPr/>
        </p:nvSpPr>
        <p:spPr>
          <a:xfrm>
            <a:off x="2919673" y="789384"/>
            <a:ext cx="4439869" cy="23931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Common Scenarios</a:t>
            </a:r>
            <a:endParaRPr lang="en-US" sz="534" dirty="0"/>
          </a:p>
        </p:txBody>
      </p:sp>
      <p:sp>
        <p:nvSpPr>
          <p:cNvPr id="8" name="Text 5"/>
          <p:cNvSpPr/>
          <p:nvPr/>
        </p:nvSpPr>
        <p:spPr>
          <a:xfrm>
            <a:off x="7359541" y="789384"/>
            <a:ext cx="1580862" cy="239316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FFFFFF"/>
                </a:solidFill>
              </a:rPr>
              <a:t>Error Type</a:t>
            </a:r>
            <a:endParaRPr lang="en-US" sz="534" dirty="0"/>
          </a:p>
        </p:txBody>
      </p:sp>
      <p:sp>
        <p:nvSpPr>
          <p:cNvPr id="9" name="Shape 6"/>
          <p:cNvSpPr/>
          <p:nvPr/>
        </p:nvSpPr>
        <p:spPr>
          <a:xfrm>
            <a:off x="203597" y="1028700"/>
            <a:ext cx="8736806" cy="28217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Shape 7"/>
          <p:cNvSpPr/>
          <p:nvPr/>
        </p:nvSpPr>
        <p:spPr>
          <a:xfrm>
            <a:off x="278606" y="1089422"/>
            <a:ext cx="220591" cy="16073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" name="Text 8"/>
          <p:cNvSpPr/>
          <p:nvPr/>
        </p:nvSpPr>
        <p:spPr>
          <a:xfrm>
            <a:off x="278606" y="1089422"/>
            <a:ext cx="220591" cy="160734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2E7D32"/>
                </a:solidFill>
              </a:rPr>
              <a:t>200</a:t>
            </a:r>
            <a:endParaRPr lang="en-US" sz="534" dirty="0"/>
          </a:p>
        </p:txBody>
      </p:sp>
      <p:sp>
        <p:nvSpPr>
          <p:cNvPr id="12" name="Text 9"/>
          <p:cNvSpPr/>
          <p:nvPr/>
        </p:nvSpPr>
        <p:spPr>
          <a:xfrm>
            <a:off x="1433382" y="1119783"/>
            <a:ext cx="10266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1A3A52"/>
                </a:solidFill>
              </a:rPr>
              <a:t>OK</a:t>
            </a:r>
            <a:endParaRPr lang="en-US" sz="485" dirty="0"/>
          </a:p>
        </p:txBody>
      </p:sp>
      <p:sp>
        <p:nvSpPr>
          <p:cNvPr id="13" name="Text 10"/>
          <p:cNvSpPr/>
          <p:nvPr/>
        </p:nvSpPr>
        <p:spPr>
          <a:xfrm>
            <a:off x="2919673" y="1028700"/>
            <a:ext cx="4439869" cy="28217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Successful GET request, login successful, token refresh successful</a:t>
            </a:r>
            <a:endParaRPr lang="en-US" sz="516" dirty="0"/>
          </a:p>
        </p:txBody>
      </p:sp>
      <p:sp>
        <p:nvSpPr>
          <p:cNvPr id="14" name="Text 11"/>
          <p:cNvSpPr/>
          <p:nvPr/>
        </p:nvSpPr>
        <p:spPr>
          <a:xfrm>
            <a:off x="7359541" y="1028700"/>
            <a:ext cx="1580862" cy="28217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Success</a:t>
            </a:r>
            <a:endParaRPr lang="en-US" sz="516" dirty="0"/>
          </a:p>
        </p:txBody>
      </p:sp>
      <p:sp>
        <p:nvSpPr>
          <p:cNvPr id="15" name="Shape 12"/>
          <p:cNvSpPr/>
          <p:nvPr/>
        </p:nvSpPr>
        <p:spPr>
          <a:xfrm>
            <a:off x="203597" y="1310878"/>
            <a:ext cx="8736806" cy="2821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278606" y="1371600"/>
            <a:ext cx="220591" cy="16073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7" name="Text 14"/>
          <p:cNvSpPr/>
          <p:nvPr/>
        </p:nvSpPr>
        <p:spPr>
          <a:xfrm>
            <a:off x="278606" y="1371600"/>
            <a:ext cx="220591" cy="160734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2E7D32"/>
                </a:solidFill>
              </a:rPr>
              <a:t>201</a:t>
            </a:r>
            <a:endParaRPr lang="en-US" sz="534" dirty="0"/>
          </a:p>
        </p:txBody>
      </p:sp>
      <p:sp>
        <p:nvSpPr>
          <p:cNvPr id="18" name="Text 15"/>
          <p:cNvSpPr/>
          <p:nvPr/>
        </p:nvSpPr>
        <p:spPr>
          <a:xfrm>
            <a:off x="1433382" y="1401961"/>
            <a:ext cx="27405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1A3A52"/>
                </a:solidFill>
              </a:rPr>
              <a:t>Created</a:t>
            </a:r>
            <a:endParaRPr lang="en-US" sz="485" dirty="0"/>
          </a:p>
        </p:txBody>
      </p:sp>
      <p:sp>
        <p:nvSpPr>
          <p:cNvPr id="19" name="Text 16"/>
          <p:cNvSpPr/>
          <p:nvPr/>
        </p:nvSpPr>
        <p:spPr>
          <a:xfrm>
            <a:off x="2919673" y="1310878"/>
            <a:ext cx="4439869" cy="28217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User registration successful, new resource created</a:t>
            </a:r>
            <a:endParaRPr lang="en-US" sz="516" dirty="0"/>
          </a:p>
        </p:txBody>
      </p:sp>
      <p:sp>
        <p:nvSpPr>
          <p:cNvPr id="20" name="Text 17"/>
          <p:cNvSpPr/>
          <p:nvPr/>
        </p:nvSpPr>
        <p:spPr>
          <a:xfrm>
            <a:off x="7359541" y="1310878"/>
            <a:ext cx="1580862" cy="28217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Success</a:t>
            </a:r>
            <a:endParaRPr lang="en-US" sz="516" dirty="0"/>
          </a:p>
        </p:txBody>
      </p:sp>
      <p:sp>
        <p:nvSpPr>
          <p:cNvPr id="21" name="Shape 18"/>
          <p:cNvSpPr/>
          <p:nvPr/>
        </p:nvSpPr>
        <p:spPr>
          <a:xfrm>
            <a:off x="203597" y="1593056"/>
            <a:ext cx="8736806" cy="28217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2" name="Shape 19"/>
          <p:cNvSpPr/>
          <p:nvPr/>
        </p:nvSpPr>
        <p:spPr>
          <a:xfrm>
            <a:off x="278606" y="1653778"/>
            <a:ext cx="220591" cy="16073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3" name="Text 20"/>
          <p:cNvSpPr/>
          <p:nvPr/>
        </p:nvSpPr>
        <p:spPr>
          <a:xfrm>
            <a:off x="278606" y="1653778"/>
            <a:ext cx="220591" cy="160734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E65100"/>
                </a:solidFill>
              </a:rPr>
              <a:t>400</a:t>
            </a:r>
            <a:endParaRPr lang="en-US" sz="534" dirty="0"/>
          </a:p>
        </p:txBody>
      </p:sp>
      <p:sp>
        <p:nvSpPr>
          <p:cNvPr id="24" name="Text 21"/>
          <p:cNvSpPr/>
          <p:nvPr/>
        </p:nvSpPr>
        <p:spPr>
          <a:xfrm>
            <a:off x="1433382" y="1684139"/>
            <a:ext cx="436494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1A3A52"/>
                </a:solidFill>
              </a:rPr>
              <a:t>Bad Request</a:t>
            </a:r>
            <a:endParaRPr lang="en-US" sz="485" dirty="0"/>
          </a:p>
        </p:txBody>
      </p:sp>
      <p:sp>
        <p:nvSpPr>
          <p:cNvPr id="25" name="Text 22"/>
          <p:cNvSpPr/>
          <p:nvPr/>
        </p:nvSpPr>
        <p:spPr>
          <a:xfrm>
            <a:off x="2919673" y="1593056"/>
            <a:ext cx="4439869" cy="28217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Invalid email format, password too weak, missing required fields</a:t>
            </a:r>
            <a:endParaRPr lang="en-US" sz="516" dirty="0"/>
          </a:p>
        </p:txBody>
      </p:sp>
      <p:sp>
        <p:nvSpPr>
          <p:cNvPr id="26" name="Text 23"/>
          <p:cNvSpPr/>
          <p:nvPr/>
        </p:nvSpPr>
        <p:spPr>
          <a:xfrm>
            <a:off x="7359541" y="1593056"/>
            <a:ext cx="1580862" cy="28217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Validation Error</a:t>
            </a:r>
            <a:endParaRPr lang="en-US" sz="516" dirty="0"/>
          </a:p>
        </p:txBody>
      </p:sp>
      <p:sp>
        <p:nvSpPr>
          <p:cNvPr id="27" name="Shape 24"/>
          <p:cNvSpPr/>
          <p:nvPr/>
        </p:nvSpPr>
        <p:spPr>
          <a:xfrm>
            <a:off x="203597" y="1875234"/>
            <a:ext cx="8736806" cy="2821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278606" y="1935956"/>
            <a:ext cx="220591" cy="16073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9" name="Text 26"/>
          <p:cNvSpPr/>
          <p:nvPr/>
        </p:nvSpPr>
        <p:spPr>
          <a:xfrm>
            <a:off x="278606" y="1935956"/>
            <a:ext cx="220591" cy="160734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E65100"/>
                </a:solidFill>
              </a:rPr>
              <a:t>401</a:t>
            </a:r>
            <a:endParaRPr lang="en-US" sz="534" dirty="0"/>
          </a:p>
        </p:txBody>
      </p:sp>
      <p:sp>
        <p:nvSpPr>
          <p:cNvPr id="30" name="Text 27"/>
          <p:cNvSpPr/>
          <p:nvPr/>
        </p:nvSpPr>
        <p:spPr>
          <a:xfrm>
            <a:off x="1433382" y="1966317"/>
            <a:ext cx="478296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1A3A52"/>
                </a:solidFill>
              </a:rPr>
              <a:t>Unauthorized</a:t>
            </a:r>
            <a:endParaRPr lang="en-US" sz="485" dirty="0"/>
          </a:p>
        </p:txBody>
      </p:sp>
      <p:sp>
        <p:nvSpPr>
          <p:cNvPr id="31" name="Text 28"/>
          <p:cNvSpPr/>
          <p:nvPr/>
        </p:nvSpPr>
        <p:spPr>
          <a:xfrm>
            <a:off x="2919673" y="1875234"/>
            <a:ext cx="4439869" cy="28217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Invalid credentials, expired token, missing Authorization header</a:t>
            </a:r>
            <a:endParaRPr lang="en-US" sz="516" dirty="0"/>
          </a:p>
        </p:txBody>
      </p:sp>
      <p:sp>
        <p:nvSpPr>
          <p:cNvPr id="32" name="Text 29"/>
          <p:cNvSpPr/>
          <p:nvPr/>
        </p:nvSpPr>
        <p:spPr>
          <a:xfrm>
            <a:off x="7359541" y="1875234"/>
            <a:ext cx="1580862" cy="28217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Authentication Error</a:t>
            </a:r>
            <a:endParaRPr lang="en-US" sz="516" dirty="0"/>
          </a:p>
        </p:txBody>
      </p:sp>
      <p:sp>
        <p:nvSpPr>
          <p:cNvPr id="33" name="Shape 30"/>
          <p:cNvSpPr/>
          <p:nvPr/>
        </p:nvSpPr>
        <p:spPr>
          <a:xfrm>
            <a:off x="203597" y="2157413"/>
            <a:ext cx="8736806" cy="28217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4" name="Shape 31"/>
          <p:cNvSpPr/>
          <p:nvPr/>
        </p:nvSpPr>
        <p:spPr>
          <a:xfrm>
            <a:off x="278606" y="2218134"/>
            <a:ext cx="220591" cy="16073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5" name="Text 32"/>
          <p:cNvSpPr/>
          <p:nvPr/>
        </p:nvSpPr>
        <p:spPr>
          <a:xfrm>
            <a:off x="278606" y="2218134"/>
            <a:ext cx="220591" cy="160734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E65100"/>
                </a:solidFill>
              </a:rPr>
              <a:t>404</a:t>
            </a:r>
            <a:endParaRPr lang="en-US" sz="534" dirty="0"/>
          </a:p>
        </p:txBody>
      </p:sp>
      <p:sp>
        <p:nvSpPr>
          <p:cNvPr id="36" name="Text 33"/>
          <p:cNvSpPr/>
          <p:nvPr/>
        </p:nvSpPr>
        <p:spPr>
          <a:xfrm>
            <a:off x="1433382" y="2248495"/>
            <a:ext cx="366843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1A3A52"/>
                </a:solidFill>
              </a:rPr>
              <a:t>Not Found</a:t>
            </a:r>
            <a:endParaRPr lang="en-US" sz="485" dirty="0"/>
          </a:p>
        </p:txBody>
      </p:sp>
      <p:sp>
        <p:nvSpPr>
          <p:cNvPr id="37" name="Text 34"/>
          <p:cNvSpPr/>
          <p:nvPr/>
        </p:nvSpPr>
        <p:spPr>
          <a:xfrm>
            <a:off x="2919673" y="2157413"/>
            <a:ext cx="4439869" cy="28217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User not found, endpoint does not exist</a:t>
            </a:r>
            <a:endParaRPr lang="en-US" sz="516" dirty="0"/>
          </a:p>
        </p:txBody>
      </p:sp>
      <p:sp>
        <p:nvSpPr>
          <p:cNvPr id="38" name="Text 35"/>
          <p:cNvSpPr/>
          <p:nvPr/>
        </p:nvSpPr>
        <p:spPr>
          <a:xfrm>
            <a:off x="7359541" y="2157413"/>
            <a:ext cx="1580862" cy="28217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Resource Error</a:t>
            </a:r>
            <a:endParaRPr lang="en-US" sz="516" dirty="0"/>
          </a:p>
        </p:txBody>
      </p:sp>
      <p:sp>
        <p:nvSpPr>
          <p:cNvPr id="39" name="Shape 36"/>
          <p:cNvSpPr/>
          <p:nvPr/>
        </p:nvSpPr>
        <p:spPr>
          <a:xfrm>
            <a:off x="203597" y="2439591"/>
            <a:ext cx="8736806" cy="28217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7"/>
          <p:cNvSpPr/>
          <p:nvPr/>
        </p:nvSpPr>
        <p:spPr>
          <a:xfrm>
            <a:off x="278606" y="2500313"/>
            <a:ext cx="220591" cy="160734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1" name="Text 38"/>
          <p:cNvSpPr/>
          <p:nvPr/>
        </p:nvSpPr>
        <p:spPr>
          <a:xfrm>
            <a:off x="278606" y="2500313"/>
            <a:ext cx="220591" cy="160734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E65100"/>
                </a:solidFill>
              </a:rPr>
              <a:t>429</a:t>
            </a:r>
            <a:endParaRPr lang="en-US" sz="534" dirty="0"/>
          </a:p>
        </p:txBody>
      </p:sp>
      <p:sp>
        <p:nvSpPr>
          <p:cNvPr id="42" name="Text 39"/>
          <p:cNvSpPr/>
          <p:nvPr/>
        </p:nvSpPr>
        <p:spPr>
          <a:xfrm>
            <a:off x="1433382" y="2530673"/>
            <a:ext cx="672657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1A3A52"/>
                </a:solidFill>
              </a:rPr>
              <a:t>Too Many Requests</a:t>
            </a:r>
            <a:endParaRPr lang="en-US" sz="485" dirty="0"/>
          </a:p>
        </p:txBody>
      </p:sp>
      <p:sp>
        <p:nvSpPr>
          <p:cNvPr id="43" name="Text 40"/>
          <p:cNvSpPr/>
          <p:nvPr/>
        </p:nvSpPr>
        <p:spPr>
          <a:xfrm>
            <a:off x="2919673" y="2439591"/>
            <a:ext cx="4439869" cy="28217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Rate limit exceeded (100 requests per 15 minutes)</a:t>
            </a:r>
            <a:endParaRPr lang="en-US" sz="516" dirty="0"/>
          </a:p>
        </p:txBody>
      </p:sp>
      <p:sp>
        <p:nvSpPr>
          <p:cNvPr id="44" name="Text 41"/>
          <p:cNvSpPr/>
          <p:nvPr/>
        </p:nvSpPr>
        <p:spPr>
          <a:xfrm>
            <a:off x="7359541" y="2439591"/>
            <a:ext cx="1580862" cy="28217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Rate Limit Error</a:t>
            </a:r>
            <a:endParaRPr lang="en-US" sz="516" dirty="0"/>
          </a:p>
        </p:txBody>
      </p:sp>
      <p:sp>
        <p:nvSpPr>
          <p:cNvPr id="45" name="Shape 42"/>
          <p:cNvSpPr/>
          <p:nvPr/>
        </p:nvSpPr>
        <p:spPr>
          <a:xfrm>
            <a:off x="203597" y="2721769"/>
            <a:ext cx="8736806" cy="282178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6" name="Shape 43"/>
          <p:cNvSpPr/>
          <p:nvPr/>
        </p:nvSpPr>
        <p:spPr>
          <a:xfrm>
            <a:off x="278606" y="2782491"/>
            <a:ext cx="220591" cy="160734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47" name="Text 44"/>
          <p:cNvSpPr/>
          <p:nvPr/>
        </p:nvSpPr>
        <p:spPr>
          <a:xfrm>
            <a:off x="278606" y="2782491"/>
            <a:ext cx="220591" cy="160734"/>
          </a:xfrm>
          <a:prstGeom prst="rect">
            <a:avLst/>
          </a:prstGeom>
          <a:noFill/>
          <a:ln/>
        </p:spPr>
        <p:txBody>
          <a:bodyPr wrap="none" lIns="51054" tIns="25527" rIns="51054" bIns="25527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C62828"/>
                </a:solidFill>
              </a:rPr>
              <a:t>500</a:t>
            </a:r>
            <a:endParaRPr lang="en-US" sz="534" dirty="0"/>
          </a:p>
        </p:txBody>
      </p:sp>
      <p:sp>
        <p:nvSpPr>
          <p:cNvPr id="48" name="Text 45"/>
          <p:cNvSpPr/>
          <p:nvPr/>
        </p:nvSpPr>
        <p:spPr>
          <a:xfrm>
            <a:off x="1433382" y="2812852"/>
            <a:ext cx="41899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485" b="1" dirty="0">
                <a:solidFill>
                  <a:srgbClr val="1A3A52"/>
                </a:solidFill>
              </a:rPr>
              <a:t>Server Error</a:t>
            </a:r>
            <a:endParaRPr lang="en-US" sz="485" dirty="0"/>
          </a:p>
        </p:txBody>
      </p:sp>
      <p:sp>
        <p:nvSpPr>
          <p:cNvPr id="49" name="Text 46"/>
          <p:cNvSpPr/>
          <p:nvPr/>
        </p:nvSpPr>
        <p:spPr>
          <a:xfrm>
            <a:off x="2919673" y="2721769"/>
            <a:ext cx="4439869" cy="28217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Database connection failure, unexpected server error</a:t>
            </a:r>
            <a:endParaRPr lang="en-US" sz="516" dirty="0"/>
          </a:p>
        </p:txBody>
      </p:sp>
      <p:sp>
        <p:nvSpPr>
          <p:cNvPr id="50" name="Text 47"/>
          <p:cNvSpPr/>
          <p:nvPr/>
        </p:nvSpPr>
        <p:spPr>
          <a:xfrm>
            <a:off x="7359541" y="2721769"/>
            <a:ext cx="1580862" cy="282178"/>
          </a:xfrm>
          <a:prstGeom prst="rect">
            <a:avLst/>
          </a:prstGeom>
          <a:noFill/>
          <a:ln/>
        </p:spPr>
        <p:txBody>
          <a:bodyPr wrap="square" lIns="85090" tIns="68072" rIns="85090" bIns="68072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Server Error</a:t>
            </a:r>
            <a:endParaRPr lang="en-US" sz="516" dirty="0"/>
          </a:p>
        </p:txBody>
      </p:sp>
      <p:sp>
        <p:nvSpPr>
          <p:cNvPr id="51" name="Shape 48"/>
          <p:cNvSpPr/>
          <p:nvPr/>
        </p:nvSpPr>
        <p:spPr>
          <a:xfrm>
            <a:off x="200025" y="3178969"/>
            <a:ext cx="8743950" cy="21557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200025" y="3178969"/>
            <a:ext cx="8743950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53" name="Shape 50"/>
          <p:cNvSpPr/>
          <p:nvPr/>
        </p:nvSpPr>
        <p:spPr>
          <a:xfrm>
            <a:off x="200025" y="3264694"/>
            <a:ext cx="4329113" cy="108785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4" name="Shape 51"/>
          <p:cNvSpPr/>
          <p:nvPr/>
        </p:nvSpPr>
        <p:spPr>
          <a:xfrm>
            <a:off x="200025" y="3264694"/>
            <a:ext cx="28575" cy="1087859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55" name="Text 52"/>
          <p:cNvSpPr/>
          <p:nvPr/>
        </p:nvSpPr>
        <p:spPr>
          <a:xfrm>
            <a:off x="271463" y="3336131"/>
            <a:ext cx="418623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A3A52"/>
                </a:solidFill>
              </a:rPr>
              <a:t>Example: Validation Error (400)</a:t>
            </a:r>
            <a:endParaRPr lang="en-US" sz="534" dirty="0"/>
          </a:p>
        </p:txBody>
      </p:sp>
      <p:sp>
        <p:nvSpPr>
          <p:cNvPr id="56" name="Shape 53"/>
          <p:cNvSpPr/>
          <p:nvPr/>
        </p:nvSpPr>
        <p:spPr>
          <a:xfrm>
            <a:off x="271463" y="3496866"/>
            <a:ext cx="4186238" cy="634231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57" name="Text 54"/>
          <p:cNvSpPr/>
          <p:nvPr/>
        </p:nvSpPr>
        <p:spPr>
          <a:xfrm>
            <a:off x="271463" y="3496866"/>
            <a:ext cx="4186238" cy="634231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{</a:t>
            </a:r>
            <a:endParaRPr lang="en-US" sz="411" dirty="0"/>
          </a:p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  "status": "error",</a:t>
            </a:r>
            <a:endParaRPr lang="en-US" sz="411" dirty="0"/>
          </a:p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  "message": "Validation failed",</a:t>
            </a:r>
            <a:endParaRPr lang="en-US" sz="411" dirty="0"/>
          </a:p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  "errors": {</a:t>
            </a:r>
            <a:endParaRPr lang="en-US" sz="411" dirty="0"/>
          </a:p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    "email": "Invalid",</a:t>
            </a:r>
            <a:endParaRPr lang="en-US" sz="411" dirty="0"/>
          </a:p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    "password": "Too weak"</a:t>
            </a:r>
            <a:endParaRPr lang="en-US" sz="411" dirty="0"/>
          </a:p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  }</a:t>
            </a:r>
            <a:endParaRPr lang="en-US" sz="411" dirty="0"/>
          </a:p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}</a:t>
            </a:r>
            <a:endParaRPr lang="en-US" sz="411" dirty="0"/>
          </a:p>
        </p:txBody>
      </p:sp>
      <p:sp>
        <p:nvSpPr>
          <p:cNvPr id="58" name="Text 55"/>
          <p:cNvSpPr/>
          <p:nvPr/>
        </p:nvSpPr>
        <p:spPr>
          <a:xfrm>
            <a:off x="271463" y="4173959"/>
            <a:ext cx="41862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Invalid input format or missing required fields</a:t>
            </a:r>
            <a:endParaRPr lang="en-US" sz="516" dirty="0"/>
          </a:p>
        </p:txBody>
      </p:sp>
      <p:sp>
        <p:nvSpPr>
          <p:cNvPr id="59" name="Shape 56"/>
          <p:cNvSpPr/>
          <p:nvPr/>
        </p:nvSpPr>
        <p:spPr>
          <a:xfrm>
            <a:off x="4614863" y="3264694"/>
            <a:ext cx="4329113" cy="108785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0" name="Shape 57"/>
          <p:cNvSpPr/>
          <p:nvPr/>
        </p:nvSpPr>
        <p:spPr>
          <a:xfrm>
            <a:off x="4614863" y="3264694"/>
            <a:ext cx="28575" cy="1087859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61" name="Text 58"/>
          <p:cNvSpPr/>
          <p:nvPr/>
        </p:nvSpPr>
        <p:spPr>
          <a:xfrm>
            <a:off x="4686300" y="3336131"/>
            <a:ext cx="418623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A3A52"/>
                </a:solidFill>
              </a:rPr>
              <a:t>Example: Authentication Error (401)</a:t>
            </a:r>
            <a:endParaRPr lang="en-US" sz="534" dirty="0"/>
          </a:p>
        </p:txBody>
      </p:sp>
      <p:sp>
        <p:nvSpPr>
          <p:cNvPr id="62" name="Shape 59"/>
          <p:cNvSpPr/>
          <p:nvPr/>
        </p:nvSpPr>
        <p:spPr>
          <a:xfrm>
            <a:off x="4686300" y="3496866"/>
            <a:ext cx="4186238" cy="428541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63" name="Text 60"/>
          <p:cNvSpPr/>
          <p:nvPr/>
        </p:nvSpPr>
        <p:spPr>
          <a:xfrm>
            <a:off x="4686300" y="3496866"/>
            <a:ext cx="4186238" cy="428541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{</a:t>
            </a:r>
            <a:endParaRPr lang="en-US" sz="411" dirty="0"/>
          </a:p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  "status": "error",</a:t>
            </a:r>
            <a:endParaRPr lang="en-US" sz="411" dirty="0"/>
          </a:p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  "message": "Invalid credentials",</a:t>
            </a:r>
            <a:endParaRPr lang="en-US" sz="411" dirty="0"/>
          </a:p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  "code": "AUTH_FAILED"</a:t>
            </a:r>
            <a:endParaRPr lang="en-US" sz="411" dirty="0"/>
          </a:p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}</a:t>
            </a:r>
            <a:endParaRPr lang="en-US" sz="411" dirty="0"/>
          </a:p>
        </p:txBody>
      </p:sp>
      <p:sp>
        <p:nvSpPr>
          <p:cNvPr id="64" name="Text 61"/>
          <p:cNvSpPr/>
          <p:nvPr/>
        </p:nvSpPr>
        <p:spPr>
          <a:xfrm>
            <a:off x="4686300" y="3968269"/>
            <a:ext cx="41862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Wrong password, expired token, or missing credentials</a:t>
            </a:r>
            <a:endParaRPr lang="en-US" sz="516" dirty="0"/>
          </a:p>
        </p:txBody>
      </p:sp>
      <p:sp>
        <p:nvSpPr>
          <p:cNvPr id="65" name="Shape 62"/>
          <p:cNvSpPr/>
          <p:nvPr/>
        </p:nvSpPr>
        <p:spPr>
          <a:xfrm>
            <a:off x="200025" y="4438278"/>
            <a:ext cx="4329113" cy="88216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6" name="Shape 63"/>
          <p:cNvSpPr/>
          <p:nvPr/>
        </p:nvSpPr>
        <p:spPr>
          <a:xfrm>
            <a:off x="200025" y="4438278"/>
            <a:ext cx="28575" cy="882169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67" name="Text 64"/>
          <p:cNvSpPr/>
          <p:nvPr/>
        </p:nvSpPr>
        <p:spPr>
          <a:xfrm>
            <a:off x="271463" y="4509715"/>
            <a:ext cx="418623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A3A52"/>
                </a:solidFill>
              </a:rPr>
              <a:t>Example: Not Found Error (404)</a:t>
            </a:r>
            <a:endParaRPr lang="en-US" sz="534" dirty="0"/>
          </a:p>
        </p:txBody>
      </p:sp>
      <p:sp>
        <p:nvSpPr>
          <p:cNvPr id="68" name="Shape 65"/>
          <p:cNvSpPr/>
          <p:nvPr/>
        </p:nvSpPr>
        <p:spPr>
          <a:xfrm>
            <a:off x="271463" y="4670450"/>
            <a:ext cx="4186238" cy="428541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69" name="Text 66"/>
          <p:cNvSpPr/>
          <p:nvPr/>
        </p:nvSpPr>
        <p:spPr>
          <a:xfrm>
            <a:off x="271463" y="4670450"/>
            <a:ext cx="4186238" cy="428541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{</a:t>
            </a:r>
            <a:endParaRPr lang="en-US" sz="411" dirty="0"/>
          </a:p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  "status": "error",</a:t>
            </a:r>
            <a:endParaRPr lang="en-US" sz="411" dirty="0"/>
          </a:p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  "message": "User not found",</a:t>
            </a:r>
            <a:endParaRPr lang="en-US" sz="411" dirty="0"/>
          </a:p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  "code": "USER_NOT_FOUND"</a:t>
            </a:r>
            <a:endParaRPr lang="en-US" sz="411" dirty="0"/>
          </a:p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}</a:t>
            </a:r>
            <a:endParaRPr lang="en-US" sz="411" dirty="0"/>
          </a:p>
        </p:txBody>
      </p:sp>
      <p:sp>
        <p:nvSpPr>
          <p:cNvPr id="70" name="Text 67"/>
          <p:cNvSpPr/>
          <p:nvPr/>
        </p:nvSpPr>
        <p:spPr>
          <a:xfrm>
            <a:off x="271463" y="5141854"/>
            <a:ext cx="41862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Requested resource does not exist in database</a:t>
            </a:r>
            <a:endParaRPr lang="en-US" sz="516" dirty="0"/>
          </a:p>
        </p:txBody>
      </p:sp>
      <p:sp>
        <p:nvSpPr>
          <p:cNvPr id="71" name="Shape 68"/>
          <p:cNvSpPr/>
          <p:nvPr/>
        </p:nvSpPr>
        <p:spPr>
          <a:xfrm>
            <a:off x="4614863" y="4438278"/>
            <a:ext cx="4329113" cy="882169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2" name="Shape 69"/>
          <p:cNvSpPr/>
          <p:nvPr/>
        </p:nvSpPr>
        <p:spPr>
          <a:xfrm>
            <a:off x="4614863" y="4438278"/>
            <a:ext cx="28575" cy="882169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73" name="Text 70"/>
          <p:cNvSpPr/>
          <p:nvPr/>
        </p:nvSpPr>
        <p:spPr>
          <a:xfrm>
            <a:off x="4686300" y="4509715"/>
            <a:ext cx="418623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34" b="1" dirty="0">
                <a:solidFill>
                  <a:srgbClr val="1A3A52"/>
                </a:solidFill>
              </a:rPr>
              <a:t>Example: Rate Limit Error (429)</a:t>
            </a:r>
            <a:endParaRPr lang="en-US" sz="534" dirty="0"/>
          </a:p>
        </p:txBody>
      </p:sp>
      <p:sp>
        <p:nvSpPr>
          <p:cNvPr id="74" name="Shape 71"/>
          <p:cNvSpPr/>
          <p:nvPr/>
        </p:nvSpPr>
        <p:spPr>
          <a:xfrm>
            <a:off x="4686300" y="4670450"/>
            <a:ext cx="4186238" cy="428541"/>
          </a:xfrm>
          <a:prstGeom prst="rect">
            <a:avLst/>
          </a:prstGeom>
          <a:solidFill>
            <a:srgbClr val="1A3A52"/>
          </a:solidFill>
          <a:ln/>
        </p:spPr>
      </p:sp>
      <p:sp>
        <p:nvSpPr>
          <p:cNvPr id="75" name="Text 72"/>
          <p:cNvSpPr/>
          <p:nvPr/>
        </p:nvSpPr>
        <p:spPr>
          <a:xfrm>
            <a:off x="4686300" y="4670450"/>
            <a:ext cx="4186238" cy="428541"/>
          </a:xfrm>
          <a:prstGeom prst="rect">
            <a:avLst/>
          </a:prstGeom>
          <a:noFill/>
          <a:ln/>
        </p:spPr>
        <p:txBody>
          <a:bodyPr wrap="square" lIns="51054" tIns="51054" rIns="51054" bIns="51054" rtlCol="0" anchor="t">
            <a:spAutoFit/>
          </a:bodyPr>
          <a:lstStyle/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{</a:t>
            </a:r>
            <a:endParaRPr lang="en-US" sz="411" dirty="0"/>
          </a:p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  "status": "error",</a:t>
            </a:r>
            <a:endParaRPr lang="en-US" sz="411" dirty="0"/>
          </a:p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  "message": "Too many requests",</a:t>
            </a:r>
            <a:endParaRPr lang="en-US" sz="411" dirty="0"/>
          </a:p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  "retryAfter": 900</a:t>
            </a:r>
            <a:endParaRPr lang="en-US" sz="411" dirty="0"/>
          </a:p>
          <a:p>
            <a:pPr algn="l" indent="0" marL="0">
              <a:lnSpc>
                <a:spcPts val="500"/>
              </a:lnSpc>
              <a:buNone/>
            </a:pPr>
            <a:r>
              <a:rPr lang="en-US" sz="411" dirty="0">
                <a:solidFill>
                  <a:srgbClr val="00FF00"/>
                </a:solidFill>
              </a:rPr>
              <a:t>}</a:t>
            </a:r>
            <a:endParaRPr lang="en-US" sz="411" dirty="0"/>
          </a:p>
        </p:txBody>
      </p:sp>
      <p:sp>
        <p:nvSpPr>
          <p:cNvPr id="76" name="Text 73"/>
          <p:cNvSpPr/>
          <p:nvPr/>
        </p:nvSpPr>
        <p:spPr>
          <a:xfrm>
            <a:off x="4686300" y="5141854"/>
            <a:ext cx="418623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Exceeded rate limit, retry after 15 minutes</a:t>
            </a:r>
            <a:endParaRPr lang="en-US" sz="516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170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285750"/>
            <a:ext cx="3990091" cy="521494"/>
          </a:xfrm>
          <a:prstGeom prst="rect">
            <a:avLst/>
          </a:prstGeom>
          <a:noFill/>
          <a:ln/>
        </p:spPr>
        <p:txBody>
          <a:bodyPr wrap="none" lIns="0" tIns="0" rIns="0" bIns="127508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8" b="1" dirty="0">
                <a:solidFill>
                  <a:srgbClr val="1A3A52"/>
                </a:solidFill>
              </a:rPr>
              <a:t>Getting Started and Next Steps</a:t>
            </a:r>
            <a:endParaRPr lang="en-US" sz="1808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1007269"/>
            <a:ext cx="128588" cy="12858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88" y="985838"/>
            <a:ext cx="116632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D7EA8"/>
                </a:solidFill>
              </a:rPr>
              <a:t>Quick Start Timeline</a:t>
            </a:r>
            <a:endParaRPr lang="en-US" sz="784" dirty="0"/>
          </a:p>
        </p:txBody>
      </p:sp>
      <p:sp>
        <p:nvSpPr>
          <p:cNvPr id="6" name="Shape 2"/>
          <p:cNvSpPr/>
          <p:nvPr/>
        </p:nvSpPr>
        <p:spPr>
          <a:xfrm>
            <a:off x="285750" y="1335881"/>
            <a:ext cx="357188" cy="357188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7" name="Text 3"/>
          <p:cNvSpPr/>
          <p:nvPr/>
        </p:nvSpPr>
        <p:spPr>
          <a:xfrm>
            <a:off x="285750" y="133588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1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750094" y="1335881"/>
            <a:ext cx="123076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Extract &amp; Install</a:t>
            </a:r>
            <a:endParaRPr lang="en-US" sz="634" dirty="0"/>
          </a:p>
        </p:txBody>
      </p:sp>
      <p:sp>
        <p:nvSpPr>
          <p:cNvPr id="9" name="Text 5"/>
          <p:cNvSpPr/>
          <p:nvPr/>
        </p:nvSpPr>
        <p:spPr>
          <a:xfrm>
            <a:off x="750094" y="1503759"/>
            <a:ext cx="1230762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Unzip service and run npm install</a:t>
            </a:r>
            <a:endParaRPr lang="en-US" sz="568" dirty="0"/>
          </a:p>
        </p:txBody>
      </p:sp>
      <p:sp>
        <p:nvSpPr>
          <p:cNvPr id="10" name="Text 6"/>
          <p:cNvSpPr/>
          <p:nvPr/>
        </p:nvSpPr>
        <p:spPr>
          <a:xfrm>
            <a:off x="750094" y="1642337"/>
            <a:ext cx="123076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⏱ 2 minutes</a:t>
            </a:r>
            <a:endParaRPr lang="en-US" sz="584" dirty="0"/>
          </a:p>
        </p:txBody>
      </p:sp>
      <p:sp>
        <p:nvSpPr>
          <p:cNvPr id="11" name="Shape 7"/>
          <p:cNvSpPr/>
          <p:nvPr/>
        </p:nvSpPr>
        <p:spPr>
          <a:xfrm>
            <a:off x="285750" y="1878081"/>
            <a:ext cx="357188" cy="357188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12" name="Text 8"/>
          <p:cNvSpPr/>
          <p:nvPr/>
        </p:nvSpPr>
        <p:spPr>
          <a:xfrm>
            <a:off x="285750" y="1878081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2</a:t>
            </a:r>
            <a:endParaRPr lang="en-US" sz="987" dirty="0"/>
          </a:p>
        </p:txBody>
      </p:sp>
      <p:sp>
        <p:nvSpPr>
          <p:cNvPr id="13" name="Text 9"/>
          <p:cNvSpPr/>
          <p:nvPr/>
        </p:nvSpPr>
        <p:spPr>
          <a:xfrm>
            <a:off x="750094" y="1878081"/>
            <a:ext cx="1901828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Configure Environment</a:t>
            </a:r>
            <a:endParaRPr lang="en-US" sz="634" dirty="0"/>
          </a:p>
        </p:txBody>
      </p:sp>
      <p:sp>
        <p:nvSpPr>
          <p:cNvPr id="14" name="Text 10"/>
          <p:cNvSpPr/>
          <p:nvPr/>
        </p:nvSpPr>
        <p:spPr>
          <a:xfrm>
            <a:off x="750094" y="2045959"/>
            <a:ext cx="1901828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Copy example.env and update database credentials</a:t>
            </a:r>
            <a:endParaRPr lang="en-US" sz="568" dirty="0"/>
          </a:p>
        </p:txBody>
      </p:sp>
      <p:sp>
        <p:nvSpPr>
          <p:cNvPr id="15" name="Text 11"/>
          <p:cNvSpPr/>
          <p:nvPr/>
        </p:nvSpPr>
        <p:spPr>
          <a:xfrm>
            <a:off x="750094" y="2184536"/>
            <a:ext cx="190182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⏱ 1 minute</a:t>
            </a:r>
            <a:endParaRPr lang="en-US" sz="584" dirty="0"/>
          </a:p>
        </p:txBody>
      </p:sp>
      <p:sp>
        <p:nvSpPr>
          <p:cNvPr id="16" name="Shape 12"/>
          <p:cNvSpPr/>
          <p:nvPr/>
        </p:nvSpPr>
        <p:spPr>
          <a:xfrm>
            <a:off x="285750" y="2420280"/>
            <a:ext cx="357188" cy="357188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17" name="Text 13"/>
          <p:cNvSpPr/>
          <p:nvPr/>
        </p:nvSpPr>
        <p:spPr>
          <a:xfrm>
            <a:off x="285750" y="2420280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3</a:t>
            </a:r>
            <a:endParaRPr lang="en-US" sz="987" dirty="0"/>
          </a:p>
        </p:txBody>
      </p:sp>
      <p:sp>
        <p:nvSpPr>
          <p:cNvPr id="18" name="Text 14"/>
          <p:cNvSpPr/>
          <p:nvPr/>
        </p:nvSpPr>
        <p:spPr>
          <a:xfrm>
            <a:off x="750094" y="2420280"/>
            <a:ext cx="152337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Start Service</a:t>
            </a:r>
            <a:endParaRPr lang="en-US" sz="634" dirty="0"/>
          </a:p>
        </p:txBody>
      </p:sp>
      <p:sp>
        <p:nvSpPr>
          <p:cNvPr id="19" name="Text 15"/>
          <p:cNvSpPr/>
          <p:nvPr/>
        </p:nvSpPr>
        <p:spPr>
          <a:xfrm>
            <a:off x="750094" y="2588158"/>
            <a:ext cx="1523377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Run npm start and verify health endpoint</a:t>
            </a:r>
            <a:endParaRPr lang="en-US" sz="568" dirty="0"/>
          </a:p>
        </p:txBody>
      </p:sp>
      <p:sp>
        <p:nvSpPr>
          <p:cNvPr id="20" name="Text 16"/>
          <p:cNvSpPr/>
          <p:nvPr/>
        </p:nvSpPr>
        <p:spPr>
          <a:xfrm>
            <a:off x="750094" y="2726736"/>
            <a:ext cx="152337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⏱ 1 minute</a:t>
            </a:r>
            <a:endParaRPr lang="en-US" sz="584" dirty="0"/>
          </a:p>
        </p:txBody>
      </p:sp>
      <p:sp>
        <p:nvSpPr>
          <p:cNvPr id="21" name="Shape 17"/>
          <p:cNvSpPr/>
          <p:nvPr/>
        </p:nvSpPr>
        <p:spPr>
          <a:xfrm>
            <a:off x="285750" y="2962480"/>
            <a:ext cx="357188" cy="357188"/>
          </a:xfrm>
          <a:prstGeom prst="ellipse">
            <a:avLst/>
          </a:prstGeom>
          <a:solidFill>
            <a:srgbClr val="0D7EA8"/>
          </a:solidFill>
          <a:ln/>
        </p:spPr>
      </p:sp>
      <p:sp>
        <p:nvSpPr>
          <p:cNvPr id="22" name="Text 18"/>
          <p:cNvSpPr/>
          <p:nvPr/>
        </p:nvSpPr>
        <p:spPr>
          <a:xfrm>
            <a:off x="285750" y="2962480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4</a:t>
            </a:r>
            <a:endParaRPr lang="en-US" sz="987" dirty="0"/>
          </a:p>
        </p:txBody>
      </p:sp>
      <p:sp>
        <p:nvSpPr>
          <p:cNvPr id="23" name="Text 19"/>
          <p:cNvSpPr/>
          <p:nvPr/>
        </p:nvSpPr>
        <p:spPr>
          <a:xfrm>
            <a:off x="750094" y="2962480"/>
            <a:ext cx="1565597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Test with Postman</a:t>
            </a:r>
            <a:endParaRPr lang="en-US" sz="634" dirty="0"/>
          </a:p>
        </p:txBody>
      </p:sp>
      <p:sp>
        <p:nvSpPr>
          <p:cNvPr id="24" name="Text 20"/>
          <p:cNvSpPr/>
          <p:nvPr/>
        </p:nvSpPr>
        <p:spPr>
          <a:xfrm>
            <a:off x="750094" y="3130358"/>
            <a:ext cx="1565597" cy="1100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Import collection and run automated tests</a:t>
            </a:r>
            <a:endParaRPr lang="en-US" sz="568" dirty="0"/>
          </a:p>
        </p:txBody>
      </p:sp>
      <p:sp>
        <p:nvSpPr>
          <p:cNvPr id="25" name="Text 21"/>
          <p:cNvSpPr/>
          <p:nvPr/>
        </p:nvSpPr>
        <p:spPr>
          <a:xfrm>
            <a:off x="750094" y="3268935"/>
            <a:ext cx="15655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F39C12"/>
                </a:solidFill>
              </a:rPr>
              <a:t>⏱ 2 minutes</a:t>
            </a:r>
            <a:endParaRPr lang="en-US" sz="584" dirty="0"/>
          </a:p>
        </p:txBody>
      </p:sp>
      <p:sp>
        <p:nvSpPr>
          <p:cNvPr id="26" name="Shape 22"/>
          <p:cNvSpPr/>
          <p:nvPr/>
        </p:nvSpPr>
        <p:spPr>
          <a:xfrm>
            <a:off x="285750" y="3576117"/>
            <a:ext cx="4161234" cy="328613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7" name="Shape 23"/>
          <p:cNvSpPr/>
          <p:nvPr/>
        </p:nvSpPr>
        <p:spPr>
          <a:xfrm>
            <a:off x="285750" y="3576117"/>
            <a:ext cx="28575" cy="328613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3681487"/>
            <a:ext cx="85725" cy="8572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57200" y="3667199"/>
            <a:ext cx="128314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0D7EA8"/>
                </a:solidFill>
              </a:rPr>
              <a:t>Total Setup Time: 5-6 minutes</a:t>
            </a:r>
            <a:endParaRPr lang="en-US" sz="584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7016" y="1007269"/>
            <a:ext cx="112514" cy="1285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866680" y="985838"/>
            <a:ext cx="81427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D7EA8"/>
                </a:solidFill>
              </a:rPr>
              <a:t>Key Resources</a:t>
            </a:r>
            <a:endParaRPr lang="en-US" sz="784" dirty="0"/>
          </a:p>
        </p:txBody>
      </p:sp>
      <p:sp>
        <p:nvSpPr>
          <p:cNvPr id="32" name="Shape 26"/>
          <p:cNvSpPr/>
          <p:nvPr/>
        </p:nvSpPr>
        <p:spPr>
          <a:xfrm>
            <a:off x="4697016" y="1314450"/>
            <a:ext cx="4161234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3" name="Shape 27"/>
          <p:cNvSpPr/>
          <p:nvPr/>
        </p:nvSpPr>
        <p:spPr>
          <a:xfrm>
            <a:off x="4697016" y="1314450"/>
            <a:ext cx="35719" cy="457200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34" name="Shape 28"/>
          <p:cNvSpPr/>
          <p:nvPr/>
        </p:nvSpPr>
        <p:spPr>
          <a:xfrm>
            <a:off x="4782741" y="1400175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7395" y="1478756"/>
            <a:ext cx="96441" cy="12858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154216" y="1400175"/>
            <a:ext cx="209763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API Documentation</a:t>
            </a:r>
            <a:endParaRPr lang="en-US" sz="584" dirty="0"/>
          </a:p>
        </p:txBody>
      </p:sp>
      <p:sp>
        <p:nvSpPr>
          <p:cNvPr id="37" name="Text 30"/>
          <p:cNvSpPr/>
          <p:nvPr/>
        </p:nvSpPr>
        <p:spPr>
          <a:xfrm>
            <a:off x="5154216" y="1550194"/>
            <a:ext cx="209763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Complete endpoint reference with request/response examples</a:t>
            </a:r>
            <a:endParaRPr lang="en-US" sz="516" dirty="0"/>
          </a:p>
        </p:txBody>
      </p:sp>
      <p:sp>
        <p:nvSpPr>
          <p:cNvPr id="38" name="Shape 31"/>
          <p:cNvSpPr/>
          <p:nvPr/>
        </p:nvSpPr>
        <p:spPr>
          <a:xfrm>
            <a:off x="4697016" y="1857375"/>
            <a:ext cx="4161234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9" name="Shape 32"/>
          <p:cNvSpPr/>
          <p:nvPr/>
        </p:nvSpPr>
        <p:spPr>
          <a:xfrm>
            <a:off x="4697016" y="1857375"/>
            <a:ext cx="35719" cy="457200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40" name="Shape 33"/>
          <p:cNvSpPr/>
          <p:nvPr/>
        </p:nvSpPr>
        <p:spPr>
          <a:xfrm>
            <a:off x="4782741" y="1943100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9359" y="2021681"/>
            <a:ext cx="112514" cy="128588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154216" y="1943100"/>
            <a:ext cx="174458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Postman Collection</a:t>
            </a:r>
            <a:endParaRPr lang="en-US" sz="584" dirty="0"/>
          </a:p>
        </p:txBody>
      </p:sp>
      <p:sp>
        <p:nvSpPr>
          <p:cNvPr id="43" name="Text 35"/>
          <p:cNvSpPr/>
          <p:nvPr/>
        </p:nvSpPr>
        <p:spPr>
          <a:xfrm>
            <a:off x="5154216" y="2093119"/>
            <a:ext cx="174458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Pre-configured requests with automated test scripts</a:t>
            </a:r>
            <a:endParaRPr lang="en-US" sz="516" dirty="0"/>
          </a:p>
        </p:txBody>
      </p:sp>
      <p:sp>
        <p:nvSpPr>
          <p:cNvPr id="44" name="Shape 36"/>
          <p:cNvSpPr/>
          <p:nvPr/>
        </p:nvSpPr>
        <p:spPr>
          <a:xfrm>
            <a:off x="4697016" y="2400300"/>
            <a:ext cx="4161234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5" name="Shape 37"/>
          <p:cNvSpPr/>
          <p:nvPr/>
        </p:nvSpPr>
        <p:spPr>
          <a:xfrm>
            <a:off x="4697016" y="2400300"/>
            <a:ext cx="35719" cy="457200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46" name="Shape 38"/>
          <p:cNvSpPr/>
          <p:nvPr/>
        </p:nvSpPr>
        <p:spPr>
          <a:xfrm>
            <a:off x="4782741" y="2486025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5248" y="2564606"/>
            <a:ext cx="160734" cy="128588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5154216" y="2486025"/>
            <a:ext cx="169736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Source Code</a:t>
            </a:r>
            <a:endParaRPr lang="en-US" sz="584" dirty="0"/>
          </a:p>
        </p:txBody>
      </p:sp>
      <p:sp>
        <p:nvSpPr>
          <p:cNvPr id="49" name="Text 40"/>
          <p:cNvSpPr/>
          <p:nvPr/>
        </p:nvSpPr>
        <p:spPr>
          <a:xfrm>
            <a:off x="5154216" y="2636044"/>
            <a:ext cx="1697366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Well-documented codebase with clear architecture</a:t>
            </a:r>
            <a:endParaRPr lang="en-US" sz="516" dirty="0"/>
          </a:p>
        </p:txBody>
      </p:sp>
      <p:sp>
        <p:nvSpPr>
          <p:cNvPr id="50" name="Shape 41"/>
          <p:cNvSpPr/>
          <p:nvPr/>
        </p:nvSpPr>
        <p:spPr>
          <a:xfrm>
            <a:off x="4697016" y="2943225"/>
            <a:ext cx="4161234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1" name="Shape 42"/>
          <p:cNvSpPr/>
          <p:nvPr/>
        </p:nvSpPr>
        <p:spPr>
          <a:xfrm>
            <a:off x="4697016" y="2943225"/>
            <a:ext cx="35719" cy="457200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52" name="Shape 43"/>
          <p:cNvSpPr/>
          <p:nvPr/>
        </p:nvSpPr>
        <p:spPr>
          <a:xfrm>
            <a:off x="4782741" y="3028950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1322" y="3107531"/>
            <a:ext cx="128588" cy="128588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5154216" y="3028950"/>
            <a:ext cx="20519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Security Guide</a:t>
            </a:r>
            <a:endParaRPr lang="en-US" sz="584" dirty="0"/>
          </a:p>
        </p:txBody>
      </p:sp>
      <p:sp>
        <p:nvSpPr>
          <p:cNvPr id="55" name="Text 45"/>
          <p:cNvSpPr/>
          <p:nvPr/>
        </p:nvSpPr>
        <p:spPr>
          <a:xfrm>
            <a:off x="5154216" y="3178969"/>
            <a:ext cx="205190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Best practices and production deployment recommendations</a:t>
            </a:r>
            <a:endParaRPr lang="en-US" sz="516" dirty="0"/>
          </a:p>
        </p:txBody>
      </p:sp>
      <p:sp>
        <p:nvSpPr>
          <p:cNvPr id="56" name="Shape 46"/>
          <p:cNvSpPr/>
          <p:nvPr/>
        </p:nvSpPr>
        <p:spPr>
          <a:xfrm>
            <a:off x="4697016" y="3486150"/>
            <a:ext cx="4161234" cy="4572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7" name="Shape 47"/>
          <p:cNvSpPr/>
          <p:nvPr/>
        </p:nvSpPr>
        <p:spPr>
          <a:xfrm>
            <a:off x="4697016" y="3486150"/>
            <a:ext cx="35719" cy="457200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58" name="Shape 48"/>
          <p:cNvSpPr/>
          <p:nvPr/>
        </p:nvSpPr>
        <p:spPr>
          <a:xfrm>
            <a:off x="4782741" y="3571875"/>
            <a:ext cx="285750" cy="285750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9359" y="3650456"/>
            <a:ext cx="112514" cy="128588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5154216" y="3571875"/>
            <a:ext cx="158192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84" b="1" dirty="0">
                <a:solidFill>
                  <a:srgbClr val="1A3A52"/>
                </a:solidFill>
              </a:rPr>
              <a:t>Database Schema</a:t>
            </a:r>
            <a:endParaRPr lang="en-US" sz="584" dirty="0"/>
          </a:p>
        </p:txBody>
      </p:sp>
      <p:sp>
        <p:nvSpPr>
          <p:cNvPr id="61" name="Text 50"/>
          <p:cNvSpPr/>
          <p:nvPr/>
        </p:nvSpPr>
        <p:spPr>
          <a:xfrm>
            <a:off x="5154216" y="3721894"/>
            <a:ext cx="1581922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700"/>
              </a:lnSpc>
              <a:buNone/>
            </a:pPr>
            <a:r>
              <a:rPr lang="en-US" sz="516" dirty="0">
                <a:solidFill>
                  <a:srgbClr val="555555"/>
                </a:solidFill>
              </a:rPr>
              <a:t>SQL schema with migration scripts and indexes</a:t>
            </a:r>
            <a:endParaRPr lang="en-US" sz="516" dirty="0"/>
          </a:p>
        </p:txBody>
      </p:sp>
      <p:sp>
        <p:nvSpPr>
          <p:cNvPr id="62" name="Shape 51"/>
          <p:cNvSpPr/>
          <p:nvPr/>
        </p:nvSpPr>
        <p:spPr>
          <a:xfrm>
            <a:off x="285750" y="4121944"/>
            <a:ext cx="8572500" cy="80936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3" name="Shape 52"/>
          <p:cNvSpPr/>
          <p:nvPr/>
        </p:nvSpPr>
        <p:spPr>
          <a:xfrm>
            <a:off x="285750" y="4121944"/>
            <a:ext cx="8572500" cy="14288"/>
          </a:xfrm>
          <a:prstGeom prst="rect">
            <a:avLst/>
          </a:prstGeom>
          <a:solidFill>
            <a:srgbClr val="ECF0F1"/>
          </a:solidFill>
          <a:ln/>
        </p:spPr>
      </p:sp>
      <p:sp>
        <p:nvSpPr>
          <p:cNvPr id="64" name="Shape 53"/>
          <p:cNvSpPr/>
          <p:nvPr/>
        </p:nvSpPr>
        <p:spPr>
          <a:xfrm>
            <a:off x="285750" y="4300538"/>
            <a:ext cx="321469" cy="321469"/>
          </a:xfrm>
          <a:prstGeom prst="rect">
            <a:avLst/>
          </a:prstGeom>
          <a:solidFill>
            <a:srgbClr val="F39C12"/>
          </a:solidFill>
          <a:ln/>
        </p:spPr>
      </p:sp>
      <p:pic>
        <p:nvPicPr>
          <p:cNvPr id="6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7188" y="4389834"/>
            <a:ext cx="178594" cy="142875"/>
          </a:xfrm>
          <a:prstGeom prst="rect">
            <a:avLst/>
          </a:prstGeom>
        </p:spPr>
      </p:pic>
      <p:sp>
        <p:nvSpPr>
          <p:cNvPr id="66" name="Text 54"/>
          <p:cNvSpPr/>
          <p:nvPr/>
        </p:nvSpPr>
        <p:spPr>
          <a:xfrm>
            <a:off x="692944" y="4300538"/>
            <a:ext cx="37719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Team Collaboration</a:t>
            </a:r>
            <a:endParaRPr lang="en-US" sz="634" dirty="0"/>
          </a:p>
        </p:txBody>
      </p:sp>
      <p:sp>
        <p:nvSpPr>
          <p:cNvPr id="67" name="Text 55"/>
          <p:cNvSpPr/>
          <p:nvPr/>
        </p:nvSpPr>
        <p:spPr>
          <a:xfrm>
            <a:off x="692944" y="4468416"/>
            <a:ext cx="3771900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Share documentation with backend, frontend, and QA teams. Use Postman collection for collaborative testing and API validation across environments.</a:t>
            </a:r>
            <a:endParaRPr lang="en-US" sz="568" dirty="0"/>
          </a:p>
        </p:txBody>
      </p:sp>
      <p:sp>
        <p:nvSpPr>
          <p:cNvPr id="68" name="Shape 56"/>
          <p:cNvSpPr/>
          <p:nvPr/>
        </p:nvSpPr>
        <p:spPr>
          <a:xfrm>
            <a:off x="4679156" y="4300538"/>
            <a:ext cx="4179094" cy="616483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69" name="Shape 57"/>
          <p:cNvSpPr/>
          <p:nvPr/>
        </p:nvSpPr>
        <p:spPr>
          <a:xfrm>
            <a:off x="4679156" y="4300538"/>
            <a:ext cx="35719" cy="616483"/>
          </a:xfrm>
          <a:prstGeom prst="rect">
            <a:avLst/>
          </a:prstGeom>
          <a:solidFill>
            <a:srgbClr val="0D7EA8"/>
          </a:solidFill>
          <a:ln/>
        </p:spPr>
      </p:sp>
      <p:sp>
        <p:nvSpPr>
          <p:cNvPr id="70" name="Shape 58"/>
          <p:cNvSpPr/>
          <p:nvPr/>
        </p:nvSpPr>
        <p:spPr>
          <a:xfrm>
            <a:off x="4793456" y="4414838"/>
            <a:ext cx="321469" cy="321469"/>
          </a:xfrm>
          <a:prstGeom prst="rect">
            <a:avLst/>
          </a:prstGeom>
          <a:solidFill>
            <a:srgbClr val="0D7EA8"/>
          </a:solidFill>
          <a:ln/>
        </p:spPr>
      </p:sp>
      <p:pic>
        <p:nvPicPr>
          <p:cNvPr id="7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82753" y="4504134"/>
            <a:ext cx="142875" cy="142875"/>
          </a:xfrm>
          <a:prstGeom prst="rect">
            <a:avLst/>
          </a:prstGeom>
        </p:spPr>
      </p:pic>
      <p:sp>
        <p:nvSpPr>
          <p:cNvPr id="72" name="Text 59"/>
          <p:cNvSpPr/>
          <p:nvPr/>
        </p:nvSpPr>
        <p:spPr>
          <a:xfrm>
            <a:off x="5200650" y="4414838"/>
            <a:ext cx="354330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1A3A52"/>
                </a:solidFill>
              </a:rPr>
              <a:t>Ready to Deploy?</a:t>
            </a:r>
            <a:endParaRPr lang="en-US" sz="634" dirty="0"/>
          </a:p>
        </p:txBody>
      </p:sp>
      <p:sp>
        <p:nvSpPr>
          <p:cNvPr id="73" name="Text 60"/>
          <p:cNvSpPr/>
          <p:nvPr/>
        </p:nvSpPr>
        <p:spPr>
          <a:xfrm>
            <a:off x="5200650" y="4582716"/>
            <a:ext cx="3543300" cy="2200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568" dirty="0">
                <a:solidFill>
                  <a:srgbClr val="555555"/>
                </a:solidFill>
              </a:rPr>
              <a:t>Follow the setup guide, run tests, and deploy to development environment. Monitor logs and performance metrics in production.</a:t>
            </a:r>
            <a:endParaRPr lang="en-US" sz="56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2025-11-06T04:21:35Z</dcterms:created>
  <dcterms:modified xsi:type="dcterms:W3CDTF">2025-11-06T04:21:35Z</dcterms:modified>
</cp:coreProperties>
</file>